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6" r:id="rId8"/>
    <p:sldId id="267" r:id="rId9"/>
    <p:sldId id="268" r:id="rId10"/>
    <p:sldId id="269" r:id="rId11"/>
    <p:sldId id="272" r:id="rId12"/>
    <p:sldId id="273" r:id="rId13"/>
    <p:sldId id="270" r:id="rId14"/>
    <p:sldId id="271" r:id="rId15"/>
    <p:sldId id="277" r:id="rId16"/>
    <p:sldId id="274" r:id="rId17"/>
    <p:sldId id="275" r:id="rId18"/>
    <p:sldId id="276" r:id="rId19"/>
    <p:sldId id="261" r:id="rId20"/>
    <p:sldId id="262" r:id="rId21"/>
    <p:sldId id="263" r:id="rId22"/>
    <p:sldId id="264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Language Models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Language Models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designed to understand, generate, and predict human language</a:t>
            </a:r>
            <a:endParaRPr lang="en-US" altLang="en-US"/>
          </a:p>
          <a:p>
            <a:r>
              <a:rPr lang="en-US" altLang="en-US"/>
              <a:t>analyze the structure and use of language to perform tasks such as machine translation, text generation, and sentiment analysis.</a:t>
            </a:r>
            <a:endParaRPr lang="en-US" altLang="en-US"/>
          </a:p>
          <a:p>
            <a:r>
              <a:rPr lang="en-US" altLang="en-US"/>
              <a:t> statistical or machine learning model that is used to predict the next word in a sequence given the previous words. 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    Pure Statistical Methods</a:t>
            </a:r>
            <a:endParaRPr lang="en-US" altLang="en-US"/>
          </a:p>
          <a:p>
            <a:r>
              <a:rPr lang="en-US" altLang="en-US"/>
              <a:t>    Neural Models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Pure statistical methods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form the basis of traditional language models. </a:t>
            </a:r>
            <a:endParaRPr lang="en-US" altLang="en-US"/>
          </a:p>
          <a:p>
            <a:r>
              <a:rPr lang="en-US" altLang="en-US"/>
              <a:t>rely on the statistical properties of language to predict the next word in a sentence, given the previous words. </a:t>
            </a:r>
            <a:endParaRPr lang="en-US" altLang="en-US"/>
          </a:p>
          <a:p>
            <a:r>
              <a:rPr lang="en-US" altLang="en-US"/>
              <a:t>n-grams, exponential models, and skip-gram models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n-gram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sequence of n items from a sample of text or speech, such as phonemes, syllables, letters, words, or base pairs</a:t>
            </a:r>
            <a:endParaRPr lang="en-US" altLang="en-US"/>
          </a:p>
          <a:p>
            <a:r>
              <a:rPr lang="en-US" altLang="en-US"/>
              <a:t> frequency of sequences in a training corpus to predict the likelihood of word sequences. </a:t>
            </a:r>
            <a:endParaRPr lang="en-US" altLang="en-US"/>
          </a:p>
          <a:p>
            <a:r>
              <a:rPr lang="en-US" altLang="en-US"/>
              <a:t>N-gram models are simple, easy to implement, and computationally efficient, making them suitable for applications with limited computational resources.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n-gram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Eg: “I love NLP . NLP is fun . I love fun .”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Tokens (in order):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["I", "love", "NLP", ".", "NLP", "is", "fun", ".", "I", "love", "fun", "."]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Total tokens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N=12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Unique tokens (vocabulary)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V=6 I, love, NLP, is, fun, 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Unigram 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p>
                <a14:m>
                  <m:oMath xmlns:m="http://schemas.openxmlformats.org/officeDocument/2006/math">
                    <m:r>
                      <a:rPr lang="en-US" altLang="en-US" i="1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en-US" i="1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en-US" i="1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𝑤</m:t>
                    </m:r>
                    <m:r>
                      <a:rPr lang="en-US" altLang="en-US" i="1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en-US" i="1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𝑐𝑜𝑢𝑛𝑡</m:t>
                        </m:r>
                        <m:r>
                          <a:rPr lang="en-US" altLang="en-US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en-US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  <m:r>
                          <a:rPr lang="en-US" altLang="en-US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r>
                          <a:rPr lang="en-US" altLang="en-US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𝑡𝑜𝑡𝑎𝑙</m:t>
                        </m:r>
                        <m:r>
                          <a:rPr lang="en-US" altLang="en-US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en-US" i="1">
                            <a:ln w="22225">
                              <a:solidFill>
                                <a:schemeClr val="accent2"/>
                              </a:solidFill>
                              <a:prstDash val="solid"/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𝑡𝑜𝑘𝑒𝑛𝑠</m:t>
                        </m:r>
                      </m:den>
                    </m:f>
                  </m:oMath>
                </a14:m>
                <a:endParaRPr lang="en-US" altLang="en-US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P(I)=2/12=1/6≈0.1667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P(love)=2/12=1/6≈0.1667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P(NLP)=2/12=1/6≈0.1667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P(is)=1/12≈0.08333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P(fun)=2/12=1/6≈0.1667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P(.)=3/12=1/4=0.25</a:t>
                </a:r>
                <a:endParaRPr lang="en-US" altLang="en-US"/>
              </a:p>
              <a:p>
                <a:pPr marL="0" indent="0">
                  <a:buNone/>
                </a:pPr>
                <a:endParaRPr lang="en-US" altLang="en-US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sym typeface="+mn-ea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probability of sentence under unigram model (independent tokens) I love NLP. is: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P=P(I)P(love)P(NLP)P(.)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en-US"/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en-US"/>
                  <a:t>)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=8641​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≈0.001157</a:t>
                </a:r>
                <a:endParaRPr lang="en-US" altLang="en-US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Bigram model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(I, love) = 2</a:t>
            </a:r>
            <a:endParaRPr lang="en-US" altLang="en-US"/>
          </a:p>
          <a:p>
            <a:r>
              <a:rPr lang="en-US" altLang="en-US"/>
              <a:t>(love, NLP) = 1</a:t>
            </a:r>
            <a:endParaRPr lang="en-US" altLang="en-US"/>
          </a:p>
          <a:p>
            <a:r>
              <a:rPr lang="en-US" altLang="en-US"/>
              <a:t>(love, fun) = 1</a:t>
            </a:r>
            <a:endParaRPr lang="en-US" altLang="en-US"/>
          </a:p>
          <a:p>
            <a:r>
              <a:rPr lang="en-US" altLang="en-US"/>
              <a:t>(NLP, .) = 1</a:t>
            </a:r>
            <a:endParaRPr lang="en-US" altLang="en-US"/>
          </a:p>
          <a:p>
            <a:r>
              <a:rPr lang="en-US" altLang="en-US"/>
              <a:t>(NLP, is) = 1</a:t>
            </a:r>
            <a:endParaRPr lang="en-US" altLang="en-US"/>
          </a:p>
          <a:p>
            <a:r>
              <a:rPr lang="en-US" altLang="en-US"/>
              <a:t>(., NLP) = 1</a:t>
            </a:r>
            <a:endParaRPr lang="en-US" altLang="en-US"/>
          </a:p>
          <a:p>
            <a:r>
              <a:rPr lang="en-US" altLang="en-US"/>
              <a:t>(is, fun) = 1</a:t>
            </a:r>
            <a:endParaRPr lang="en-US" altLang="en-US"/>
          </a:p>
          <a:p>
            <a:r>
              <a:rPr lang="en-US" altLang="en-US"/>
              <a:t>(fun, .) = 2</a:t>
            </a:r>
            <a:endParaRPr lang="en-US" altLang="en-US"/>
          </a:p>
          <a:p>
            <a:r>
              <a:rPr lang="en-US" altLang="en-US"/>
              <a:t>(., I) = 1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  <m:sSub>
                        <m:sSub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𝑐𝑜𝑢𝑛𝑡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𝑐𝑜𝑢𝑛𝑡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𝑎𝑠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ℎ𝑖𝑠𝑡𝑜𝑟𝑦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(where denominator is how many times w_{i-1} appears with a following token — equivalently number of bigrams whose first element is w_{i-1})</a:t>
                </a:r>
                <a:endParaRPr lang="en-US" altLang="en-US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Bigram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Denominators (as first element of a bigram):</a:t>
            </a:r>
            <a:endParaRPr lang="en-US" altLang="en-US"/>
          </a:p>
          <a:p>
            <a:r>
              <a:rPr lang="en-US" altLang="en-US"/>
              <a:t>I as first: 2 → (I,love)=2 so count(I)=2</a:t>
            </a:r>
            <a:endParaRPr lang="en-US" altLang="en-US"/>
          </a:p>
          <a:p>
            <a:r>
              <a:rPr lang="en-US" altLang="en-US"/>
              <a:t>love as first: 2 → (love,NLP)=1, (love,fun)=1 so count(love)=2</a:t>
            </a:r>
            <a:endParaRPr lang="en-US" altLang="en-US"/>
          </a:p>
          <a:p>
            <a:r>
              <a:rPr lang="en-US" altLang="en-US"/>
              <a:t>NLP as first: 2 → (NLP,.)=1, (NLP,is)=1 so count(NLP)=2</a:t>
            </a:r>
            <a:endParaRPr lang="en-US" altLang="en-US"/>
          </a:p>
          <a:p>
            <a:r>
              <a:rPr lang="en-US" altLang="en-US"/>
              <a:t>. as first (only when it has next token): 2 → (.,NLP)=1,(.,I)=1</a:t>
            </a:r>
            <a:endParaRPr lang="en-US" altLang="en-US"/>
          </a:p>
          <a:p>
            <a:r>
              <a:rPr lang="en-US" altLang="en-US"/>
              <a:t>is as first: 1 → (is,fun)=1</a:t>
            </a:r>
            <a:endParaRPr lang="en-US" altLang="en-US"/>
          </a:p>
          <a:p>
            <a:r>
              <a:rPr lang="en-US" altLang="en-US"/>
              <a:t>fun as first: 2 → (fun,.)=2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Bigram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0000"/>
          </a:bodyPr>
          <a:p>
            <a:r>
              <a:rPr lang="en-US" altLang="en-US"/>
              <a:t>Denominators (as first element of a bigram):</a:t>
            </a:r>
            <a:endParaRPr lang="en-US" altLang="en-US"/>
          </a:p>
          <a:p>
            <a:r>
              <a:rPr lang="en-US" altLang="en-US"/>
              <a:t>I as first: 2 → (I,love)=2 so count(I)=2</a:t>
            </a:r>
            <a:endParaRPr lang="en-US" altLang="en-US"/>
          </a:p>
          <a:p>
            <a:r>
              <a:rPr lang="en-US" altLang="en-US"/>
              <a:t>love as first: 2 → (love,NLP)=1, (love,fun)=1 so count(love)=2</a:t>
            </a:r>
            <a:endParaRPr lang="en-US" altLang="en-US"/>
          </a:p>
          <a:p>
            <a:r>
              <a:rPr lang="en-US" altLang="en-US"/>
              <a:t>NLP as first: 2 → (NLP,.)=1, (NLP,is)=1 so count(NLP)=2</a:t>
            </a:r>
            <a:endParaRPr lang="en-US" altLang="en-US"/>
          </a:p>
          <a:p>
            <a:r>
              <a:rPr lang="en-US" altLang="en-US"/>
              <a:t>. as first (only when it has next token): 2 → (.,NLP)=1,(.,I)=1</a:t>
            </a:r>
            <a:endParaRPr lang="en-US" altLang="en-US"/>
          </a:p>
          <a:p>
            <a:r>
              <a:rPr lang="en-US" altLang="en-US"/>
              <a:t>is as first: 1 → (is,fun)=1</a:t>
            </a:r>
            <a:endParaRPr lang="en-US" altLang="en-US"/>
          </a:p>
          <a:p>
            <a:r>
              <a:rPr lang="en-US" altLang="en-US"/>
              <a:t>fun as first: 2 → (fun,.)=2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r>
              <a:rPr lang="en-US" altLang="en-US"/>
              <a:t>Bigram probabilities (selected):</a:t>
            </a:r>
            <a:endParaRPr lang="en-US" altLang="en-US"/>
          </a:p>
          <a:p>
            <a:r>
              <a:rPr lang="en-US" altLang="en-US"/>
              <a:t>P(love|I)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=count(I,love)​/</a:t>
            </a:r>
            <a:r>
              <a:rPr lang="en-US" altLang="en-US">
                <a:sym typeface="+mn-ea"/>
              </a:rPr>
              <a:t>count(I)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/>
              <a:t>=2/2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=1.0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Bigram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P(NLP∣love)=1/2=0.5</a:t>
            </a:r>
            <a:endParaRPr lang="en-US" altLang="en-US"/>
          </a:p>
          <a:p>
            <a:r>
              <a:rPr lang="en-US" altLang="en-US"/>
              <a:t>P(fun∣love)=1/2=0.5</a:t>
            </a:r>
            <a:endParaRPr lang="en-US" altLang="en-US"/>
          </a:p>
          <a:p>
            <a:r>
              <a:rPr lang="en-US" altLang="en-US"/>
              <a:t>P(.∣NLP)=1/2=0.5</a:t>
            </a:r>
            <a:endParaRPr lang="en-US" altLang="en-US"/>
          </a:p>
          <a:p>
            <a:r>
              <a:rPr lang="en-US" altLang="en-US"/>
              <a:t>P(is∣NLP)=1/2=0.5</a:t>
            </a:r>
            <a:endParaRPr lang="en-US" altLang="en-US"/>
          </a:p>
          <a:p>
            <a:r>
              <a:rPr lang="en-US" altLang="en-US"/>
              <a:t>P(NLP∣.)=1/2=0.5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probability of I love NLP . under bigram model (using unigram for first token and bigrams afterwards):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 P(I)⋅P(love∣I)⋅P(NLP∣love)⋅P(.∣NLP)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charset="0"/>
                      </a:rPr>
                      <m:t>(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US" altLang="en-US"/>
                  <a:t>≈0.0416667</a:t>
                </a: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Perplexity of that sentence under bigram (sentence length M=4)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PP=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/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altLang="en-US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en-US">
                            <a:latin typeface="Cambria Math" panose="02040503050406030204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24</m:t>
                            </m:r>
                          </m:den>
                        </m:f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en-US">
                            <a:latin typeface="Cambria Math" panose="02040503050406030204" charset="0"/>
                          </a:rPr>
                          <m:t> 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/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sup>
                    </m:sSup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solidFill>
                      <a:schemeClr val="tx1"/>
                    </a:solidFill>
                  </a:rPr>
                  <a:t>ln(1/24)≈−3.17805</a:t>
                </a:r>
                <a:endParaRPr lang="en-US" altLang="en-US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en-US">
                    <a:solidFill>
                      <a:schemeClr val="tx1"/>
                    </a:solidFill>
                  </a:rPr>
                  <a:t>−1/4ln(1/24)≈0.794513</a:t>
                </a:r>
                <a:endParaRPr lang="en-US" altLang="en-US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en-US">
                    <a:solidFill>
                      <a:schemeClr val="tx1"/>
                    </a:solidFill>
                  </a:rPr>
                  <a:t>PP≈e</a:t>
                </a:r>
                <a:r>
                  <a:rPr lang="en-US" altLang="en-US" baseline="30000">
                    <a:solidFill>
                      <a:schemeClr val="tx1"/>
                    </a:solidFill>
                  </a:rPr>
                  <a:t>0.794513</a:t>
                </a:r>
                <a:endParaRPr lang="en-US" altLang="en-US" baseline="300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en-US">
                    <a:solidFill>
                      <a:schemeClr val="tx1"/>
                    </a:solidFill>
                  </a:rPr>
                  <a:t>≈2.21.</a:t>
                </a:r>
                <a:endParaRPr lang="en-US" alt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Eg: “I love NLP . NLP is fun . I love fun .”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/>
              <a:t>Test for “</a:t>
            </a:r>
            <a:r>
              <a:rPr lang="en-US" altLang="en-US">
                <a:sym typeface="+mn-ea"/>
              </a:rPr>
              <a:t> I love NLP . “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Trigram model (example)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35000"/>
          </a:bodyPr>
          <a:p>
            <a:r>
              <a:rPr lang="en-US" altLang="en-US" sz="6400"/>
              <a:t>(I, love, NLP) = 1</a:t>
            </a:r>
            <a:endParaRPr lang="en-US" altLang="en-US" sz="6400"/>
          </a:p>
          <a:p>
            <a:endParaRPr lang="en-US" altLang="en-US" sz="6400"/>
          </a:p>
          <a:p>
            <a:r>
              <a:rPr lang="en-US" altLang="en-US" sz="6400"/>
              <a:t>(love, NLP, .) = 1</a:t>
            </a:r>
            <a:endParaRPr lang="en-US" altLang="en-US" sz="6400"/>
          </a:p>
          <a:p>
            <a:endParaRPr lang="en-US" altLang="en-US" sz="6400"/>
          </a:p>
          <a:p>
            <a:r>
              <a:rPr lang="en-US" altLang="en-US" sz="6400"/>
              <a:t>(NLP, ., NLP) = 1</a:t>
            </a:r>
            <a:endParaRPr lang="en-US" altLang="en-US" sz="6400"/>
          </a:p>
          <a:p>
            <a:endParaRPr lang="en-US" altLang="en-US" sz="6400"/>
          </a:p>
          <a:p>
            <a:r>
              <a:rPr lang="en-US" altLang="en-US" sz="6400"/>
              <a:t>(., NLP, is) = 1</a:t>
            </a:r>
            <a:endParaRPr lang="en-US" altLang="en-US" sz="6400"/>
          </a:p>
          <a:p>
            <a:endParaRPr lang="en-US" altLang="en-US" sz="6400"/>
          </a:p>
          <a:p>
            <a:r>
              <a:rPr lang="en-US" altLang="en-US" sz="6400"/>
              <a:t>(NLP, is, fun) = 1</a:t>
            </a:r>
            <a:endParaRPr lang="en-US" altLang="en-US" sz="6400"/>
          </a:p>
          <a:p>
            <a:endParaRPr lang="en-US" altLang="en-US" sz="6400"/>
          </a:p>
          <a:p>
            <a:endParaRPr lang="en-US" altLang="en-US" sz="64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(is, fun, .) = 1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(fun, ., I) = 1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>
                <a:sym typeface="+mn-ea"/>
              </a:rPr>
              <a:t>(., I, love) = 1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(I, love, fun) = 1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(love, fun, .) = 1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 love occurs twice as history: (I,love,NLP) and (I,love,fun) so count(I,love)=2. Thus conditional trigram probabilities: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P(NLP∣I,love)=1/2=0.5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P(fun∣I,love)=1/2=0.5</a:t>
            </a:r>
            <a:endParaRPr lang="en-US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3123565"/>
            <a:ext cx="4610100" cy="8458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Smoothing (Laplace)</a:t>
            </a:r>
            <a:endParaRPr lang="en-US" alt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Problem: unseen n-grams have zero probability (and multiply to zero for sentence probability). Add-one smoothing: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P(is|I) = 0+1/count(I)+V =1/(2+6) ​= 1/8 ​= 0.125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P(NLP|love) with Laplace (1+1)/(2+6) = 2/8 ​=0.25</a:t>
            </a:r>
            <a:endParaRPr lang="en-US" alt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" y="2887980"/>
            <a:ext cx="447294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 limitations of n-gram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capturing long-range dependencies due to their limited context window.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As n increases, the number of possible n-grams grows exponentially, leading to sparsity issues where many sequences are never observed in the training data. 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difficult to accurately estimate the probabilities of less common sequences.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Exponential Models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more flexible and powerful than n-gram models.</a:t>
            </a:r>
            <a:endParaRPr lang="en-US" altLang="en-US"/>
          </a:p>
          <a:p>
            <a:r>
              <a:rPr lang="en-US" altLang="en-US"/>
              <a:t>assign weights to different features based on the context and combine them using an exponential function to estimate probabilities.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Maximum Entropy (MaxEnt)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>
                <a:sym typeface="+mn-ea"/>
              </a:rPr>
              <a:t>estimate the probabilities of different outcomes based on a set of features. 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model parameters are learned by maximizing the likelihood of the observed data under the model.</a:t>
            </a:r>
            <a:endParaRPr lang="en-US" altLang="en-US"/>
          </a:p>
          <a:p>
            <a:r>
              <a:rPr lang="en-US" altLang="en-US">
                <a:sym typeface="+mn-ea"/>
              </a:rPr>
              <a:t>struggle with long-range dependencies because they rely on fixed-length context windows.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Skip-gram models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predict the context words (surrounding words) given a target word within a certain window size. </a:t>
            </a:r>
            <a:endParaRPr lang="en-US" altLang="en-US"/>
          </a:p>
          <a:p>
            <a:r>
              <a:rPr lang="en-US" altLang="en-US"/>
              <a:t>Word2Vec capture the semantic relationships between words by optimizing the likelihood of context words appearing around a target word.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Word2Vec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developed by Google, includes two main architectures: skip-gram and continuous bag-of-words (CBOW). 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The skip-gram model predicts the context words given a target word, while the CBOW model predicts the target word given the context words. 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Both models are trained using neural networks, but they are conceptually simple and computationally efficient.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5100</Words>
  <Application>WPS Presentation</Application>
  <PresentationFormat>Widescreen</PresentationFormat>
  <Paragraphs>194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SimSun</vt:lpstr>
      <vt:lpstr>Wingdings</vt:lpstr>
      <vt:lpstr>Cambria Math</vt:lpstr>
      <vt:lpstr>Calibri Light</vt:lpstr>
      <vt:lpstr>Calibri</vt:lpstr>
      <vt:lpstr>Microsoft YaHei</vt:lpstr>
      <vt:lpstr>Arial Unicode MS</vt:lpstr>
      <vt:lpstr>Office Theme</vt:lpstr>
      <vt:lpstr>Language Models</vt:lpstr>
      <vt:lpstr>Language Models</vt:lpstr>
      <vt:lpstr>Types </vt:lpstr>
      <vt:lpstr>Pure statistical methods</vt:lpstr>
      <vt:lpstr>n-gram</vt:lpstr>
      <vt:lpstr>n-gram example</vt:lpstr>
      <vt:lpstr>Unigram </vt:lpstr>
      <vt:lpstr>Bigram model</vt:lpstr>
      <vt:lpstr>Bigram model</vt:lpstr>
      <vt:lpstr>Bigram</vt:lpstr>
      <vt:lpstr>Bigram </vt:lpstr>
      <vt:lpstr>PowerPoint 演示文稿</vt:lpstr>
      <vt:lpstr>Perplexity of that sentence under bigram (sentence length M=4)</vt:lpstr>
      <vt:lpstr>PowerPoint 演示文稿</vt:lpstr>
      <vt:lpstr>Trigram model (example)</vt:lpstr>
      <vt:lpstr>PowerPoint 演示文稿</vt:lpstr>
      <vt:lpstr>Smoothing (Laplace)</vt:lpstr>
      <vt:lpstr> limitations of n-gram</vt:lpstr>
      <vt:lpstr>Exponential Models</vt:lpstr>
      <vt:lpstr>Maximum Entropy (MaxEnt)</vt:lpstr>
      <vt:lpstr>Skip-gram models</vt:lpstr>
      <vt:lpstr>Word2Vec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vinodha priya</cp:lastModifiedBy>
  <cp:revision>11</cp:revision>
  <dcterms:created xsi:type="dcterms:W3CDTF">2025-07-23T00:59:00Z</dcterms:created>
  <dcterms:modified xsi:type="dcterms:W3CDTF">2025-12-15T10:24:18Z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0FD97140A141498B8958868D05208546_11</vt:lpwstr>
  </property>
  <property fmtid="{D5CDD505-2E9C-101B-9397-08002B2CF9AE}" pid="3" name="KSOProductBuildVer">
    <vt:lpwstr>1033-12.2.0.23155</vt:lpwstr>
  </property>
</Properties>
</file>