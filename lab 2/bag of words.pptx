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3" r:id="rId3"/>
    <p:sldId id="274" r:id="rId4"/>
    <p:sldId id="275" r:id="rId5"/>
    <p:sldId id="276" r:id="rId6"/>
    <p:sldId id="278" r:id="rId7"/>
    <p:sldId id="277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8" r:id="rId17"/>
    <p:sldId id="290" r:id="rId18"/>
    <p:sldId id="291" r:id="rId19"/>
    <p:sldId id="292" r:id="rId20"/>
    <p:sldId id="293" r:id="rId21"/>
    <p:sldId id="294" r:id="rId22"/>
    <p:sldId id="295" r:id="rId23"/>
    <p:sldId id="257" r:id="rId24"/>
    <p:sldId id="258" r:id="rId25"/>
    <p:sldId id="272" r:id="rId26"/>
    <p:sldId id="259" r:id="rId27"/>
    <p:sldId id="260" r:id="rId28"/>
    <p:sldId id="261" r:id="rId29"/>
    <p:sldId id="262" r:id="rId30"/>
    <p:sldId id="263" r:id="rId31"/>
    <p:sldId id="264" r:id="rId32"/>
    <p:sldId id="265" r:id="rId33"/>
    <p:sldId id="266" r:id="rId34"/>
    <p:sldId id="267" r:id="rId35"/>
    <p:sldId id="269" r:id="rId36"/>
    <p:sldId id="270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0" Type="http://schemas.openxmlformats.org/officeDocument/2006/relationships/tableStyles" Target="tableStyles.xml"/><Relationship Id="rId4" Type="http://schemas.openxmlformats.org/officeDocument/2006/relationships/slide" Target="slides/slide2.xml"/><Relationship Id="rId39" Type="http://schemas.openxmlformats.org/officeDocument/2006/relationships/viewProps" Target="viewProps.xml"/><Relationship Id="rId38" Type="http://schemas.openxmlformats.org/officeDocument/2006/relationships/presProps" Target="presProps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wmf"/><Relationship Id="rId1" Type="http://schemas.openxmlformats.org/officeDocument/2006/relationships/oleObject" Target="../embeddings/oleObject1.bin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.v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3.wmf"/><Relationship Id="rId3" Type="http://schemas.openxmlformats.org/officeDocument/2006/relationships/oleObject" Target="../embeddings/oleObject3.bin"/><Relationship Id="rId2" Type="http://schemas.openxmlformats.org/officeDocument/2006/relationships/image" Target="../media/image2.wmf"/><Relationship Id="rId1" Type="http://schemas.openxmlformats.org/officeDocument/2006/relationships/oleObject" Target="../embeddings/oleObject2.bin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6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4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/>
              <a:t>Bag of Words (BoW)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Definition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marL="0" indent="0">
              <a:buNone/>
            </a:pPr>
            <a:r>
              <a:rPr lang="en-US" altLang="en-US"/>
              <a:t>The Bag of Words model represents a document as a collection of words and their frequencies.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It ignores:</a:t>
            </a:r>
            <a:endParaRPr lang="en-US" altLang="en-US"/>
          </a:p>
          <a:p>
            <a:r>
              <a:rPr lang="en-US" altLang="en-US"/>
              <a:t>Grammar</a:t>
            </a:r>
            <a:endParaRPr lang="en-US" altLang="en-US"/>
          </a:p>
          <a:p>
            <a:r>
              <a:rPr lang="en-US" altLang="en-US"/>
              <a:t>Word order</a:t>
            </a:r>
            <a:endParaRPr lang="en-US" altLang="en-US"/>
          </a:p>
          <a:p>
            <a:r>
              <a:rPr lang="en-US" altLang="en-US"/>
              <a:t>Sentence structure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It only considers: Which words occur and how many times they occur.</a:t>
            </a:r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Example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p>
            <a:pPr marL="0" indent="0">
              <a:buNone/>
            </a:pPr>
            <a:r>
              <a:rPr lang="en-US" altLang="en-US"/>
              <a:t>Consider two documents: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D1: I love NLP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D2: I love Machine Learning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Step 1: Create the Vocabulary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The vocabulary contains all unique words: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V=[I,love,NLP,Machine,Learning]</a:t>
            </a:r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Step 2: Create Word Frequency Vectors</a:t>
            </a:r>
            <a:endParaRPr lang="en-US" altLang="en-US"/>
          </a:p>
        </p:txBody>
      </p:sp>
      <p:graphicFrame>
        <p:nvGraphicFramePr>
          <p:cNvPr id="4" name="Content Placeholder 3"/>
          <p:cNvGraphicFramePr/>
          <p:nvPr>
            <p:ph idx="1"/>
          </p:nvPr>
        </p:nvGraphicFramePr>
        <p:xfrm>
          <a:off x="838200" y="1825625"/>
          <a:ext cx="10515600" cy="1280160"/>
        </p:xfrm>
        <a:graphic>
          <a:graphicData uri="http://schemas.openxmlformats.org/drawingml/2006/table">
            <a:tbl>
              <a:tblPr/>
              <a:tblGrid>
                <a:gridCol w="1752600"/>
                <a:gridCol w="1752600"/>
                <a:gridCol w="1752600"/>
                <a:gridCol w="1752600"/>
                <a:gridCol w="1752600"/>
                <a:gridCol w="1752600"/>
              </a:tblGrid>
              <a:tr h="365760">
                <a:tc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Document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I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love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NLP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Machine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Learning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D1: I love NLP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8640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D2: I love Machine Learning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 Box 5"/>
          <p:cNvSpPr txBox="1"/>
          <p:nvPr/>
        </p:nvSpPr>
        <p:spPr>
          <a:xfrm>
            <a:off x="838200" y="3613785"/>
            <a:ext cx="10515600" cy="193802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2000"/>
              <a:t>Therefore:</a:t>
            </a:r>
            <a:endParaRPr sz="2000"/>
          </a:p>
          <a:p>
            <a:endParaRPr sz="2000"/>
          </a:p>
          <a:p>
            <a:r>
              <a:rPr sz="2000"/>
              <a:t>D1=[1,1,1,0,0]</a:t>
            </a:r>
            <a:endParaRPr sz="2000"/>
          </a:p>
          <a:p>
            <a:r>
              <a:rPr sz="2000"/>
              <a:t>D2=[1,1,0,1,1]</a:t>
            </a:r>
            <a:endParaRPr sz="2000"/>
          </a:p>
          <a:p>
            <a:endParaRPr sz="2000"/>
          </a:p>
          <a:p>
            <a:r>
              <a:rPr sz="2000"/>
              <a:t>These numerical vectors can be used by machine learning algorithms.</a:t>
            </a:r>
            <a:endParaRPr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Types of Bag of Words Representation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Binary BoW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Only presence or absence is considered.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1=word present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0=word absent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Example: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I love NLP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[1,1,1,0,0]</a:t>
            </a:r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Count-Based BoW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The number of occurrences is counted.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Sentence: NLP is useful. NLP is powerful.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Vocabulary: [NLP,is,useful,powerful]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Vector:  [2,2,1,1]</a:t>
            </a:r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 TF-IDF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marL="0" indent="0">
              <a:buNone/>
            </a:pPr>
            <a:r>
              <a:rPr lang="en-US" altLang="en-US"/>
              <a:t>TF-IDF gives greater importance to words that are:</a:t>
            </a:r>
            <a:endParaRPr lang="en-US" altLang="en-US"/>
          </a:p>
          <a:p>
            <a:r>
              <a:rPr lang="en-US" altLang="en-US"/>
              <a:t>Frequent in a particular document</a:t>
            </a:r>
            <a:endParaRPr lang="en-US" altLang="en-US"/>
          </a:p>
          <a:p>
            <a:r>
              <a:rPr lang="en-US" altLang="en-US"/>
              <a:t>Rare across the entire collection of documents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TFIDF(t,d)=TF(t,d) × IDF(t)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where: IDF(t)=log(N/df(t))</a:t>
            </a:r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TF-IDF Example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Documents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D1: The cat sat on the mat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D2: The cat ate the fish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D3: The dog sat on the log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We will calculate the TF-IDF value for the word “cat” in D1.</a:t>
            </a:r>
            <a:endParaRPr lang="en-US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TF-IDF Example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5000" lnSpcReduction="10000"/>
          </a:bodyPr>
          <a:p>
            <a:pPr marL="0" indent="0">
              <a:buNone/>
            </a:pPr>
            <a:r>
              <a:rPr lang="en-US" altLang="en-US"/>
              <a:t>Step 1: Calculate Term Frequency (TF)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The formula is: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For D1: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The cat sat on the mat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Total words = 6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Frequency of cat = 1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TF(cat,D1)= 1/6 =0.1667</a:t>
            </a:r>
            <a:endParaRPr lang="en-US" altLang="en-US"/>
          </a:p>
        </p:txBody>
      </p:sp>
      <p:graphicFrame>
        <p:nvGraphicFramePr>
          <p:cNvPr id="4" name="Content Placeholder 3">
            <a:hlinkClick r:id="" action="ppaction://ole?verb="/>
          </p:cNvPr>
          <p:cNvGraphicFramePr>
            <a:graphicFrameLocks noChangeAspect="1"/>
          </p:cNvGraphicFramePr>
          <p:nvPr>
            <p:ph sz="half" idx="4294967295"/>
          </p:nvPr>
        </p:nvGraphicFramePr>
        <p:xfrm>
          <a:off x="945515" y="2688590"/>
          <a:ext cx="6450330" cy="7404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1" imgW="3429000" imgH="393700" progId="Equation.KSEE3">
                  <p:embed/>
                </p:oleObj>
              </mc:Choice>
              <mc:Fallback>
                <p:oleObj name="" r:id="rId1" imgW="3429000" imgH="393700" progId="Equation.KSEE3">
                  <p:embed/>
                  <p:pic>
                    <p:nvPicPr>
                      <p:cNvPr id="0" name="Picture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45515" y="2688590"/>
                        <a:ext cx="6450330" cy="7404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TF-IDF Example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0000"/>
          </a:bodyPr>
          <a:p>
            <a:pPr marL="0" indent="0">
              <a:buNone/>
            </a:pPr>
            <a:r>
              <a:rPr lang="en-US" altLang="en-US"/>
              <a:t>Step 2: Calculate Document Frequency (DF)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Document Frequency means: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Number of documents in which the word occurs.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The word cat occurs in: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D1 ✓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D2 ✓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D3 ✗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Therefore: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DF(cat)=2</a:t>
            </a:r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TF-IDF Example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p>
            <a:pPr marL="0" indent="0">
              <a:buNone/>
            </a:pPr>
            <a:r>
              <a:rPr lang="en-US" altLang="en-US"/>
              <a:t>Step 3: Calculate Inverse Document Frequency (IDF)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where: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N=3 = total number of documents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DF(cat)=2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graphicFrame>
        <p:nvGraphicFramePr>
          <p:cNvPr id="4" name="Content Placeholder 3">
            <a:hlinkClick r:id="" action="ppaction://ole?verb="/>
          </p:cNvPr>
          <p:cNvGraphicFramePr>
            <a:graphicFrameLocks noChangeAspect="1"/>
          </p:cNvGraphicFramePr>
          <p:nvPr>
            <p:ph sz="half" idx="2"/>
          </p:nvPr>
        </p:nvGraphicFramePr>
        <p:xfrm>
          <a:off x="838200" y="2851785"/>
          <a:ext cx="4104005" cy="9690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1" imgW="914400" imgH="215900" progId="Equation.KSEE3">
                  <p:embed/>
                </p:oleObj>
              </mc:Choice>
              <mc:Fallback>
                <p:oleObj name="" r:id="rId1" imgW="914400" imgH="215900" progId="Equation.KSEE3">
                  <p:embed/>
                  <p:pic>
                    <p:nvPicPr>
                      <p:cNvPr id="0" name="Picture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38200" y="2851785"/>
                        <a:ext cx="4104005" cy="9690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557010" y="2234565"/>
          <a:ext cx="3239135" cy="11010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" r:id="rId3" imgW="1270000" imgH="431800" progId="Equation.KSEE3">
                  <p:embed/>
                </p:oleObj>
              </mc:Choice>
              <mc:Fallback>
                <p:oleObj name="" r:id="rId3" imgW="1270000" imgH="431800" progId="Equation.KSEE3">
                  <p:embed/>
                  <p:pic>
                    <p:nvPicPr>
                      <p:cNvPr id="0" name="Picture 102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557010" y="2234565"/>
                        <a:ext cx="3239135" cy="11010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5"/>
          <p:cNvSpPr txBox="1"/>
          <p:nvPr/>
        </p:nvSpPr>
        <p:spPr>
          <a:xfrm>
            <a:off x="6382385" y="1826260"/>
            <a:ext cx="4874895" cy="546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800">
                <a:sym typeface="+mn-ea"/>
              </a:rPr>
              <a:t>Using log base 10:</a:t>
            </a:r>
            <a:endParaRPr lang="en-US" altLang="en-US" sz="2800"/>
          </a:p>
          <a:p>
            <a:endParaRPr lang="en-US" sz="2800"/>
          </a:p>
        </p:txBody>
      </p:sp>
      <p:sp>
        <p:nvSpPr>
          <p:cNvPr id="7" name="Text Box 6"/>
          <p:cNvSpPr txBox="1"/>
          <p:nvPr/>
        </p:nvSpPr>
        <p:spPr>
          <a:xfrm>
            <a:off x="6765290" y="359219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800"/>
              <a:t>IDF(cat) ≈ 0.1761</a:t>
            </a:r>
            <a:endParaRPr lang="en-US" altLang="en-US" sz="2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TF-IDF Example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Step 4: Calculate TF-IDF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TFIDF(t,d)=TF(t,d)×IDF(t)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TFIDF(cat,D1)=0.1667×0.1761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TFIDF(cat,D1)≈0.02935​</a:t>
            </a:r>
            <a:endParaRPr lang="en-US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To do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Complete Example with the Word "sat" and fish</a:t>
            </a:r>
            <a:endParaRPr lang="en-US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Answer</a:t>
            </a:r>
            <a:endParaRPr lang="en-US"/>
          </a:p>
        </p:txBody>
      </p:sp>
      <p:graphicFrame>
        <p:nvGraphicFramePr>
          <p:cNvPr id="4" name="Content Placeholder 3"/>
          <p:cNvGraphicFramePr/>
          <p:nvPr>
            <p:ph idx="1"/>
          </p:nvPr>
        </p:nvGraphicFramePr>
        <p:xfrm>
          <a:off x="838200" y="1825625"/>
          <a:ext cx="10515600" cy="914400"/>
        </p:xfrm>
        <a:graphic>
          <a:graphicData uri="http://schemas.openxmlformats.org/drawingml/2006/table">
            <a:tbl>
              <a:tblPr/>
              <a:tblGrid>
                <a:gridCol w="1752600"/>
                <a:gridCol w="1752600"/>
                <a:gridCol w="1752600"/>
                <a:gridCol w="1752600"/>
                <a:gridCol w="1752600"/>
                <a:gridCol w="1752600"/>
              </a:tblGrid>
              <a:tr h="365760">
                <a:tc>
                  <a:txBody>
                    <a:bodyPr/>
                    <a:p>
                      <a:pPr algn="ctr" fontAlgn="ctr"/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Word</a:t>
                      </a:r>
                      <a:endParaRPr sz="2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Document</a:t>
                      </a:r>
                      <a:endParaRPr sz="2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TF</a:t>
                      </a:r>
                      <a:endParaRPr sz="2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DF</a:t>
                      </a:r>
                      <a:endParaRPr sz="2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IDF</a:t>
                      </a:r>
                      <a:endParaRPr sz="2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TF-IDF</a:t>
                      </a:r>
                      <a:endParaRPr sz="2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cat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D1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0.1667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0.1761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0.02935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sat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D1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0.1667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0.1761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0.02935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fish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D2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0.2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0.4771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0.09542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/>
              <a:t>Vector Space Model (VSM)</a:t>
            </a:r>
            <a:endParaRPr 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/>
          </a:bodyPr>
          <a:p>
            <a:pPr marL="0" indent="0">
              <a:buNone/>
            </a:pPr>
            <a:r>
              <a:rPr lang="en-US" altLang="en-US"/>
              <a:t>The Vector Space Model represents documents and queries as vectors in a multidimensional space.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Each dimension corresponds to a word or feature.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For example, if the vocabulary is: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V=[NLP,ML,AI]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then every document can be represented as: 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D=[w1​,w2​,w3​]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where each w</a:t>
            </a:r>
            <a:r>
              <a:rPr lang="en-US" altLang="en-US" baseline="-25000"/>
              <a:t>i </a:t>
            </a:r>
            <a:r>
              <a:rPr lang="en-US" altLang="en-US"/>
              <a:t> may be: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Binary frequency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Term frequency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TF-IDF weight</a:t>
            </a:r>
            <a:endParaRPr lang="en-US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Example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/>
          </a:bodyPr>
          <a:p>
            <a:pPr marL="0" indent="0">
              <a:buNone/>
            </a:pPr>
            <a:r>
              <a:rPr lang="en-US" altLang="en-US"/>
              <a:t>Consider: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Document 1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NLP is useful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Document 2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Machine Learning is useful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Query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NLP useful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Vocabulary: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V=[NLP,Machine,Learning,useful]</a:t>
            </a:r>
            <a:endParaRPr lang="en-US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graphicFrame>
        <p:nvGraphicFramePr>
          <p:cNvPr id="4" name="Content Placeholder 3"/>
          <p:cNvGraphicFramePr/>
          <p:nvPr>
            <p:ph sz="half" idx="1"/>
          </p:nvPr>
        </p:nvGraphicFramePr>
        <p:xfrm>
          <a:off x="838200" y="1825625"/>
          <a:ext cx="5181600" cy="1249680"/>
        </p:xfrm>
        <a:graphic>
          <a:graphicData uri="http://schemas.openxmlformats.org/drawingml/2006/table">
            <a:tbl>
              <a:tblPr/>
              <a:tblGrid>
                <a:gridCol w="1036320"/>
                <a:gridCol w="1036320"/>
                <a:gridCol w="1036320"/>
                <a:gridCol w="1036320"/>
                <a:gridCol w="1036320"/>
              </a:tblGrid>
              <a:tr h="182880">
                <a:tc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Text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NLP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Machine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Learning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useful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D1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D2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Query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 Box 5"/>
          <p:cNvSpPr txBox="1"/>
          <p:nvPr/>
        </p:nvSpPr>
        <p:spPr>
          <a:xfrm>
            <a:off x="837565" y="3209925"/>
            <a:ext cx="10621645" cy="13487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/>
              <a:t>D1  =[1,0,0,1]</a:t>
            </a:r>
            <a:endParaRPr lang="en-US" altLang="en-US"/>
          </a:p>
          <a:p>
            <a:r>
              <a:rPr lang="en-US" altLang="en-US"/>
              <a:t>D2 =[0,1,1,1]</a:t>
            </a:r>
            <a:endParaRPr lang="en-US" altLang="en-US"/>
          </a:p>
          <a:p>
            <a:r>
              <a:rPr lang="en-US" altLang="en-US"/>
              <a:t>Q=[1,0,0,1]</a:t>
            </a:r>
            <a:endParaRPr lang="en-US" altLang="en-US"/>
          </a:p>
          <a:p>
            <a:r>
              <a:rPr lang="en-US" altLang="en-US"/>
              <a:t>The similarity between the query and documents can be calculated using Cosine Similarity.</a:t>
            </a:r>
            <a:endParaRPr lang="en-US" altLang="en-US"/>
          </a:p>
          <a:p>
            <a:endParaRPr lang="en-US" altLang="en-US"/>
          </a:p>
        </p:txBody>
      </p:sp>
      <p:pic>
        <p:nvPicPr>
          <p:cNvPr id="8" name="Content Placeholder 7"/>
          <p:cNvPicPr>
            <a:picLocks noChangeAspect="1"/>
          </p:cNvPicPr>
          <p:nvPr>
            <p:ph sz="half" idx="2"/>
          </p:nvPr>
        </p:nvPicPr>
        <p:blipFill>
          <a:blip r:embed="rId1"/>
          <a:srcRect l="24616" r="24616"/>
          <a:stretch>
            <a:fillRect/>
          </a:stretch>
        </p:blipFill>
        <p:spPr>
          <a:xfrm>
            <a:off x="2763520" y="4392930"/>
            <a:ext cx="2734945" cy="1329690"/>
          </a:xfr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p>
                <a:pPr marL="0" indent="0">
                  <a:buNone/>
                </a:pPr>
                <a:r>
                  <a:rPr lang="en-US" altLang="en-US"/>
                  <a:t>Q⋅D1​=1(1)+0(0)+0(0)+1(1)=2</a:t>
                </a:r>
                <a:endParaRPr lang="en-US" altLang="en-US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dPr>
                      <m:e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𝑄</m:t>
                        </m:r>
                      </m:e>
                    </m:d>
                    <m:r>
                      <a:rPr lang="en-US" altLang="en-US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e>
                          <m:sup>
                            <m: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0</m:t>
                            </m:r>
                          </m:e>
                          <m:sup>
                            <m: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0</m:t>
                            </m:r>
                          </m:e>
                          <m:sup>
                            <m: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e>
                          <m:sup>
                            <m: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US" altLang="en-US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radPr>
                      <m:deg/>
                      <m:e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lang="en-US" altLang="en-US"/>
                  <a:t> </a:t>
                </a:r>
                <a:endParaRPr lang="en-US" altLang="en-US"/>
              </a:p>
              <a:p>
                <a:pPr marL="0" indent="0">
                  <a:buNone/>
                </a:pPr>
                <a:r>
                  <a:rPr lang="en-US" altLang="en-US"/>
                  <a:t>Similarity(Q,D1​)=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2</m:t>
                            </m:r>
                          </m:e>
                        </m:rad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×</m:t>
                        </m:r>
                        <m:rad>
                          <m:radPr>
                            <m:degHide m:val="on"/>
                            <m:ctrlP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2</m:t>
                            </m:r>
                            <m: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 </m:t>
                            </m:r>
                          </m:e>
                        </m:rad>
                      </m:den>
                    </m:f>
                    <m:r>
                      <a:rPr lang="en-US" altLang="en-US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en-US" i="1">
                        <a:latin typeface="Cambria Math" panose="02040503050406030204" charset="0"/>
                        <a:cs typeface="Cambria Math" panose="02040503050406030204" charset="0"/>
                      </a:rPr>
                      <m:t>1</m:t>
                    </m:r>
                  </m:oMath>
                </a14:m>
                <a:endParaRPr lang="en-US" altLang="en-US"/>
              </a:p>
              <a:p>
                <a:pPr marL="0" indent="0">
                  <a:buNone/>
                </a:pPr>
                <a:r>
                  <a:rPr lang="en-US" altLang="en-US"/>
                  <a:t>So, D1 is an exact match for the query.​</a:t>
                </a:r>
                <a:endParaRPr lang="en-US" altLang="en-US"/>
              </a:p>
            </p:txBody>
          </p:sp>
        </mc:Choice>
        <mc:Fallback>
          <p:sp>
            <p:nvSpPr>
              <p:cNvPr id="6" name="Content Placeholder 5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graphicFrame>
        <p:nvGraphicFramePr>
          <p:cNvPr id="4" name="Content Placeholder 3"/>
          <p:cNvGraphicFramePr/>
          <p:nvPr>
            <p:ph idx="1"/>
          </p:nvPr>
        </p:nvGraphicFramePr>
        <p:xfrm>
          <a:off x="838200" y="1825625"/>
          <a:ext cx="10515600" cy="4526280"/>
        </p:xfrm>
        <a:graphic>
          <a:graphicData uri="http://schemas.openxmlformats.org/drawingml/2006/table">
            <a:tbl>
              <a:tblPr/>
              <a:tblGrid>
                <a:gridCol w="3505200"/>
                <a:gridCol w="3505200"/>
                <a:gridCol w="3505200"/>
              </a:tblGrid>
              <a:tr h="521970">
                <a:tc>
                  <a:txBody>
                    <a:bodyPr/>
                    <a:p>
                      <a:pPr algn="ctr" fontAlgn="ctr"/>
                      <a:r>
                        <a:rPr sz="1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Feature</a:t>
                      </a:r>
                      <a:endParaRPr sz="18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Bag of Words</a:t>
                      </a:r>
                      <a:endParaRPr sz="18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Vector Space Model</a:t>
                      </a:r>
                      <a:endParaRPr sz="18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19200"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Main purpose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Convert text into word vectors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Represent documents and queries geometrically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21970"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Representation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Word counts or presence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Numerical vectors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7980"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Word order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Ignored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Usually ignored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22605"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Similarity calculation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Not necessarily included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Central feature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7980"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Common measure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Frequency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Cosine similarity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44575"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Application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Text classification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Information retrieval and document ranking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en-US"/>
              <a:t>CBOW (Continuous Bag of Words)</a:t>
            </a:r>
            <a:endParaRPr lang="en-US" altLang="en-US"/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CBOW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predicts the target word from surrounding context words.</a:t>
            </a:r>
            <a:endParaRPr lang="en-US" altLang="en-US"/>
          </a:p>
          <a:p>
            <a:r>
              <a:rPr lang="en-US" altLang="en-US"/>
              <a:t>opposite to Skip-Gram.</a:t>
            </a:r>
            <a:endParaRPr lang="en-US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Skip- Gram Vs CBOW</a:t>
            </a:r>
            <a:endParaRPr lang="en-US"/>
          </a:p>
        </p:txBody>
      </p:sp>
      <p:graphicFrame>
        <p:nvGraphicFramePr>
          <p:cNvPr id="7" name="Content Placeholder 6"/>
          <p:cNvGraphicFramePr/>
          <p:nvPr>
            <p:ph idx="1"/>
          </p:nvPr>
        </p:nvGraphicFramePr>
        <p:xfrm>
          <a:off x="838200" y="1835150"/>
          <a:ext cx="10515600" cy="3840480"/>
        </p:xfrm>
        <a:graphic>
          <a:graphicData uri="http://schemas.openxmlformats.org/drawingml/2006/table">
            <a:tbl>
              <a:tblPr/>
              <a:tblGrid>
                <a:gridCol w="3505200"/>
                <a:gridCol w="3505200"/>
                <a:gridCol w="3505200"/>
              </a:tblGrid>
              <a:tr h="365760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Aspect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Skip-Gram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CBOW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8640"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Core idea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Predicts surrounding words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Predicts the target word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Mapping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Word → Context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Context → Word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8640"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Input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Target word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Multiple context words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Output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Context words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Target word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Direction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One-to-many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Many-to-one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Training speed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Slower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Faster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8640"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Context handling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One context at a time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Averages all contexts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Learning focus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Each word-pair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Smoothed context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“Data science uses statistics”</a:t>
            </a:r>
            <a:endParaRPr lang="en-US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/>
              <a:t>Preprocessing</a:t>
            </a:r>
            <a:endParaRPr lang="en-US" altLang="en-US"/>
          </a:p>
        </p:txBody>
      </p:sp>
      <p:graphicFrame>
        <p:nvGraphicFramePr>
          <p:cNvPr id="8" name="Content Placeholder 7"/>
          <p:cNvGraphicFramePr/>
          <p:nvPr>
            <p:ph sz="half" idx="2"/>
          </p:nvPr>
        </p:nvGraphicFramePr>
        <p:xfrm>
          <a:off x="839788" y="2505075"/>
          <a:ext cx="5157470" cy="2186940"/>
        </p:xfrm>
        <a:graphic>
          <a:graphicData uri="http://schemas.openxmlformats.org/drawingml/2006/table">
            <a:tbl>
              <a:tblPr/>
              <a:tblGrid>
                <a:gridCol w="2578735"/>
                <a:gridCol w="2578735"/>
              </a:tblGrid>
              <a:tr h="228600">
                <a:tc gridSpan="2"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Vocabulary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cPr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82880">
                <a:tc gridSpan="2">
                  <a:txBody>
                    <a:bodyPr/>
                    <a:p>
                      <a:pPr algn="ctr" fontAlgn="ctr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Word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Index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data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science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uses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statistics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Text Placeholder 8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r>
              <a:rPr lang="en-US" altLang="en-US">
                <a:sym typeface="+mn-ea"/>
              </a:rPr>
              <a:t>Training Data Generation (Window Size = 1)</a:t>
            </a:r>
            <a:endParaRPr lang="en-US"/>
          </a:p>
        </p:txBody>
      </p:sp>
      <p:graphicFrame>
        <p:nvGraphicFramePr>
          <p:cNvPr id="11" name="Content Placeholder 10"/>
          <p:cNvGraphicFramePr/>
          <p:nvPr>
            <p:ph sz="quarter" idx="4"/>
          </p:nvPr>
        </p:nvGraphicFramePr>
        <p:xfrm>
          <a:off x="6172200" y="2505075"/>
          <a:ext cx="5182870" cy="914400"/>
        </p:xfrm>
        <a:graphic>
          <a:graphicData uri="http://schemas.openxmlformats.org/drawingml/2006/table">
            <a:tbl>
              <a:tblPr/>
              <a:tblGrid>
                <a:gridCol w="2591435"/>
                <a:gridCol w="2591435"/>
              </a:tblGrid>
              <a:tr h="365760">
                <a:tc>
                  <a:txBody>
                    <a:bodyPr/>
                    <a:p>
                      <a:pPr algn="ctr" fontAlgn="ctr"/>
                      <a:r>
                        <a:rPr sz="1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Context Words</a:t>
                      </a:r>
                      <a:endParaRPr sz="18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Target Word</a:t>
                      </a:r>
                      <a:endParaRPr sz="18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data, uses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science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science, statistics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uses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“Data science uses statistics”</a:t>
            </a:r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/>
              <a:t>One-Hot Encoding</a:t>
            </a:r>
            <a:endParaRPr lang="en-US" alt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r>
              <a:rPr lang="en-US" altLang="en-US"/>
              <a:t>CBOW Neural Network Architecture</a:t>
            </a:r>
            <a:endParaRPr lang="en-US" alt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4"/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Context Inputs (2 words)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   ↓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Embedding / Hidden Layer (size = 2)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   ↓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Output Layer (Softmax, size = 4)</a:t>
            </a:r>
            <a:endParaRPr lang="en-US" altLang="en-US"/>
          </a:p>
        </p:txBody>
      </p:sp>
      <p:graphicFrame>
        <p:nvGraphicFramePr>
          <p:cNvPr id="7" name="Content Placeholder 6"/>
          <p:cNvGraphicFramePr/>
          <p:nvPr>
            <p:ph sz="half" idx="2"/>
          </p:nvPr>
        </p:nvGraphicFramePr>
        <p:xfrm>
          <a:off x="839788" y="2505075"/>
          <a:ext cx="5157470" cy="1097280"/>
        </p:xfrm>
        <a:graphic>
          <a:graphicData uri="http://schemas.openxmlformats.org/drawingml/2006/table">
            <a:tbl>
              <a:tblPr/>
              <a:tblGrid>
                <a:gridCol w="2578735"/>
                <a:gridCol w="2578735"/>
              </a:tblGrid>
              <a:tr h="365760">
                <a:tc>
                  <a:txBody>
                    <a:bodyPr/>
                    <a:p>
                      <a:pPr algn="ctr" fontAlgn="ctr"/>
                      <a:r>
                        <a:rPr sz="1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Word</a:t>
                      </a:r>
                      <a:endParaRPr sz="18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One-Hot Vector</a:t>
                      </a:r>
                      <a:endParaRPr sz="18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data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[1 0 0 0]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science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[0 1 0 0]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uses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[0 0 1 0]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statistics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[0 0 0 1]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“Data science uses statistics”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/>
              <a:t>Initialize Weights (Random Small Values)</a:t>
            </a:r>
            <a:endParaRPr lang="en-US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Input → Hidden (W₁) (4 × 2)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W₁ =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[ 0.2  0.1 ]   ← data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[ 0.4  0.3 ]   ← science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[ 0.6  0.5 ]   ← uses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[ 0.8  0.7 ]   ← statistics</a:t>
            </a:r>
            <a:endParaRPr lang="en-US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Hidden → Output (W₂) (2 × 4)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W₂ =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[ 0.3  0.6  0.2  0.1 ]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[ 0.5  0.4  0.7  0.9 ]</a:t>
            </a:r>
            <a:endParaRPr lang="en-US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Forward Pass (Worked Example)</a:t>
            </a:r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>
                <a:sym typeface="+mn-ea"/>
              </a:rPr>
              <a:t>Training Sample:</a:t>
            </a:r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Context = {data, uses}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Target = science</a:t>
            </a:r>
            <a:endParaRPr lang="en-US" alt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r>
              <a:rPr lang="en-US" altLang="en-US">
                <a:sym typeface="+mn-ea"/>
              </a:rPr>
              <a:t>Step 1: Convert Context to One-Hot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4"/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x₁ (data) = [1 0 0 0]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x₂ (uses) = [0 0 1 0]</a:t>
            </a:r>
            <a:endParaRPr lang="en-US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“Data science uses statistics”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>
                <a:sym typeface="+mn-ea"/>
              </a:rPr>
              <a:t>Step 2: Get Embeddings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v₁ = x₁ · W₁ = [0.2  0.1]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v₂ = x₂ · W₁ = [0.6  0.5]</a:t>
            </a:r>
            <a:endParaRPr lang="en-US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r>
              <a:rPr lang="en-US" altLang="en-US"/>
              <a:t>Step 3: Average Context Vectors (CBOW Key Step)</a:t>
            </a:r>
            <a:endParaRPr lang="en-US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h = (v₁ + v₂) / 2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h = ([0.2+0.6, 0.1+0.5]) / 2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h = [0.4, 0.3]</a:t>
            </a:r>
            <a:endParaRPr lang="en-US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“Data science uses statistics”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/>
              <a:t>Step 4: Output Layer Computation</a:t>
            </a:r>
            <a:endParaRPr lang="en-US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u = h · W₂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u =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[ (0.4×0.3 + 0.3×0.5),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(0.4×0.6 + 0.3×0.4),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(0.4×0.2 + 0.3×0.7),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(0.4×0.1 + 0.3×0.9) ]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u = [0.27, 0.36, 0.29, 0.31]</a:t>
            </a:r>
            <a:endParaRPr lang="en-US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r>
              <a:rPr lang="en-US" altLang="en-US"/>
              <a:t>Softmax Output</a:t>
            </a:r>
            <a:endParaRPr lang="en-US" altLang="en-US"/>
          </a:p>
        </p:txBody>
      </p:sp>
      <p:graphicFrame>
        <p:nvGraphicFramePr>
          <p:cNvPr id="7" name="Content Placeholder 6"/>
          <p:cNvGraphicFramePr/>
          <p:nvPr>
            <p:ph sz="quarter" idx="4"/>
          </p:nvPr>
        </p:nvGraphicFramePr>
        <p:xfrm>
          <a:off x="6172200" y="2505075"/>
          <a:ext cx="5182870" cy="1097280"/>
        </p:xfrm>
        <a:graphic>
          <a:graphicData uri="http://schemas.openxmlformats.org/drawingml/2006/table">
            <a:tbl>
              <a:tblPr/>
              <a:tblGrid>
                <a:gridCol w="2591435"/>
                <a:gridCol w="2591435"/>
              </a:tblGrid>
              <a:tr h="365760">
                <a:tc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Word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Probability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data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0.23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science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0.25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uses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0.24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statistics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0.28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Text Box 8"/>
          <p:cNvSpPr txBox="1"/>
          <p:nvPr/>
        </p:nvSpPr>
        <p:spPr>
          <a:xfrm>
            <a:off x="6172200" y="4427538"/>
            <a:ext cx="5080000" cy="460375"/>
          </a:xfrm>
          <a:prstGeom prst="rect">
            <a:avLst/>
          </a:prstGeom>
        </p:spPr>
        <p:txBody>
          <a:bodyPr>
            <a:spAutoFit/>
          </a:bodyPr>
          <a:p>
            <a:r>
              <a:rPr sz="2400"/>
              <a:t>Highest probability ≈ science</a:t>
            </a:r>
            <a:endParaRPr sz="24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“Data science uses statistics”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>
                <a:sym typeface="+mn-ea"/>
              </a:rPr>
              <a:t>Loss Calculation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Using Cross-Entropy Loss: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Loss = −log(P(science)) = −log(0.25)</a:t>
            </a:r>
            <a:endParaRPr lang="en-US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r>
              <a:rPr lang="en-US" altLang="en-US">
                <a:sym typeface="+mn-ea"/>
              </a:rPr>
              <a:t>Training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>
            <a:normAutofit fontScale="90000" lnSpcReduction="10000"/>
          </a:bodyPr>
          <a:p>
            <a:pPr marL="0" indent="0">
              <a:buNone/>
            </a:pPr>
            <a:endParaRPr lang="en-US" altLang="en-US"/>
          </a:p>
          <a:p>
            <a:r>
              <a:rPr lang="en-US" altLang="en-US"/>
              <a:t>Compute error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Backpropagate gradients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Update W₁ and W₂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Repeat for all samples and epochs</a:t>
            </a:r>
            <a:endParaRPr lang="en-US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“Data science uses statistics”</a:t>
            </a:r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/>
        <p:txBody>
          <a:bodyPr/>
          <a:p>
            <a:pPr algn="l">
              <a:buClrTx/>
              <a:buSzTx/>
            </a:pPr>
            <a:r>
              <a:rPr lang="en-US" altLang="en-US">
                <a:sym typeface="+mn-ea"/>
              </a:rPr>
              <a:t>Final Word Embeddings</a:t>
            </a:r>
            <a:endParaRPr lang="en-US" alt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r>
              <a:rPr lang="en-US" altLang="en-US">
                <a:sym typeface="+mn-ea"/>
              </a:rPr>
              <a:t>Interpretation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4"/>
          </p:nvPr>
        </p:nvSpPr>
        <p:spPr/>
        <p:txBody>
          <a:bodyPr>
            <a:normAutofit lnSpcReduction="20000"/>
          </a:bodyPr>
          <a:p>
            <a:endParaRPr lang="en-US" altLang="en-US"/>
          </a:p>
          <a:p>
            <a:r>
              <a:rPr lang="en-US" altLang="en-US">
                <a:solidFill>
                  <a:srgbClr val="FF0000"/>
                </a:solidFill>
              </a:rPr>
              <a:t>data</a:t>
            </a:r>
            <a:r>
              <a:rPr lang="en-US" altLang="en-US"/>
              <a:t> and </a:t>
            </a:r>
            <a:r>
              <a:rPr lang="en-US" altLang="en-US">
                <a:solidFill>
                  <a:srgbClr val="FF0000"/>
                </a:solidFill>
              </a:rPr>
              <a:t>science </a:t>
            </a:r>
            <a:r>
              <a:rPr lang="en-US" altLang="en-US"/>
              <a:t>vectors become closer</a:t>
            </a:r>
            <a:endParaRPr lang="en-US" altLang="en-US"/>
          </a:p>
          <a:p>
            <a:r>
              <a:rPr lang="en-US" altLang="en-US">
                <a:solidFill>
                  <a:srgbClr val="FF0000"/>
                </a:solidFill>
              </a:rPr>
              <a:t>uses</a:t>
            </a:r>
            <a:r>
              <a:rPr lang="en-US" altLang="en-US"/>
              <a:t> relates to both</a:t>
            </a:r>
            <a:endParaRPr lang="en-US" altLang="en-US"/>
          </a:p>
          <a:p>
            <a:r>
              <a:rPr lang="en-US" altLang="en-US"/>
              <a:t>CBOW captures semantic similarity from context</a:t>
            </a:r>
            <a:endParaRPr lang="en-US" altLang="en-US"/>
          </a:p>
        </p:txBody>
      </p:sp>
      <p:graphicFrame>
        <p:nvGraphicFramePr>
          <p:cNvPr id="7" name="Content Placeholder 6"/>
          <p:cNvGraphicFramePr/>
          <p:nvPr>
            <p:ph sz="half" idx="2"/>
          </p:nvPr>
        </p:nvGraphicFramePr>
        <p:xfrm>
          <a:off x="839788" y="2505075"/>
          <a:ext cx="5157470" cy="2194560"/>
        </p:xfrm>
        <a:graphic>
          <a:graphicData uri="http://schemas.openxmlformats.org/drawingml/2006/table">
            <a:tbl>
              <a:tblPr/>
              <a:tblGrid>
                <a:gridCol w="2578735"/>
                <a:gridCol w="2578735"/>
              </a:tblGrid>
              <a:tr h="182880">
                <a:tc gridSpan="2">
                  <a:txBody>
                    <a:bodyPr/>
                    <a:p>
                      <a:pPr algn="ctr" fontAlgn="ctr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cPr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82880">
                <a:tc gridSpan="2">
                  <a:txBody>
                    <a:bodyPr/>
                    <a:p>
                      <a:pPr algn="ctr" fontAlgn="ctr"/>
                      <a:r>
                        <a:rPr sz="20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After training, rows of W₁ become word vectors:</a:t>
                      </a:r>
                      <a:endParaRPr lang="en-US" sz="2000"/>
                    </a:p>
                    <a:p>
                      <a:pPr algn="ctr" fontAlgn="ctr"/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Word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Embedding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data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[0.22, 0.12]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science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[0.42, 0.35]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uses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[0.61, 0.52]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statistics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[0.81, 0.72]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Distance 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105" y="1681480"/>
            <a:ext cx="4704080" cy="823595"/>
          </a:xfrm>
        </p:spPr>
        <p:txBody>
          <a:bodyPr/>
          <a:p>
            <a:r>
              <a:rPr lang="en-US" altLang="en-US"/>
              <a:t>Measure Similarity (Euclidean Distance)</a:t>
            </a:r>
            <a:endParaRPr lang="en-US" altLang="en-US"/>
          </a:p>
        </p:txBody>
      </p:sp>
      <p:pic>
        <p:nvPicPr>
          <p:cNvPr id="7" name="Content Placeholder 6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840105" y="3931920"/>
            <a:ext cx="4589145" cy="830580"/>
          </a:xfrm>
          <a:prstGeom prst="rect">
            <a:avLst/>
          </a:prstGeo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28615" y="1681480"/>
            <a:ext cx="5927090" cy="823595"/>
          </a:xfrm>
        </p:spPr>
        <p:txBody>
          <a:bodyPr/>
          <a:p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29250" y="2505075"/>
            <a:ext cx="5926455" cy="3684905"/>
          </a:xfrm>
        </p:spPr>
        <p:txBody>
          <a:bodyPr>
            <a:normAutofit fontScale="90000"/>
          </a:bodyPr>
          <a:p>
            <a:pPr marL="0" indent="0">
              <a:buNone/>
            </a:pPr>
            <a:r>
              <a:rPr lang="en-US" altLang="en-US"/>
              <a:t>(a) data ↔ science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sqrt((0.22−0.42)</a:t>
            </a:r>
            <a:r>
              <a:rPr lang="en-US" altLang="en-US" baseline="30000"/>
              <a:t>2</a:t>
            </a:r>
            <a:r>
              <a:rPr lang="en-US" altLang="en-US"/>
              <a:t>+(0.12−0.35)</a:t>
            </a:r>
            <a:r>
              <a:rPr lang="en-US" altLang="en-US" baseline="30000"/>
              <a:t>2</a:t>
            </a:r>
            <a:r>
              <a:rPr lang="en-US" altLang="en-US"/>
              <a:t>)=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=0.04+0.0529=0.0929≈0.30 (Close)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(b) science ↔ uses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sqrt((0.42−0.61)</a:t>
            </a:r>
            <a:r>
              <a:rPr lang="en-US" altLang="en-US" baseline="30000"/>
              <a:t>2</a:t>
            </a:r>
            <a:r>
              <a:rPr lang="en-US" altLang="en-US"/>
              <a:t>+(0.35−0.52)</a:t>
            </a:r>
            <a:r>
              <a:rPr lang="en-US" altLang="en-US" baseline="30000"/>
              <a:t>2</a:t>
            </a:r>
            <a:r>
              <a:rPr lang="en-US" altLang="en-US"/>
              <a:t>) =0.0361+0.0289≈0.26 (Very close)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(c) data ↔ statistics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Sqrt((0.22−0.81)</a:t>
            </a:r>
            <a:r>
              <a:rPr lang="en-US" altLang="en-US" baseline="30000"/>
              <a:t>2</a:t>
            </a:r>
            <a:r>
              <a:rPr lang="en-US" altLang="en-US"/>
              <a:t>+(0.12−0.72)</a:t>
            </a:r>
            <a:r>
              <a:rPr lang="en-US" altLang="en-US" baseline="30000"/>
              <a:t>2</a:t>
            </a:r>
            <a:r>
              <a:rPr lang="en-US" altLang="en-US"/>
              <a:t>)≈0.84 (far)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Direction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/>
              <a:t>Cosine similarity 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p>
            <a:pPr marL="0" indent="0">
              <a:buNone/>
            </a:pPr>
            <a:r>
              <a:rPr lang="en-US" altLang="en-US">
                <a:sym typeface="+mn-ea"/>
              </a:rPr>
              <a:t>=(0.42×0.81)+(0.35×0.72)=0.3402+0.252=0.5922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|science|≈0.55,|statistics|≈1.08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cos(θ)≈0.99 Science and statistics are conceptually aligned</a:t>
            </a:r>
            <a:endParaRPr lang="en-US" altLang="en-US"/>
          </a:p>
          <a:p>
            <a:pPr marL="0" indent="0">
              <a:buNone/>
            </a:pPr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430" y="2807970"/>
            <a:ext cx="3481705" cy="148463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Summary of BoW</a:t>
            </a:r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Word embeddings are interpreted based on distance and direction between vectors, semantically similar words are represented by nearby vectors in the embedding space.</a:t>
            </a:r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6216</Words>
  <Application>WPS Presentation</Application>
  <PresentationFormat>Widescreen</PresentationFormat>
  <Paragraphs>629</Paragraphs>
  <Slides>35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35</vt:i4>
      </vt:variant>
    </vt:vector>
  </HeadingPairs>
  <TitlesOfParts>
    <vt:vector size="49" baseType="lpstr">
      <vt:lpstr>Arial</vt:lpstr>
      <vt:lpstr>SimSun</vt:lpstr>
      <vt:lpstr>Wingdings</vt:lpstr>
      <vt:lpstr>Calibri</vt:lpstr>
      <vt:lpstr>Calibri Light</vt:lpstr>
      <vt:lpstr>Microsoft YaHei</vt:lpstr>
      <vt:lpstr>Arial Unicode MS</vt:lpstr>
      <vt:lpstr>Calibri</vt:lpstr>
      <vt:lpstr>MS PGothic</vt:lpstr>
      <vt:lpstr>Cambria Math</vt:lpstr>
      <vt:lpstr>Office Theme</vt:lpstr>
      <vt:lpstr>Equation.KSEE3</vt:lpstr>
      <vt:lpstr>Equation.KSEE3</vt:lpstr>
      <vt:lpstr>Equation.KSEE3</vt:lpstr>
      <vt:lpstr>Bag of Words (BoW)</vt:lpstr>
      <vt:lpstr>PowerPoint 演示文稿</vt:lpstr>
      <vt:lpstr>Example</vt:lpstr>
      <vt:lpstr>Step 2: Create Word Frequency Vectors</vt:lpstr>
      <vt:lpstr>Types of Bag of Words Representation</vt:lpstr>
      <vt:lpstr>Binary BoW</vt:lpstr>
      <vt:lpstr>Count-Based BoW</vt:lpstr>
      <vt:lpstr> TF-IDF</vt:lpstr>
      <vt:lpstr>TF-IDF Example</vt:lpstr>
      <vt:lpstr>TF-IDF Example</vt:lpstr>
      <vt:lpstr>TF-IDF Example</vt:lpstr>
      <vt:lpstr>TF-IDF Example</vt:lpstr>
      <vt:lpstr>TF-IDF Example</vt:lpstr>
      <vt:lpstr>TF-IDF Example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CBOW (Continuous Bag of Words)</vt:lpstr>
      <vt:lpstr>CBOW</vt:lpstr>
      <vt:lpstr>Skip- Gram Vs CBOW</vt:lpstr>
      <vt:lpstr>“Data science uses statistics”</vt:lpstr>
      <vt:lpstr>“Data science uses statistics”</vt:lpstr>
      <vt:lpstr>“Data science uses statistics”</vt:lpstr>
      <vt:lpstr>Forward Pass (Worked Example)</vt:lpstr>
      <vt:lpstr>“Data science uses statistics”</vt:lpstr>
      <vt:lpstr>“Data science uses statistics”</vt:lpstr>
      <vt:lpstr>“Data science uses statistics”</vt:lpstr>
      <vt:lpstr>“Data science uses statistics”</vt:lpstr>
      <vt:lpstr>Distance </vt:lpstr>
      <vt:lpstr>Direction</vt:lpstr>
      <vt:lpstr>Summary of BoW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vinodha priya</cp:lastModifiedBy>
  <cp:revision>12</cp:revision>
  <dcterms:created xsi:type="dcterms:W3CDTF">2025-07-23T00:59:00Z</dcterms:created>
  <dcterms:modified xsi:type="dcterms:W3CDTF">2026-07-24T04:49:17Z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60058ADE7E2E4A0387D88C9D774B7E37_11</vt:lpwstr>
  </property>
  <property fmtid="{D5CDD505-2E9C-101B-9397-08002B2CF9AE}" pid="3" name="KSOProductBuildVer">
    <vt:lpwstr>1033-12.1.0.27458</vt:lpwstr>
  </property>
</Properties>
</file>