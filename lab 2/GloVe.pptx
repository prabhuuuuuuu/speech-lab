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67" r:id="rId4"/>
    <p:sldId id="257" r:id="rId5"/>
    <p:sldId id="258" r:id="rId6"/>
    <p:sldId id="259" r:id="rId7"/>
    <p:sldId id="260" r:id="rId8"/>
    <p:sldId id="261" r:id="rId9"/>
    <p:sldId id="262" r:id="rId10"/>
    <p:sldId id="264" r:id="rId11"/>
    <p:sldId id="265" r:id="rId12"/>
    <p:sldId id="266" r:id="rId13"/>
    <p:sldId id="263" r:id="rId14"/>
    <p:sldId id="268" r:id="rId15"/>
    <p:sldId id="269" r:id="rId16"/>
    <p:sldId id="271" r:id="rId17"/>
    <p:sldId id="270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1.xml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1.vml"/><Relationship Id="rId6" Type="http://schemas.openxmlformats.org/officeDocument/2006/relationships/slideLayout" Target="../slideLayouts/slideLayout5.xml"/><Relationship Id="rId5" Type="http://schemas.openxmlformats.org/officeDocument/2006/relationships/image" Target="../media/image3.png"/><Relationship Id="rId4" Type="http://schemas.openxmlformats.org/officeDocument/2006/relationships/image" Target="../media/image2.w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1.wmf"/><Relationship Id="rId1" Type="http://schemas.openxmlformats.org/officeDocument/2006/relationships/oleObject" Target="../embeddings/oleObject1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5.xml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GloVe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en-US">
                <a:sym typeface="+mn-ea"/>
              </a:rPr>
              <a:t>GloVe (Global Vectors for Word Representation)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unsupervised learning algorithm that generates vector representations of words by factorizing a global word-word co-occurrence matrix so that words appearing in similar contexts have similar vector representations.</a:t>
            </a:r>
            <a:endParaRPr lang="en-US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dirty="0">
                <a:sym typeface="+mn-ea"/>
              </a:rPr>
              <a:t>GloVe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count-based word embedding model that learns word vectors by combining global corpus statistics with local context learning</a:t>
            </a:r>
            <a:endParaRPr lang="en-US" altLang="en-US"/>
          </a:p>
          <a:p>
            <a:r>
              <a:rPr lang="en-US" altLang="en-US"/>
              <a:t>Unlike Word2Vec (predictive), GloVe is matrix-factorization based, trained on a global co-occurrence matrix.</a:t>
            </a:r>
            <a:endParaRPr lang="en-US" altLang="en-US"/>
          </a:p>
          <a:p>
            <a:r>
              <a:rPr lang="en-US" altLang="en-US"/>
              <a:t>Ratios of word–word co-occurrence probabilities encode semantic meaning.</a:t>
            </a:r>
            <a:endParaRPr lang="en-US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Comparison</a:t>
            </a:r>
            <a:endParaRPr lang="en-US"/>
          </a:p>
        </p:txBody>
      </p:sp>
      <p:graphicFrame>
        <p:nvGraphicFramePr>
          <p:cNvPr id="4" name="Content Placeholder 3"/>
          <p:cNvGraphicFramePr/>
          <p:nvPr>
            <p:ph idx="1"/>
          </p:nvPr>
        </p:nvGraphicFramePr>
        <p:xfrm>
          <a:off x="838200" y="1825625"/>
          <a:ext cx="10515600" cy="2138680"/>
        </p:xfrm>
        <a:graphic>
          <a:graphicData uri="http://schemas.openxmlformats.org/drawingml/2006/table">
            <a:tbl>
              <a:tblPr/>
              <a:tblGrid>
                <a:gridCol w="4336415"/>
                <a:gridCol w="6179185"/>
              </a:tblGrid>
              <a:tr h="182880">
                <a:tc>
                  <a:txBody>
                    <a:bodyPr/>
                    <a:p>
                      <a:pPr algn="ctr" fontAlgn="t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Method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t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Limitation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p>
                      <a:pPr algn="ctr" fontAlgn="t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One-Hot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t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No semantics, very sparse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p>
                      <a:pPr algn="ctr" fontAlgn="t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TF-IDF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t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No notion of similarity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9900">
                <a:tc>
                  <a:txBody>
                    <a:bodyPr/>
                    <a:p>
                      <a:pPr algn="ctr" fontAlgn="t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Word2Vec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t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Captures local context but ignores global counts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48640">
                <a:tc>
                  <a:txBody>
                    <a:bodyPr/>
                    <a:p>
                      <a:pPr algn="ctr" fontAlgn="t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GloVe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en-US"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G</a:t>
                      </a:r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lobal word co-occurrence information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Worked example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/>
              <a:t>Step 1: Corpus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D1: I like data science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D2: I like machine learning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D3: data science uses statistics</a:t>
            </a:r>
            <a:endParaRPr lang="en-US" alt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r>
              <a:rPr lang="en-US" altLang="en-US"/>
              <a:t>Step 2: Vocabulary</a:t>
            </a:r>
            <a:endParaRPr lang="en-US" altLang="en-US"/>
          </a:p>
        </p:txBody>
      </p:sp>
      <p:graphicFrame>
        <p:nvGraphicFramePr>
          <p:cNvPr id="9" name="Content Placeholder 8"/>
          <p:cNvGraphicFramePr/>
          <p:nvPr>
            <p:ph sz="quarter" idx="4"/>
          </p:nvPr>
        </p:nvGraphicFramePr>
        <p:xfrm>
          <a:off x="6172200" y="2505075"/>
          <a:ext cx="5182870" cy="1874520"/>
        </p:xfrm>
        <a:graphic>
          <a:graphicData uri="http://schemas.openxmlformats.org/drawingml/2006/table">
            <a:tbl>
              <a:tblPr/>
              <a:tblGrid>
                <a:gridCol w="2591435"/>
                <a:gridCol w="2591435"/>
              </a:tblGrid>
              <a:tr h="228600">
                <a:tc>
                  <a:txBody>
                    <a:bodyPr/>
                    <a:p>
                      <a:pPr algn="ctr" fontAlgn="ctr"/>
                      <a:r>
                        <a:rPr sz="2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Word</a:t>
                      </a:r>
                      <a:endParaRPr sz="2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Index</a:t>
                      </a:r>
                      <a:endParaRPr sz="2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I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like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data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science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4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machine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5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learning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6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uses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7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statistics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8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10516235" cy="4351655"/>
          </a:xfrm>
        </p:spPr>
        <p:txBody>
          <a:bodyPr/>
          <a:p>
            <a:r>
              <a:rPr lang="en-US" altLang="en-US"/>
              <a:t>Step 3: Build Co-occurrence Matrix</a:t>
            </a:r>
            <a:endParaRPr lang="en-US" altLang="en-US"/>
          </a:p>
        </p:txBody>
      </p:sp>
      <p:graphicFrame>
        <p:nvGraphicFramePr>
          <p:cNvPr id="9" name="Content Placeholder 8"/>
          <p:cNvGraphicFramePr/>
          <p:nvPr>
            <p:ph sz="half" idx="2"/>
            <p:custDataLst>
              <p:tags r:id="rId1"/>
            </p:custDataLst>
          </p:nvPr>
        </p:nvGraphicFramePr>
        <p:xfrm>
          <a:off x="1561465" y="2567940"/>
          <a:ext cx="9057640" cy="4016375"/>
        </p:xfrm>
        <a:graphic>
          <a:graphicData uri="http://schemas.openxmlformats.org/drawingml/2006/table">
            <a:tbl>
              <a:tblPr/>
              <a:tblGrid>
                <a:gridCol w="993140"/>
                <a:gridCol w="994410"/>
                <a:gridCol w="1106170"/>
                <a:gridCol w="994410"/>
                <a:gridCol w="993140"/>
                <a:gridCol w="994410"/>
                <a:gridCol w="994410"/>
                <a:gridCol w="994410"/>
                <a:gridCol w="993140"/>
              </a:tblGrid>
              <a:tr h="1232535">
                <a:tc>
                  <a:txBody>
                    <a:bodyPr/>
                    <a:p>
                      <a:pPr algn="ctr" fontAlgn="ctr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Center ↓ / Context →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I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like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data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science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machine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learning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uses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statistics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4325"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I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0215"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like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3690"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data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4325"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science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3690"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machine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3690"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learning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4325"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uses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49580"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statistics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en-US"/>
              <a:t>GloVe Objective Function</a:t>
            </a:r>
            <a:endParaRPr lang="en-US" altLang="en-US"/>
          </a:p>
        </p:txBody>
      </p:sp>
      <p:graphicFrame>
        <p:nvGraphicFramePr>
          <p:cNvPr id="10" name="Content Placeholder 9">
            <a:hlinkClick r:id="" action="ppaction://ole?verb="/>
          </p:cNvPr>
          <p:cNvGraphicFramePr>
            <a:graphicFrameLocks noChangeAspect="1"/>
          </p:cNvGraphicFramePr>
          <p:nvPr>
            <p:ph sz="half" idx="2"/>
          </p:nvPr>
        </p:nvGraphicFramePr>
        <p:xfrm>
          <a:off x="953770" y="2713355"/>
          <a:ext cx="4261485" cy="7162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1" imgW="1511300" imgH="254000" progId="Equation.KSEE3">
                  <p:embed/>
                </p:oleObj>
              </mc:Choice>
              <mc:Fallback>
                <p:oleObj name="" r:id="rId1" imgW="1511300" imgH="254000" progId="Equation.KSEE3">
                  <p:embed/>
                  <p:pic>
                    <p:nvPicPr>
                      <p:cNvPr id="0" name="Picture 10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53770" y="2713355"/>
                        <a:ext cx="4261485" cy="7162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Placeholder 7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r>
              <a:rPr lang="en-US"/>
              <a:t>weighting function</a:t>
            </a:r>
            <a:endParaRPr lang="en-US"/>
          </a:p>
        </p:txBody>
      </p:sp>
      <p:graphicFrame>
        <p:nvGraphicFramePr>
          <p:cNvPr id="12" name="Content Placeholder 11">
            <a:hlinkClick r:id="" action="ppaction://ole?verb="/>
          </p:cNvPr>
          <p:cNvGraphicFramePr>
            <a:graphicFrameLocks noChangeAspect="1"/>
          </p:cNvGraphicFramePr>
          <p:nvPr>
            <p:ph sz="quarter" idx="4"/>
          </p:nvPr>
        </p:nvGraphicFramePr>
        <p:xfrm>
          <a:off x="986155" y="4544060"/>
          <a:ext cx="4229100" cy="682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" r:id="rId3" imgW="2438400" imgH="393700" progId="Equation.KSEE3">
                  <p:embed/>
                </p:oleObj>
              </mc:Choice>
              <mc:Fallback>
                <p:oleObj name="" r:id="rId3" imgW="2438400" imgH="393700" progId="Equation.KSEE3">
                  <p:embed/>
                  <p:pic>
                    <p:nvPicPr>
                      <p:cNvPr id="0" name="Picture 102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86155" y="4544060"/>
                        <a:ext cx="4229100" cy="6826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10"/>
          <p:cNvSpPr txBox="1"/>
          <p:nvPr/>
        </p:nvSpPr>
        <p:spPr>
          <a:xfrm>
            <a:off x="986155" y="373062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Loss function : </a:t>
            </a:r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7295" y="2922905"/>
            <a:ext cx="3756660" cy="10210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data science combination</a:t>
            </a:r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Content Placeholder 7"/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fontScale="90000" lnSpcReduction="10000"/>
              </a:bodyPr>
              <a:p>
                <a:pPr marL="0" indent="0">
                  <a:buNone/>
                </a:pPr>
                <a:r>
                  <a:rPr lang="en-US" altLang="en-US"/>
                  <a:t>Assume: </a:t>
                </a:r>
                <a:endParaRPr lang="en-US" altLang="en-US"/>
              </a:p>
              <a:p>
                <a:pPr marL="0" indent="0">
                  <a:buNone/>
                </a:pPr>
                <a:r>
                  <a:rPr lang="en-US" altLang="en-US"/>
                  <a:t>X</a:t>
                </a:r>
                <a:r>
                  <a:rPr lang="en-US" altLang="en-US" baseline="-25000"/>
                  <a:t>data, science</a:t>
                </a:r>
                <a:r>
                  <a:rPr lang="en-US" altLang="en-US"/>
                  <a:t>=2</a:t>
                </a:r>
                <a:endParaRPr lang="en-US" altLang="en-US"/>
              </a:p>
              <a:p>
                <a:pPr marL="0" indent="0">
                  <a:buNone/>
                </a:pPr>
                <a:r>
                  <a:rPr lang="en-US" altLang="en-US"/>
                  <a:t>Then:	</a:t>
                </a:r>
                <a:endParaRPr lang="en-US" altLang="en-US"/>
              </a:p>
              <a:p>
                <a:pPr marL="0" indent="0">
                  <a:buNone/>
                </a:pPr>
                <a:r>
                  <a:rPr lang="en-US" altLang="en-US"/>
                  <a:t>log(2)=0.693</a:t>
                </a:r>
                <a:endParaRPr lang="en-US" altLang="en-US"/>
              </a:p>
              <a:p>
                <a:pPr marL="0" indent="0">
                  <a:buNone/>
                </a:pPr>
                <a:r>
                  <a:rPr lang="en-US" altLang="en-US"/>
                  <a:t>Training enforces: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SupPr>
                      <m:e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𝑤</m:t>
                        </m:r>
                      </m:e>
                      <m:sub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𝑑𝑎𝑡𝑎</m:t>
                        </m:r>
                      </m:sub>
                      <m:sup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𝑇</m:t>
                        </m:r>
                      </m:sup>
                    </m:sSubSup>
                    <m:sSub>
                      <m:sSubPr>
                        <m:ctrlP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𝑤</m:t>
                        </m:r>
                      </m:e>
                      <m:sub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𝑠𝑐𝑖𝑒𝑛𝑐𝑒</m:t>
                        </m:r>
                      </m:sub>
                    </m:sSub>
                    <m:r>
                      <a:rPr lang="en-US" altLang="en-US" i="1">
                        <a:latin typeface="Cambria Math" panose="02040503050406030204" charset="0"/>
                        <a:cs typeface="Cambria Math" panose="02040503050406030204" charset="0"/>
                      </a:rPr>
                      <m:t>+</m:t>
                    </m:r>
                    <m:sSub>
                      <m:sSubPr>
                        <m:ctrlP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𝑏</m:t>
                        </m:r>
                      </m:e>
                      <m:sub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𝑑𝑎𝑡𝑎</m:t>
                        </m:r>
                      </m:sub>
                    </m:sSub>
                    <m:r>
                      <a:rPr lang="en-US" altLang="en-US" i="1">
                        <a:latin typeface="Cambria Math" panose="02040503050406030204" charset="0"/>
                        <a:cs typeface="Cambria Math" panose="02040503050406030204" charset="0"/>
                      </a:rPr>
                      <m:t>+</m:t>
                    </m:r>
                    <m:sSub>
                      <m:sSubPr>
                        <m:ctrlP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𝑏</m:t>
                        </m:r>
                      </m:e>
                      <m:sub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𝑠𝑐𝑖𝑒𝑛𝑐𝑒</m:t>
                        </m:r>
                      </m:sub>
                    </m:sSub>
                    <m:r>
                      <a:rPr lang="en-US" altLang="en-US" i="1">
                        <a:latin typeface="Cambria Math" panose="02040503050406030204" charset="0"/>
                        <a:cs typeface="Cambria Math" panose="02040503050406030204" charset="0"/>
                      </a:rPr>
                      <m:t>≈</m:t>
                    </m:r>
                    <m:r>
                      <a:rPr lang="en-US" altLang="en-US" i="1">
                        <a:latin typeface="Cambria Math" panose="02040503050406030204" charset="0"/>
                        <a:cs typeface="Cambria Math" panose="02040503050406030204" charset="0"/>
                      </a:rPr>
                      <m:t>0</m:t>
                    </m:r>
                    <m:r>
                      <a:rPr lang="en-US" altLang="en-US" i="1">
                        <a:latin typeface="Cambria Math" panose="02040503050406030204" charset="0"/>
                        <a:cs typeface="Cambria Math" panose="02040503050406030204" charset="0"/>
                      </a:rPr>
                      <m:t>.</m:t>
                    </m:r>
                    <m:r>
                      <a:rPr lang="en-US" altLang="en-US" i="1">
                        <a:latin typeface="Cambria Math" panose="02040503050406030204" charset="0"/>
                        <a:cs typeface="Cambria Math" panose="02040503050406030204" charset="0"/>
                      </a:rPr>
                      <m:t>693</m:t>
                    </m:r>
                  </m:oMath>
                </a14:m>
                <a:endParaRPr lang="en-US" altLang="en-US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>
                  <a:buNone/>
                </a:pPr>
                <a:r>
                  <a:rPr lang="en-US" altLang="en-US">
                    <a:sym typeface="+mn-ea"/>
                  </a:rPr>
                  <a:t>Hyperparameters</a:t>
                </a:r>
                <a:endParaRPr lang="en-US" altLang="en-US"/>
              </a:p>
              <a:p>
                <a:pPr marL="0" indent="0">
                  <a:buNone/>
                </a:pPr>
                <a:r>
                  <a:rPr lang="en-US" altLang="en-US">
                    <a:sym typeface="+mn-ea"/>
                  </a:rPr>
                  <a:t>Embedding dimension d=2</a:t>
                </a:r>
                <a:endParaRPr lang="en-US" altLang="en-US"/>
              </a:p>
              <a:p>
                <a:pPr marL="0" indent="0">
                  <a:buNone/>
                </a:pPr>
                <a:r>
                  <a:rPr lang="en-US" altLang="en-US">
                    <a:sym typeface="+mn-ea"/>
                  </a:rPr>
                  <a:t>learning rate </a:t>
                </a:r>
                <a:r>
                  <a:rPr lang="en-US" altLang="en-US">
                    <a:latin typeface="Calibri" panose="020F0502020204030204" charset="0"/>
                    <a:cs typeface="Calibri" panose="020F0502020204030204" charset="0"/>
                    <a:sym typeface="+mn-ea"/>
                  </a:rPr>
                  <a:t>Ƞ = 0.1</a:t>
                </a:r>
                <a:endParaRPr lang="en-US" altLang="en-US">
                  <a:latin typeface="Calibri" panose="020F0502020204030204" charset="0"/>
                  <a:cs typeface="Calibri" panose="020F0502020204030204" charset="0"/>
                </a:endParaRPr>
              </a:p>
              <a:p>
                <a:pPr marL="0" indent="0">
                  <a:buNone/>
                </a:pPr>
                <a:r>
                  <a:rPr lang="en-US" altLang="en-US">
                    <a:latin typeface="Calibri" panose="020F0502020204030204" charset="0"/>
                    <a:cs typeface="Calibri" panose="020F0502020204030204" charset="0"/>
                    <a:sym typeface="+mn-ea"/>
                  </a:rPr>
                  <a:t>f(X</a:t>
                </a:r>
                <a:r>
                  <a:rPr lang="en-US" altLang="en-US" baseline="-25000">
                    <a:latin typeface="Calibri" panose="020F0502020204030204" charset="0"/>
                    <a:cs typeface="Calibri" panose="020F0502020204030204" charset="0"/>
                    <a:sym typeface="+mn-ea"/>
                  </a:rPr>
                  <a:t>ij</a:t>
                </a:r>
                <a:r>
                  <a:rPr lang="en-US" altLang="en-US">
                    <a:latin typeface="Calibri" panose="020F0502020204030204" charset="0"/>
                    <a:cs typeface="Calibri" panose="020F0502020204030204" charset="0"/>
                    <a:sym typeface="+mn-ea"/>
                  </a:rPr>
                  <a:t>) =1 </a:t>
                </a:r>
                <a:endParaRPr lang="en-US" altLang="en-US"/>
              </a:p>
              <a:p>
                <a:pPr marL="0" indent="0">
                  <a:buNone/>
                </a:pPr>
                <a:endParaRPr lang="en-US" altLang="en-US"/>
              </a:p>
            </p:txBody>
          </p:sp>
        </mc:Choice>
        <mc:Fallback>
          <p:sp>
            <p:nvSpPr>
              <p:cNvPr id="8" name="Content Placeholder 7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 rotWithShape="1">
                <a:blip r:embed="rId1"/>
                <a:stretch>
                  <a:fillRect t="-467" b="-499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Content Placeholder 8"/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/>
              </a:bodyPr>
              <a:p>
                <a:pPr marL="0" indent="0">
                  <a:buNone/>
                </a:pPr>
                <a:r>
                  <a:rPr lang="en-US" altLang="en-US"/>
                  <a:t>w(data) = [0.20, 0.10]</a:t>
                </a:r>
                <a:endParaRPr lang="en-US" altLang="en-US"/>
              </a:p>
              <a:p>
                <a:pPr marL="0" indent="0">
                  <a:buNone/>
                </a:pPr>
                <a:r>
                  <a:rPr lang="en-US" altLang="en-US"/>
                  <a:t>w(science) = [0.30, 0.40]</a:t>
                </a:r>
                <a:endParaRPr lang="en-US" altLang="en-US"/>
              </a:p>
              <a:p>
                <a:pPr marL="0" indent="0">
                  <a:buNone/>
                </a:pPr>
                <a:r>
                  <a:rPr lang="en-US" altLang="en-US"/>
                  <a:t>b</a:t>
                </a:r>
                <a:r>
                  <a:rPr lang="en-US" altLang="en-US" baseline="-25000"/>
                  <a:t>data</a:t>
                </a:r>
                <a:r>
                  <a:rPr lang="en-US" altLang="en-US"/>
                  <a:t>=0.05 b</a:t>
                </a:r>
                <a:r>
                  <a:rPr lang="en-US" altLang="en-US" baseline="-25000"/>
                  <a:t>science</a:t>
                </a:r>
                <a:r>
                  <a:rPr lang="en-US" altLang="en-US"/>
                  <a:t>=0.02</a:t>
                </a:r>
                <a:endParaRPr lang="en-US" altLang="en-US"/>
              </a:p>
              <a:p>
                <a:pPr marL="0" indent="0">
                  <a:buNone/>
                </a:pPr>
                <a:r>
                  <a:rPr lang="en-US" altLang="en-US"/>
                  <a:t>Dot product:</a:t>
                </a:r>
                <a:endParaRPr lang="en-US" altLang="en-US"/>
              </a:p>
              <a:p>
                <a:pPr marL="0" indent="0">
                  <a:buNone/>
                </a:pPr>
                <a:r>
                  <a:rPr lang="en-US" altLang="en-US"/>
                  <a:t>(0.20)(0.30)+(0.10)(0.40)=0.06+0.04=0.10</a:t>
                </a:r>
                <a:endParaRPr lang="en-US" altLang="en-US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en-US" i="1">
                        <a:latin typeface="Cambria Math" panose="02040503050406030204" charset="0"/>
                        <a:cs typeface="Cambria Math" panose="02040503050406030204" charset="0"/>
                      </a:rPr>
                      <m:t>𝑝𝑟𝑒𝑑𝑖𝑐𝑡𝑖𝑜𝑛</m:t>
                    </m:r>
                    <m:r>
                      <a:rPr lang="en-US" altLang="en-US" i="1">
                        <a:latin typeface="Cambria Math" panose="02040503050406030204" charset="0"/>
                        <a:cs typeface="Cambria Math" panose="02040503050406030204" charset="0"/>
                      </a:rPr>
                      <m:t> </m:t>
                    </m:r>
                    <m:acc>
                      <m:accPr>
                        <m:ctrlP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accPr>
                      <m:e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altLang="en-US"/>
                  <a:t>=0.10+0.05+0.02=0.17</a:t>
                </a:r>
                <a:endParaRPr lang="en-US" altLang="en-US"/>
              </a:p>
              <a:p>
                <a:pPr marL="0" indent="0">
                  <a:buNone/>
                </a:pPr>
                <a:r>
                  <a:rPr lang="en-US" altLang="en-US"/>
                  <a:t>error =0.17−0.693=−0.523</a:t>
                </a:r>
                <a:endParaRPr lang="en-US" altLang="en-US"/>
              </a:p>
            </p:txBody>
          </p:sp>
        </mc:Choice>
        <mc:Fallback>
          <p:sp>
            <p:nvSpPr>
              <p:cNvPr id="9" name="Content Placeholder 8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 rotWithShape="1">
                <a:blip r:embed="rId2"/>
                <a:stretch>
                  <a:fillRect b="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 Placeholder 5"/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/>
              </a:bodyPr>
              <a:p>
                <a:r>
                  <a:rPr lang="en-US" altLang="en-US"/>
                  <a:t>Gradient w.r.t. word vector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𝒘</m:t>
                        </m:r>
                      </m:e>
                      <m:sub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𝒊</m:t>
                        </m:r>
                      </m:sub>
                    </m:sSub>
                  </m:oMath>
                </a14:m>
                <a:endParaRPr lang="en-US" altLang="en-US"/>
              </a:p>
            </p:txBody>
          </p:sp>
        </mc:Choice>
        <mc:Fallback>
          <p:sp>
            <p:nvSpPr>
              <p:cNvPr id="6" name="Text Placeholder 5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1">
                <a:blip r:embed="rId1"/>
                <a:stretch>
                  <a:fillRect l="-6" t="-39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/>
              </a:bodyPr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lang="en-US" alt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lang="en-US" alt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𝐽</m:t>
                          </m:r>
                        </m:num>
                        <m:den>
                          <m:r>
                            <a:rPr lang="en-US" alt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en-US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en-US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altLang="en-US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US" altLang="en-US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en-US" i="1">
                          <a:latin typeface="Cambria Math" panose="02040503050406030204" charset="0"/>
                          <a:cs typeface="Cambria Math" panose="02040503050406030204" charset="0"/>
                        </a:rPr>
                        <m:t>2</m:t>
                      </m:r>
                      <m:r>
                        <a:rPr lang="en-US" altLang="en-US" i="1">
                          <a:latin typeface="Cambria Math" panose="02040503050406030204" charset="0"/>
                          <a:cs typeface="Cambria Math" panose="02040503050406030204" charset="0"/>
                        </a:rPr>
                        <m:t>.</m:t>
                      </m:r>
                      <m:r>
                        <a:rPr lang="en-US" altLang="en-US" i="1">
                          <a:latin typeface="Cambria Math" panose="02040503050406030204" charset="0"/>
                          <a:cs typeface="Cambria Math" panose="02040503050406030204" charset="0"/>
                        </a:rPr>
                        <m:t>𝑒𝑟𝑟𝑜𝑟</m:t>
                      </m:r>
                      <m:r>
                        <a:rPr lang="en-US" altLang="en-US" i="1">
                          <a:latin typeface="Cambria Math" panose="02040503050406030204" charset="0"/>
                          <a:cs typeface="Cambria Math" panose="02040503050406030204" charset="0"/>
                        </a:rPr>
                        <m:t>.</m:t>
                      </m:r>
                      <m:acc>
                        <m:accPr>
                          <m:chr m:val="̃"/>
                          <m:ctrlPr>
                            <a:rPr lang="en-US" alt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en-US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en-US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en-US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𝑗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en-US" altLang="en-US"/>
              </a:p>
              <a:p>
                <a:pPr marL="0" indent="0">
                  <a:buNone/>
                </a:pPr>
                <a:r>
                  <a:rPr lang="en-US" altLang="en-US"/>
                  <a:t>=2(−0.523)[0.30,  0.40]</a:t>
                </a:r>
                <a:endParaRPr lang="en-US" altLang="en-US"/>
              </a:p>
              <a:p>
                <a:pPr marL="0" indent="0">
                  <a:buNone/>
                </a:pPr>
                <a:r>
                  <a:rPr lang="en-US" altLang="en-US"/>
                  <a:t>=[−0.314,  −0.418]</a:t>
                </a:r>
                <a:endParaRPr lang="en-US" altLang="en-US"/>
              </a:p>
              <a:p>
                <a:pPr marL="0" indent="0">
                  <a:buNone/>
                </a:pPr>
                <a:endParaRPr lang="en-US" altLang="en-US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 rotWithShape="1">
                <a:blip r:embed="rId2"/>
                <a:stretch>
                  <a:fillRect l="-6" b="9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 Placeholder 6"/>
              <p:cNvSpPr>
                <a:spLocks noGrp="1"/>
              </p:cNvSpPr>
              <p:nvPr>
                <p:ph type="body" sz="quarter" idx="3"/>
              </p:nvPr>
            </p:nvSpPr>
            <p:spPr/>
            <p:txBody>
              <a:bodyPr/>
              <a:p>
                <a:r>
                  <a:rPr lang="en-US" altLang="en-US"/>
                  <a:t>Gradient w.r.t. context vector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𝒘</m:t>
                            </m:r>
                          </m:e>
                          <m:sub>
                            <m:r>
                              <a:rPr lang="en-US" alt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𝒋</m:t>
                            </m:r>
                          </m:sub>
                        </m:sSub>
                      </m:e>
                    </m:acc>
                  </m:oMath>
                </a14:m>
                <a:endParaRPr lang="en-US" altLang="en-US"/>
              </a:p>
            </p:txBody>
          </p:sp>
        </mc:Choice>
        <mc:Fallback>
          <p:sp>
            <p:nvSpPr>
              <p:cNvPr id="7" name="Text Placeholder 6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body" sz="quarter" idx="3"/>
              </p:nvPr>
            </p:nvSpPr>
            <p:spPr>
              <a:blipFill rotWithShape="1">
                <a:blip r:embed="rId3"/>
                <a:stretch>
                  <a:fillRect t="-39" r="6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Content Placeholder 7"/>
              <p:cNvSpPr>
                <a:spLocks noGrp="1"/>
              </p:cNvSpPr>
              <p:nvPr>
                <p:ph sz="quarter" idx="4"/>
              </p:nvPr>
            </p:nvSpPr>
            <p:spPr/>
            <p:txBody>
              <a:bodyPr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lang="en-US" alt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lang="en-US" alt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𝐽</m:t>
                          </m:r>
                        </m:num>
                        <m:den>
                          <m:r>
                            <a:rPr lang="en-US" alt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en-US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en-US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altLang="en-US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  <m:r>
                        <a:rPr lang="en-US" altLang="en-US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en-US" i="1">
                          <a:latin typeface="Cambria Math" panose="02040503050406030204" charset="0"/>
                          <a:cs typeface="Cambria Math" panose="02040503050406030204" charset="0"/>
                        </a:rPr>
                        <m:t>2</m:t>
                      </m:r>
                      <m:r>
                        <a:rPr lang="en-US" altLang="en-US" i="1">
                          <a:latin typeface="Cambria Math" panose="02040503050406030204" charset="0"/>
                          <a:cs typeface="Cambria Math" panose="02040503050406030204" charset="0"/>
                        </a:rPr>
                        <m:t>.</m:t>
                      </m:r>
                      <m:r>
                        <a:rPr lang="en-US" altLang="en-US" i="1">
                          <a:latin typeface="Cambria Math" panose="02040503050406030204" charset="0"/>
                          <a:cs typeface="Cambria Math" panose="02040503050406030204" charset="0"/>
                        </a:rPr>
                        <m:t>𝑒𝑟𝑟𝑜𝑟</m:t>
                      </m:r>
                      <m:r>
                        <a:rPr lang="en-US" altLang="en-US" i="1">
                          <a:latin typeface="Cambria Math" panose="02040503050406030204" charset="0"/>
                          <a:cs typeface="Cambria Math" panose="02040503050406030204" charset="0"/>
                        </a:rPr>
                        <m:t>.</m:t>
                      </m:r>
                      <m:sSub>
                        <m:sSubPr>
                          <m:ctrlPr>
                            <a:rPr lang="en-US" alt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altLang="en-US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>
                  <a:buNone/>
                </a:pPr>
                <a:r>
                  <a:rPr lang="en-US" altLang="en-US"/>
                  <a:t>=2(−0.523)[0.20,0.10]</a:t>
                </a:r>
                <a:endParaRPr lang="en-US" altLang="en-US"/>
              </a:p>
              <a:p>
                <a:pPr marL="0" indent="0">
                  <a:buNone/>
                </a:pPr>
                <a:r>
                  <a:rPr lang="en-US" altLang="en-US"/>
                  <a:t>=[−0.209,  −0.105]</a:t>
                </a:r>
                <a:endParaRPr lang="en-US" altLang="en-US"/>
              </a:p>
            </p:txBody>
          </p:sp>
        </mc:Choice>
        <mc:Fallback>
          <p:sp>
            <p:nvSpPr>
              <p:cNvPr id="8" name="Content Placeholder 7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sz="quarter" idx="4"/>
              </p:nvPr>
            </p:nvSpPr>
            <p:spPr>
              <a:blipFill rotWithShape="1">
                <a:blip r:embed="rId4"/>
                <a:stretch>
                  <a:fillRect r="6" b="9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en-US"/>
              <a:t>Gradient w.r.t. biases</a:t>
            </a:r>
            <a:endParaRPr lang="en-US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lang="en-US" alt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lang="en-US" alt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𝐽</m:t>
                          </m:r>
                        </m:num>
                        <m:den>
                          <m:r>
                            <a:rPr lang="en-US" alt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en-US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en-US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en-US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US" altLang="en-US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en-US" i="1">
                          <a:latin typeface="Cambria Math" panose="02040503050406030204" charset="0"/>
                          <a:cs typeface="Cambria Math" panose="02040503050406030204" charset="0"/>
                        </a:rPr>
                        <m:t>2</m:t>
                      </m:r>
                      <m:r>
                        <a:rPr lang="en-US" altLang="en-US" i="1">
                          <a:latin typeface="Cambria Math" panose="02040503050406030204" charset="0"/>
                          <a:cs typeface="Cambria Math" panose="02040503050406030204" charset="0"/>
                        </a:rPr>
                        <m:t>.</m:t>
                      </m:r>
                      <m:r>
                        <a:rPr lang="en-US" altLang="en-US" i="1">
                          <a:latin typeface="Cambria Math" panose="02040503050406030204" charset="0"/>
                          <a:cs typeface="Cambria Math" panose="02040503050406030204" charset="0"/>
                        </a:rPr>
                        <m:t>𝑒𝑟𝑟𝑜𝑟</m:t>
                      </m:r>
                      <m:r>
                        <a:rPr lang="en-US" altLang="en-US" i="1">
                          <a:latin typeface="Cambria Math" panose="02040503050406030204" charset="0"/>
                          <a:cs typeface="Cambria Math" panose="02040503050406030204" charset="0"/>
                        </a:rPr>
                        <m:t> = </m:t>
                      </m:r>
                      <m:r>
                        <a:rPr lang="en-US" altLang="en-US" i="1">
                          <a:latin typeface="Cambria Math" panose="02040503050406030204" charset="0"/>
                          <a:cs typeface="Cambria Math" panose="02040503050406030204" charset="0"/>
                        </a:rPr>
                        <m:t>−</m:t>
                      </m:r>
                      <m:r>
                        <a:rPr lang="en-US" altLang="en-US" i="1">
                          <a:latin typeface="Cambria Math" panose="02040503050406030204" charset="0"/>
                          <a:cs typeface="Cambria Math" panose="02040503050406030204" charset="0"/>
                        </a:rPr>
                        <m:t>1</m:t>
                      </m:r>
                      <m:r>
                        <a:rPr lang="en-US" altLang="en-US" i="1">
                          <a:latin typeface="Cambria Math" panose="02040503050406030204" charset="0"/>
                          <a:cs typeface="Cambria Math" panose="02040503050406030204" charset="0"/>
                        </a:rPr>
                        <m:t>.</m:t>
                      </m:r>
                      <m:r>
                        <a:rPr lang="en-US" altLang="en-US" i="1">
                          <a:latin typeface="Cambria Math" panose="02040503050406030204" charset="0"/>
                          <a:cs typeface="Cambria Math" panose="02040503050406030204" charset="0"/>
                        </a:rPr>
                        <m:t>046</m:t>
                      </m:r>
                    </m:oMath>
                  </m:oMathPara>
                </a14:m>
                <a:endParaRPr lang="en-US" altLang="en-US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>
          <p:sp>
            <p:nvSpPr>
              <p:cNvPr id="4" name="Content Placeholder 3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 rotWithShape="1">
                <a:blip r:embed="rId1"/>
                <a:stretch>
                  <a:fillRect l="-6" b="9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r>
              <a:rPr lang="en-US" altLang="en-US"/>
              <a:t>Parameter Updates (Gradient Descent)</a:t>
            </a:r>
            <a:endParaRPr lang="en-US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5"/>
              <p:cNvSpPr>
                <a:spLocks noGrp="1"/>
              </p:cNvSpPr>
              <p:nvPr>
                <p:ph sz="quarter" idx="4"/>
              </p:nvPr>
            </p:nvSpPr>
            <p:spPr/>
            <p:txBody>
              <a:bodyPr/>
              <a:p>
                <a:pPr marL="0" indent="0">
                  <a:buNone/>
                </a:pPr>
                <a:r>
                  <a:rPr lang="en-US" altLang="en-US" i="1">
                    <a:latin typeface="Cambria Math" panose="02040503050406030204" charset="0"/>
                    <a:cs typeface="Cambria Math" panose="02040503050406030204" charset="0"/>
                  </a:rPr>
                  <a:t>Update word vector</a:t>
                </a:r>
                <a:endParaRPr lang="en-US" altLang="en-US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lang="en-US" alt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𝑛𝑒𝑤</m:t>
                          </m:r>
                        </m:sup>
                      </m:sSubSup>
                      <m:r>
                        <a:rPr lang="en-US" altLang="en-US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sSub>
                        <m:sSubPr>
                          <m:ctrlPr>
                            <a:rPr lang="en-US" alt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𝑖</m:t>
                          </m:r>
                        </m:sub>
                      </m:sSub>
                      <m:r>
                        <a:rPr lang="en-US" altLang="en-US" i="1">
                          <a:latin typeface="Cambria Math" panose="02040503050406030204" charset="0"/>
                          <a:cs typeface="Cambria Math" panose="02040503050406030204" charset="0"/>
                        </a:rPr>
                        <m:t>−</m:t>
                      </m:r>
                      <m:r>
                        <a:rPr lang="en-US" altLang="en-US" i="1">
                          <a:latin typeface="Cambria Math" panose="02040503050406030204" charset="0"/>
                          <a:cs typeface="Cambria Math" panose="02040503050406030204" charset="0"/>
                        </a:rPr>
                        <m:t>𝜂</m:t>
                      </m:r>
                      <m:f>
                        <m:fPr>
                          <m:ctrlPr>
                            <a:rPr lang="en-US" alt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lang="en-US" alt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lang="en-US" alt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𝐽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en-US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en-US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𝜕</m:t>
                              </m:r>
                              <m:r>
                                <a:rPr lang="en-US" altLang="en-US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en-US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altLang="en-US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>
                  <a:buNone/>
                </a:pPr>
                <a:r>
                  <a:rPr lang="en-US" altLang="en-US"/>
                  <a:t>=[0.20,0.10]−0.1[−0.314,−0.418]</a:t>
                </a:r>
                <a:endParaRPr lang="en-US" altLang="en-US"/>
              </a:p>
              <a:p>
                <a:pPr marL="0" indent="0">
                  <a:buNone/>
                </a:pPr>
                <a:r>
                  <a:rPr lang="en-US" altLang="en-US"/>
                  <a:t>=[0.231,  0.142]</a:t>
                </a:r>
                <a:endParaRPr lang="en-US" altLang="en-US"/>
              </a:p>
            </p:txBody>
          </p:sp>
        </mc:Choice>
        <mc:Fallback>
          <p:sp>
            <p:nvSpPr>
              <p:cNvPr id="6" name="Content Placeholder 5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sz="quarter" idx="4"/>
              </p:nvPr>
            </p:nvSpPr>
            <p:spPr>
              <a:blipFill rotWithShape="1">
                <a:blip r:embed="rId2"/>
                <a:stretch>
                  <a:fillRect r="6" b="9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/>
              <a:t>update context vector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=[0.30, 0.40]−0.1[−0.209,−0.105]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=[0.321,  0.411]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r>
              <a:rPr lang="en-US"/>
              <a:t>update bias</a:t>
            </a:r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5"/>
              <p:cNvSpPr>
                <a:spLocks noGrp="1"/>
              </p:cNvSpPr>
              <p:nvPr>
                <p:ph sz="quarter" idx="4"/>
              </p:nvPr>
            </p:nvSpPr>
            <p:spPr/>
            <p:txBody>
              <a:bodyPr>
                <a:normAutofit/>
              </a:bodyPr>
              <a:p>
                <a:pPr marL="0" indent="0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SupPr>
                      <m:e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𝑏</m:t>
                        </m:r>
                      </m:e>
                      <m:sub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𝑖</m:t>
                        </m:r>
                      </m:sub>
                      <m:sup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𝑛𝑒𝑤</m:t>
                        </m:r>
                      </m:sup>
                    </m:sSubSup>
                  </m:oMath>
                </a14:m>
                <a:r>
                  <a:rPr lang="en-US" altLang="en-US"/>
                  <a:t>=0.05−0.1(−1.046)=0.155</a:t>
                </a:r>
                <a:endParaRPr lang="en-US" altLang="en-US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en-US" alt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SupPr>
                          <m:e>
                            <m:r>
                              <a:rPr lang="en-US" alt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en-US" alt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𝑛𝑒𝑤</m:t>
                            </m:r>
                          </m:sup>
                        </m:sSubSup>
                      </m:e>
                    </m:acc>
                  </m:oMath>
                </a14:m>
                <a:r>
                  <a:rPr lang="en-US" altLang="en-US"/>
                  <a:t>=0.02−0.1(−1.046)=0.125</a:t>
                </a:r>
                <a:endParaRPr lang="en-US" altLang="en-US"/>
              </a:p>
            </p:txBody>
          </p:sp>
        </mc:Choice>
        <mc:Fallback>
          <p:sp>
            <p:nvSpPr>
              <p:cNvPr id="6" name="Content Placeholder 5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sz="quarter" idx="4"/>
              </p:nvPr>
            </p:nvSpPr>
            <p:spPr>
              <a:blipFill rotWithShape="1">
                <a:blip r:embed="rId1"/>
                <a:stretch>
                  <a:fillRect r="6" b="9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ym typeface="+mn-ea"/>
              </a:rPr>
              <a:t>Final embedding</a:t>
            </a:r>
            <a:endParaRPr lang="en-US"/>
          </a:p>
        </p:txBody>
      </p:sp>
      <p:graphicFrame>
        <p:nvGraphicFramePr>
          <p:cNvPr id="10" name="Content Placeholder 9"/>
          <p:cNvGraphicFramePr/>
          <p:nvPr>
            <p:ph idx="1"/>
          </p:nvPr>
        </p:nvGraphicFramePr>
        <p:xfrm>
          <a:off x="838200" y="1825625"/>
          <a:ext cx="10515600" cy="2194560"/>
        </p:xfrm>
        <a:graphic>
          <a:graphicData uri="http://schemas.openxmlformats.org/drawingml/2006/table">
            <a:tbl>
              <a:tblPr/>
              <a:tblGrid>
                <a:gridCol w="5257800"/>
                <a:gridCol w="5257800"/>
              </a:tblGrid>
              <a:tr h="365760">
                <a:tc>
                  <a:txBody>
                    <a:bodyPr/>
                    <a:p>
                      <a:pPr algn="ctr" fontAlgn="ctr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Word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GloVe Vector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data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[0.41, 0.28]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science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[0.62, 0.55]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machine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[0.35, 0.18]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learning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[0.33, 0.16]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statistics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[0.58, 0.51]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To do</a:t>
            </a:r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half"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S1: Students study machine learning.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S2: Students study deep learning.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S3: Students study data science.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S4: Students learn machine learning.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S5: Teachers teach machine learning.</a:t>
            </a:r>
            <a:endParaRPr lang="en-US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half" idx="2"/>
          </p:nvPr>
        </p:nvSpPr>
        <p:spPr/>
        <p:txBody>
          <a:bodyPr/>
          <a:p>
            <a:pPr marL="0" indent="0">
              <a:buNone/>
            </a:pPr>
            <a:r>
              <a:rPr lang="en-US"/>
              <a:t>1. corpus</a:t>
            </a:r>
            <a:endParaRPr lang="en-US"/>
          </a:p>
          <a:p>
            <a:pPr marL="0" indent="0">
              <a:buNone/>
            </a:pPr>
            <a:r>
              <a:rPr lang="en-US"/>
              <a:t>2. tokenize</a:t>
            </a:r>
            <a:endParaRPr lang="en-US"/>
          </a:p>
          <a:p>
            <a:pPr marL="0" indent="0">
              <a:buNone/>
            </a:pPr>
            <a:r>
              <a:rPr lang="en-US"/>
              <a:t>3. Vocabulary</a:t>
            </a:r>
            <a:endParaRPr lang="en-US"/>
          </a:p>
          <a:p>
            <a:pPr marL="0" indent="0">
              <a:buNone/>
            </a:pPr>
            <a:r>
              <a:rPr lang="en-US"/>
              <a:t>4. co-occurence matrix</a:t>
            </a:r>
            <a:endParaRPr lang="en-US"/>
          </a:p>
          <a:p>
            <a:pPr marL="0" indent="0">
              <a:buNone/>
            </a:pPr>
            <a:r>
              <a:rPr lang="en-US"/>
              <a:t>5. Solve for </a:t>
            </a:r>
            <a:r>
              <a:rPr lang="en-US" altLang="en-US"/>
              <a:t>Target = machine Context = learning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6. Dot Product, add biases, compute target, error, Squarred error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pPr marL="0" indent="0">
              <a:buNone/>
            </a:pPr>
            <a:r>
              <a:rPr lang="en-US" altLang="en-US"/>
              <a:t>Target vector : w</a:t>
            </a:r>
            <a:r>
              <a:rPr lang="en-US" altLang="en-US" baseline="-25000"/>
              <a:t>machine</a:t>
            </a:r>
            <a:r>
              <a:rPr lang="en-US" altLang="en-US"/>
              <a:t>  =[0.6,0.2]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Context vector w </a:t>
            </a:r>
            <a:r>
              <a:rPr lang="en-US" altLang="en-US" baseline="-25000"/>
              <a:t>learning</a:t>
            </a:r>
            <a:r>
              <a:rPr lang="en-US" altLang="en-US"/>
              <a:t> =[0.5,0.4]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Biases b</a:t>
            </a:r>
            <a:r>
              <a:rPr lang="en-US" altLang="en-US" baseline="-25000"/>
              <a:t>machine</a:t>
            </a:r>
            <a:r>
              <a:rPr lang="en-US" altLang="en-US"/>
              <a:t> =0.10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b</a:t>
            </a:r>
            <a:r>
              <a:rPr lang="en-US" altLang="en-US" baseline="-25000"/>
              <a:t>learning</a:t>
            </a:r>
            <a:r>
              <a:rPr lang="en-US" altLang="en-US"/>
              <a:t> =0.20</a:t>
            </a:r>
            <a:endParaRPr lang="en-US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Final Word Embeddings</a:t>
            </a:r>
            <a:endParaRPr lang="en-US" altLang="en-US"/>
          </a:p>
        </p:txBody>
      </p:sp>
      <p:graphicFrame>
        <p:nvGraphicFramePr>
          <p:cNvPr id="4" name="Content Placeholder 3"/>
          <p:cNvGraphicFramePr/>
          <p:nvPr>
            <p:ph idx="1"/>
          </p:nvPr>
        </p:nvGraphicFramePr>
        <p:xfrm>
          <a:off x="838200" y="1825625"/>
          <a:ext cx="10515600" cy="4023360"/>
        </p:xfrm>
        <a:graphic>
          <a:graphicData uri="http://schemas.openxmlformats.org/drawingml/2006/table">
            <a:tbl>
              <a:tblPr/>
              <a:tblGrid>
                <a:gridCol w="5257800"/>
                <a:gridCol w="5257800"/>
              </a:tblGrid>
              <a:tr h="365760">
                <a:tc>
                  <a:txBody>
                    <a:bodyPr/>
                    <a:p>
                      <a:pPr algn="ctr" fontAlgn="ctr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Word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Embedding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Students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[0.82,0.35]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study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[0.80,0.37]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machine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[0.74,0.81]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learning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[0.75,0.83]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deep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[0.71,0.79]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data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[0.48,0.63]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science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[0.47,0.65]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learn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[0.76,0.73]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Teachers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[0.35,0.42]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teach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[0.36,0.44]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Interpretation of the Final Embeddings</a:t>
            </a:r>
            <a:endParaRPr lang="en-US" altLang="en-US"/>
          </a:p>
        </p:txBody>
      </p:sp>
      <p:graphicFrame>
        <p:nvGraphicFramePr>
          <p:cNvPr id="9" name="Content Placeholder 8"/>
          <p:cNvGraphicFramePr/>
          <p:nvPr>
            <p:ph idx="1"/>
          </p:nvPr>
        </p:nvGraphicFramePr>
        <p:xfrm>
          <a:off x="838200" y="1825625"/>
          <a:ext cx="10515600" cy="3291840"/>
        </p:xfrm>
        <a:graphic>
          <a:graphicData uri="http://schemas.openxmlformats.org/drawingml/2006/table">
            <a:tbl>
              <a:tblPr/>
              <a:tblGrid>
                <a:gridCol w="5257800"/>
                <a:gridCol w="5257800"/>
              </a:tblGrid>
              <a:tr h="548640">
                <a:tc>
                  <a:txBody>
                    <a:bodyPr/>
                    <a:p>
                      <a:pPr algn="ctr" fontAlgn="ctr"/>
                      <a:r>
                        <a:rPr sz="18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Words</a:t>
                      </a:r>
                      <a:endParaRPr sz="18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8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Reason they are Similar</a:t>
                      </a:r>
                      <a:endParaRPr sz="18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31520">
                <a:tc>
                  <a:txBody>
                    <a:bodyPr/>
                    <a:p>
                      <a:pPr algn="l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machine – learning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Frequently occur together (3 times).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31520">
                <a:tc>
                  <a:txBody>
                    <a:bodyPr/>
                    <a:p>
                      <a:pPr algn="l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Students – study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Repeatedly co-occur (3 times).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31520">
                <a:tc>
                  <a:txBody>
                    <a:bodyPr/>
                    <a:p>
                      <a:pPr algn="l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data – science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Appear together in the corpus.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48640">
                <a:tc>
                  <a:txBody>
                    <a:bodyPr/>
                    <a:p>
                      <a:pPr algn="l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Teachers – teach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Always occur together.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713*316"/>
  <p:tag name="TABLE_ENDDRAG_RECT" val="122*202*713*316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3258</Words>
  <Application>WPS Presentation</Application>
  <PresentationFormat>Widescreen</PresentationFormat>
  <Paragraphs>423</Paragraphs>
  <Slides>16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16</vt:i4>
      </vt:variant>
    </vt:vector>
  </HeadingPairs>
  <TitlesOfParts>
    <vt:vector size="28" baseType="lpstr">
      <vt:lpstr>Arial</vt:lpstr>
      <vt:lpstr>SimSun</vt:lpstr>
      <vt:lpstr>Wingdings</vt:lpstr>
      <vt:lpstr>Calibri</vt:lpstr>
      <vt:lpstr>Cambria Math</vt:lpstr>
      <vt:lpstr>Calibri</vt:lpstr>
      <vt:lpstr>Calibri Light</vt:lpstr>
      <vt:lpstr>Microsoft YaHei</vt:lpstr>
      <vt:lpstr>Arial Unicode MS</vt:lpstr>
      <vt:lpstr>Office Theme</vt:lpstr>
      <vt:lpstr>Equation.KSEE3</vt:lpstr>
      <vt:lpstr>Equation.KSEE3</vt:lpstr>
      <vt:lpstr>GloVe</vt:lpstr>
      <vt:lpstr>PowerPoint 演示文稿</vt:lpstr>
      <vt:lpstr>GloVe</vt:lpstr>
      <vt:lpstr>Comparison</vt:lpstr>
      <vt:lpstr>Worked example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vinodha priya</cp:lastModifiedBy>
  <cp:revision>8</cp:revision>
  <dcterms:created xsi:type="dcterms:W3CDTF">2025-07-23T00:59:00Z</dcterms:created>
  <dcterms:modified xsi:type="dcterms:W3CDTF">2026-07-31T04:32:27Z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31BC19E6CA0A4689B4C2F1A352945A3D_11</vt:lpwstr>
  </property>
  <property fmtid="{D5CDD505-2E9C-101B-9397-08002B2CF9AE}" pid="3" name="KSOProductBuildVer">
    <vt:lpwstr>1033-12.1.0.27458</vt:lpwstr>
  </property>
</Properties>
</file>