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7" r:id="rId8"/>
    <p:sldId id="271" r:id="rId9"/>
    <p:sldId id="272" r:id="rId10"/>
    <p:sldId id="273" r:id="rId11"/>
    <p:sldId id="262" r:id="rId12"/>
    <p:sldId id="263" r:id="rId13"/>
    <p:sldId id="264" r:id="rId14"/>
    <p:sldId id="265" r:id="rId15"/>
    <p:sldId id="266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1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Topic Modeling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sym typeface="+mn-ea"/>
              </a:rPr>
              <a:t>Topic Modeling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Unsupervised machine learning technique used to automatically discover hidden themes or topics in a collection of text documents. </a:t>
            </a:r>
            <a:endParaRPr lang="en-US" altLang="en-US"/>
          </a:p>
          <a:p>
            <a:r>
              <a:rPr lang="en-US" altLang="en-US"/>
              <a:t>groups words that frequently occur together and identifies the underlying topics without requiring labeled data.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Topic Modeling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>
              <a:buAutoNum type="arabicPeriod"/>
            </a:pPr>
            <a:r>
              <a:rPr lang="en-US" altLang="en-US" sz="1800"/>
              <a:t>Collect a set of documents (e.g., articles, tweets, reviews).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Preprocess the text:</a:t>
            </a:r>
            <a:endParaRPr lang="en-US" altLang="en-US" sz="1800"/>
          </a:p>
          <a:p>
            <a:pPr marL="800100" lvl="1" indent="-342900">
              <a:buAutoNum type="arabicPeriod"/>
            </a:pPr>
            <a:r>
              <a:rPr lang="en-US" altLang="en-US" sz="1800"/>
              <a:t>Convert to lowercase</a:t>
            </a:r>
            <a:endParaRPr lang="en-US" altLang="en-US" sz="1800"/>
          </a:p>
          <a:p>
            <a:pPr marL="800100" lvl="1" indent="-342900">
              <a:buAutoNum type="arabicPeriod"/>
            </a:pPr>
            <a:r>
              <a:rPr lang="en-US" altLang="en-US" sz="1800"/>
              <a:t>Remove stop words</a:t>
            </a:r>
            <a:endParaRPr lang="en-US" altLang="en-US" sz="1800"/>
          </a:p>
          <a:p>
            <a:pPr marL="800100" lvl="1" indent="-342900">
              <a:buAutoNum type="arabicPeriod"/>
            </a:pPr>
            <a:r>
              <a:rPr lang="en-US" altLang="en-US" sz="1800"/>
              <a:t>Tokenize</a:t>
            </a:r>
            <a:endParaRPr lang="en-US" altLang="en-US" sz="1800"/>
          </a:p>
          <a:p>
            <a:pPr marL="800100" lvl="1" indent="-342900">
              <a:buAutoNum type="arabicPeriod"/>
            </a:pPr>
            <a:r>
              <a:rPr lang="en-US" altLang="en-US" sz="1800"/>
              <a:t>Stem or lemmatize words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Apply a topic modeling algorithm.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Interpret the discovered topics based on the most representative words.</a:t>
            </a:r>
            <a:endParaRPr lang="en-US" altLang="en-US" sz="18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"The team won the football match."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"The player scored two goals."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"Stock markets rose after economic growth."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"Investors bought more shares."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219456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Topic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Top Words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Sports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football, team, player, goals, match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Finance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market, investors, shares, economy, growth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Topic Modelling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1. Latent Dirichlet Allocation (LDA)</a:t>
            </a:r>
            <a:endParaRPr lang="en-US" altLang="en-US"/>
          </a:p>
          <a:p>
            <a:pPr lvl="1"/>
            <a:r>
              <a:rPr lang="en-US" altLang="en-US"/>
              <a:t>Most widely used.</a:t>
            </a:r>
            <a:endParaRPr lang="en-US" altLang="en-US"/>
          </a:p>
          <a:p>
            <a:pPr lvl="1"/>
            <a:r>
              <a:rPr lang="en-US" altLang="en-US"/>
              <a:t>Assumes each document contains multiple topics.</a:t>
            </a:r>
            <a:endParaRPr lang="en-US" altLang="en-US"/>
          </a:p>
          <a:p>
            <a:pPr lvl="1"/>
            <a:r>
              <a:rPr lang="en-US" altLang="en-US"/>
              <a:t>Each topic is a probability distribution over words.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Latent Semantic Analysis (LSA)</a:t>
            </a:r>
            <a:endParaRPr lang="en-US" altLang="en-US"/>
          </a:p>
          <a:p>
            <a:pPr lvl="1"/>
            <a:r>
              <a:rPr lang="en-US" altLang="en-US"/>
              <a:t>Uses matrix decomposition (Singular Value Decomposition).</a:t>
            </a:r>
            <a:endParaRPr lang="en-US" altLang="en-US"/>
          </a:p>
          <a:p>
            <a:pPr lvl="1"/>
            <a:r>
              <a:rPr lang="en-US" altLang="en-US"/>
              <a:t>Captures hidden relationships between words and documents.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>
                <a:sym typeface="+mn-ea"/>
              </a:rPr>
              <a:t>3. Non-negative Matrix Factorization (NMF)</a:t>
            </a:r>
            <a:endParaRPr lang="en-US" altLang="en-US" sz="1800"/>
          </a:p>
          <a:p>
            <a:pPr lvl="1"/>
            <a:r>
              <a:rPr lang="en-US" altLang="en-US" sz="1800">
                <a:sym typeface="+mn-ea"/>
              </a:rPr>
              <a:t>Factorizes the document-term matrix into non-negative matrices.</a:t>
            </a:r>
            <a:endParaRPr lang="en-US" altLang="en-US" sz="1800"/>
          </a:p>
          <a:p>
            <a:pPr lvl="1"/>
            <a:r>
              <a:rPr lang="en-US" altLang="en-US" sz="1800">
                <a:sym typeface="+mn-ea"/>
              </a:rPr>
              <a:t>Often produces interpretable topics.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>
                <a:sym typeface="+mn-ea"/>
              </a:rPr>
              <a:t>4. BERTopic</a:t>
            </a:r>
            <a:endParaRPr lang="en-US" altLang="en-US" sz="1800"/>
          </a:p>
          <a:p>
            <a:pPr lvl="1"/>
            <a:r>
              <a:rPr lang="en-US" altLang="en-US" sz="1800">
                <a:sym typeface="+mn-ea"/>
              </a:rPr>
              <a:t>Modern approach using transformer embeddings, clustering, and class-based TF-IDF.</a:t>
            </a:r>
            <a:endParaRPr lang="en-US" altLang="en-US" sz="1800"/>
          </a:p>
          <a:p>
            <a:pPr lvl="1"/>
            <a:r>
              <a:rPr lang="en-US" altLang="en-US" sz="1800">
                <a:sym typeface="+mn-ea"/>
              </a:rPr>
              <a:t>Produces more coherent topics, especially for short texts.</a:t>
            </a:r>
            <a:endParaRPr lang="en-US" altLang="en-US" sz="1800"/>
          </a:p>
          <a:p>
            <a:pPr marL="0" indent="0">
              <a:buNone/>
            </a:pP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Latent Semantic Analysis (LSA)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/>
              <a:t>LSA uses Singular Value Decomposition (SVD) to identify hidden semantic relationships.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Document-Term Matrix is decomposed as: A=UΣV</a:t>
            </a:r>
            <a:r>
              <a:rPr lang="en-US" altLang="en-US" baseline="30000"/>
              <a:t>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= Document-Term Matrix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 = Document-topic relationship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Σ = Importance of topics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</a:t>
            </a:r>
            <a:r>
              <a:rPr lang="en-US" altLang="en-US" baseline="30000"/>
              <a:t>T</a:t>
            </a:r>
            <a:r>
              <a:rPr lang="en-US" altLang="en-US"/>
              <a:t> = Topic-word relationship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Words such as: football, player, goal, match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may be grouped into the hidden concept: SPORTS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Limitation : based on linear algebraic representation and does not provide a probabilistic interpretation.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Latent Dirichlet Allocation (LDA)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55000"/>
          </a:bodyPr>
          <a:p>
            <a:pPr marL="0" indent="0">
              <a:buNone/>
            </a:pPr>
            <a:r>
              <a:rPr lang="en-US" altLang="en-US"/>
              <a:t>LDA is one of the most popular topic modeling algorithms.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Assumption 1 </a:t>
            </a:r>
            <a:r>
              <a:rPr lang="en-US" altLang="en-US"/>
              <a:t>: A document contains multiple topics.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 1: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Sports = 70%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Politics = 30%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Assumption 2: </a:t>
            </a:r>
            <a:r>
              <a:rPr lang="en-US" altLang="en-US"/>
              <a:t>A topic contains multiple words with different probabilities.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Sports Topic: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football = 30%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player = 25%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match = 20%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team = 15%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goal = 10%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595" y="1501140"/>
            <a:ext cx="5165725" cy="51765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300"/>
              <a:t>Words in Documents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Random Topic Assignment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Calculate: P(Topic | Document)  +  P(Word | Topic)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Reassign Words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Repeat Many Times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Stable Topic Assignments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  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Final Document-Topic Distribution</a:t>
            </a:r>
            <a:endParaRPr lang="en-US" altLang="en-US" sz="1300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LDA Example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>
                <a:normAutofit lnSpcReduction="10000"/>
              </a:bodyPr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𝐿𝐷𝐴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𝑁𝑢𝑚𝑏𝑒𝑟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𝑜𝑓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𝑤𝑜𝑟𝑑𝑠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𝑎𝑠𝑠𝑖𝑔𝑛𝑒𝑑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𝑡𝑜𝑝𝑖𝑐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𝑇𝑜𝑡𝑎𝑙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𝑊𝑜𝑟𝑑𝑠</m:t>
                          </m:r>
                        </m:den>
                      </m:f>
                    </m:oMath>
                  </m:oMathPara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𝑑𝑘</m:t>
                        </m:r>
                      </m:sub>
                    </m:sSub>
                  </m:oMath>
                </a14:m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= </a:t>
                </a: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number of words in document d assigned to topic k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=</a:t>
                </a: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total number of words in document d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 =</a:t>
                </a: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prior parameter for topic k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K = total number of topics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700"/>
              <a:t>Suppose: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Number of topics = 2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Document: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team won match government announced policy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Assume: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Topic	Word Count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Sports	4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Politics  2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Total words:n</a:t>
            </a:r>
            <a:r>
              <a:rPr lang="en-US" altLang="en-US" sz="1700" baseline="-25000"/>
              <a:t>d</a:t>
            </a:r>
            <a:r>
              <a:rPr lang="en-US" altLang="en-US" sz="1700"/>
              <a:t>=6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Let:α=1</a:t>
            </a:r>
            <a:endParaRPr lang="en-US" altLang="en-US" sz="1700"/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Sports : P(Sports∣D)= 5/8 = 0.625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Politics : P(Politics∣D)= 3/8 = 0.375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Thus, the document is approximately: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62.5% Sports and 37.5% Politics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Document 1: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football team won the match. The players scored goals.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 2: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cricket team played a good match. The players performed well.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 3: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stock market increased. Investors bought more shares.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595" y="1501140"/>
          <a:ext cx="5277485" cy="3128645"/>
        </p:xfrm>
        <a:graphic>
          <a:graphicData uri="http://schemas.openxmlformats.org/drawingml/2006/table">
            <a:tbl>
              <a:tblPr/>
              <a:tblGrid>
                <a:gridCol w="1954530"/>
                <a:gridCol w="3322955"/>
              </a:tblGrid>
              <a:tr h="782320"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Topic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Important Words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2845">
                <a:tc>
                  <a:txBody>
                    <a:bodyPr/>
                    <a:p>
                      <a:pPr algn="l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Topic 1: Sports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football, cricket, team, players, match, goals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2320">
                <a:tc>
                  <a:txBody>
                    <a:bodyPr/>
                    <a:p>
                      <a:pPr algn="l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Topic 2: Finance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stock, market, investors, shares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160">
                <a:tc gridSpan="2"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topics are not explicitly provided. The algorithm discovers them automaticall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y</a:t>
                      </a:r>
                      <a:endParaRPr lang="en-US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A document may contain multiple topics.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government invested in sports infrastructure and increased the sports budget.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This document may contain: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70% Sports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30% Government/Finance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Similarly, a topic is represented as a probability distribution over words:</a:t>
            </a: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1463040"/>
        </p:xfrm>
        <a:graphic>
          <a:graphicData uri="http://schemas.openxmlformats.org/drawingml/2006/table">
            <a:tbl>
              <a:tblPr/>
              <a:tblGrid>
                <a:gridCol w="1917065"/>
                <a:gridCol w="325945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football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player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match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goal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 gridSpan="2"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Document→Mixture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Topics Topic→Distribution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41020" y="116840"/>
            <a:ext cx="11283315" cy="6504305"/>
          </a:xfrm>
        </p:spPr>
        <p:txBody>
          <a:bodyPr>
            <a:noAutofit/>
          </a:bodyPr>
          <a:p>
            <a:pPr marL="0" indent="0" algn="ctr">
              <a:buNone/>
            </a:pPr>
            <a:r>
              <a:rPr lang="en-US" altLang="en-US" sz="1400"/>
              <a:t>Collection of Documents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    Text Preprocessing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   Tokenization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  Stopword Removal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     Lemmatization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Document-Term Matrix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   Topic Modeling Algorithm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    Hidden Topics</a:t>
            </a:r>
            <a:endParaRPr lang="en-US" altLang="en-US" sz="1400"/>
          </a:p>
          <a:p>
            <a:pPr marL="0" indent="0" algn="ctr">
              <a:buNone/>
            </a:pPr>
            <a:r>
              <a:rPr lang="en-US" altLang="en-US" sz="1200"/>
              <a:t>          ↓</a:t>
            </a:r>
            <a:endParaRPr lang="en-US" altLang="en-US" sz="1200"/>
          </a:p>
          <a:p>
            <a:pPr marL="0" indent="0" algn="ctr">
              <a:buNone/>
            </a:pPr>
            <a:r>
              <a:rPr lang="en-US" altLang="en-US" sz="1400"/>
              <a:t>Topic Interpretation</a:t>
            </a:r>
            <a:endParaRPr lang="en-US" altLang="en-US" sz="1400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Text Preprocessing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Example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Original sentence: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"The students are studying machine learning algorithms."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After preprocessing: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students studying machine learning algorithms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Common steps: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Tokenization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Lowercase conversion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Stop-word removal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Stemming or Lemmatization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Removal of punctuation and special symbols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Document Term Matrix</a:t>
            </a:r>
            <a:endParaRPr lang="en-US"/>
          </a:p>
        </p:txBody>
      </p:sp>
      <p:graphicFrame>
        <p:nvGraphicFramePr>
          <p:cNvPr id="5" name="Content Placeholder 4"/>
          <p:cNvGraphicFramePr/>
          <p:nvPr>
            <p:ph sz="half" idx="1"/>
            <p:custDataLst>
              <p:tags r:id="rId2"/>
            </p:custDataLst>
          </p:nvPr>
        </p:nvGraphicFramePr>
        <p:xfrm>
          <a:off x="608330" y="1501140"/>
          <a:ext cx="3983355" cy="2198370"/>
        </p:xfrm>
        <a:graphic>
          <a:graphicData uri="http://schemas.openxmlformats.org/drawingml/2006/table">
            <a:tbl>
              <a:tblPr/>
              <a:tblGrid>
                <a:gridCol w="1227455"/>
                <a:gridCol w="2755900"/>
              </a:tblGrid>
              <a:tr h="481965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Document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Text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football team won match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cricket team played match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196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stock market investors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Content Placeholder 6"/>
          <p:cNvGraphicFramePr/>
          <p:nvPr>
            <p:ph sz="half" idx="2"/>
            <p:custDataLst>
              <p:tags r:id="rId3"/>
            </p:custDataLst>
          </p:nvPr>
        </p:nvGraphicFramePr>
        <p:xfrm>
          <a:off x="4914900" y="1501140"/>
          <a:ext cx="6673215" cy="2319020"/>
        </p:xfrm>
        <a:graphic>
          <a:graphicData uri="http://schemas.openxmlformats.org/drawingml/2006/table">
            <a:tbl>
              <a:tblPr/>
              <a:tblGrid>
                <a:gridCol w="767080"/>
                <a:gridCol w="1303655"/>
                <a:gridCol w="767080"/>
                <a:gridCol w="767715"/>
                <a:gridCol w="766445"/>
                <a:gridCol w="767080"/>
                <a:gridCol w="767080"/>
                <a:gridCol w="767080"/>
              </a:tblGrid>
              <a:tr h="921385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Document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football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match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cricket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stock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market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investors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09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09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Non-Negative Matrix Factorization (NMF)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NMF factorizes the document-term matrix: V≈WH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 = Original document-term matrix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 = Document-topic matrix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 = Topic-word matrix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BERT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r>
              <a:rPr lang="en-US" altLang="en-US"/>
              <a:t>BERTopic is a modern topic modeling approach based on transformer embeddings.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"AI diagnoses diseases"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"Machine learning detects cancer"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"Deep learning helps doctors"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These sentences may be grouped into: Topic: AI in Healthcare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BERTopic is particularly useful for:</a:t>
            </a:r>
            <a:endParaRPr lang="en-US" altLang="en-US"/>
          </a:p>
          <a:p>
            <a:r>
              <a:rPr lang="en-US" altLang="en-US"/>
              <a:t>Short texts</a:t>
            </a:r>
            <a:endParaRPr lang="en-US" altLang="en-US"/>
          </a:p>
          <a:p>
            <a:r>
              <a:rPr lang="en-US" altLang="en-US"/>
              <a:t>Social media posts</a:t>
            </a:r>
            <a:endParaRPr lang="en-US" altLang="en-US"/>
          </a:p>
          <a:p>
            <a:r>
              <a:rPr lang="en-US" altLang="en-US"/>
              <a:t>Customer reviews</a:t>
            </a:r>
            <a:endParaRPr lang="en-US" altLang="en-US"/>
          </a:p>
          <a:p>
            <a:r>
              <a:rPr lang="en-US" altLang="en-US"/>
              <a:t>News articles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Process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Documents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↓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Transformer Embeddings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↓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Dimensionality Reduction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↓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Clustering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↓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c-TF-IDF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↓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Topics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Topic modelling comparison</a:t>
            </a:r>
            <a:endParaRPr lang="en-US"/>
          </a:p>
        </p:txBody>
      </p:sp>
      <p:graphicFrame>
        <p:nvGraphicFramePr>
          <p:cNvPr id="7" name="Content Placeholder 6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108960"/>
        </p:xfrm>
        <a:graphic>
          <a:graphicData uri="http://schemas.openxmlformats.org/drawingml/2006/table">
            <a:tbl>
              <a:tblPr/>
              <a:tblGrid>
                <a:gridCol w="3656330"/>
                <a:gridCol w="3656330"/>
                <a:gridCol w="3656330"/>
              </a:tblGrid>
              <a:tr h="54864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Method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 Technique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Advantages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LSA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SVD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Simple and fast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LDA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Probabilistic model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Interpretable topics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NMF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Matrix factorization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Good topic interpretability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BERTopic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Transformer embeddings + clustering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Handles semantic meaning better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TABLE_ENDDRAG_ORIGIN_RECT" val="415*246"/>
  <p:tag name="TABLE_ENDDRAG_RECT" val="504*118*415*246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TABLE_ENDDRAG_ORIGIN_RECT" val="313*151"/>
  <p:tag name="TABLE_ENDDRAG_RECT" val="47*118*313*15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TABLE_ENDDRAG_ORIGIN_RECT" val="525*182"/>
  <p:tag name="TABLE_ENDDRAG_RECT" val="387*118*525*182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5604</Words>
  <Application>WPS Presentation</Application>
  <PresentationFormat>Widescreen</PresentationFormat>
  <Paragraphs>372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MS PGothic</vt:lpstr>
      <vt:lpstr>Cambria Math</vt:lpstr>
      <vt:lpstr>WPS</vt:lpstr>
      <vt:lpstr>Topic Modeling</vt:lpstr>
      <vt:lpstr>Topic Modeling</vt:lpstr>
      <vt:lpstr>Topic Modeling</vt:lpstr>
      <vt:lpstr>Example</vt:lpstr>
      <vt:lpstr>Topic Modelling</vt:lpstr>
      <vt:lpstr>PowerPoint 演示文稿</vt:lpstr>
      <vt:lpstr>Latent Dirichlet Allocation (LDA)</vt:lpstr>
      <vt:lpstr>LDA</vt:lpstr>
      <vt:lpstr>Example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Modeling</dc:title>
  <dc:creator>priya</dc:creator>
  <cp:lastModifiedBy>vinodha priya</cp:lastModifiedBy>
  <cp:revision>5</cp:revision>
  <dcterms:created xsi:type="dcterms:W3CDTF">2026-07-24T12:05:00Z</dcterms:created>
  <dcterms:modified xsi:type="dcterms:W3CDTF">2026-07-26T08:46:45Z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EB560FA210F64C4ABA2762FDC0297CEC_11</vt:lpwstr>
  </property>
</Properties>
</file>