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image" Target="../media/image1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85.xml"/><Relationship Id="rId7" Type="http://schemas.openxmlformats.org/officeDocument/2006/relationships/image" Target="../media/image3.png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image" Target="../media/image2.png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91.xml"/><Relationship Id="rId7" Type="http://schemas.openxmlformats.org/officeDocument/2006/relationships/image" Target="../media/image5.png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4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97.xml"/><Relationship Id="rId7" Type="http://schemas.openxmlformats.org/officeDocument/2006/relationships/image" Target="../media/image7.png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image" Target="../media/image6.png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03.xml"/><Relationship Id="rId7" Type="http://schemas.openxmlformats.org/officeDocument/2006/relationships/image" Target="../media/image9.png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image" Target="../media/image8.png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image" Target="../media/image10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119.xml"/><Relationship Id="rId7" Type="http://schemas.openxmlformats.org/officeDocument/2006/relationships/image" Target="../media/image11.png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image" Target="../media/image12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image" Target="../media/image13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Worked Example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 PLP with Levinson–Durbin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speech signal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Consider the following short speech sequence: x[n]=[1,2,3,4,2,1,0,-1]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Assume: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Sampling frequency F</a:t>
            </a:r>
            <a:r>
              <a:rPr lang="en-US" altLang="en-US" baseline="-25000"/>
              <a:t>s</a:t>
            </a:r>
            <a:r>
              <a:rPr lang="en-US" altLang="en-US"/>
              <a:t>=8000Hz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Frame length = 4 samples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No overlap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LPC/PLP order = 2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We will process the first frame.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Step 1: Framing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speech signal is divided into frames of 4 samples.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Frame1: x</a:t>
            </a:r>
            <a:r>
              <a:rPr lang="en-US" altLang="en-US" baseline="-25000"/>
              <a:t>1</a:t>
            </a:r>
            <a:r>
              <a:rPr lang="en-US" altLang="en-US"/>
              <a:t>​[n]=[1,2,3,4]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Frame2; x</a:t>
            </a:r>
            <a:r>
              <a:rPr lang="en-US" altLang="en-US" baseline="-25000"/>
              <a:t>2</a:t>
            </a:r>
            <a:r>
              <a:rPr lang="en-US" altLang="en-US"/>
              <a:t>​[n]=[2,1,0,−1]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this problem use </a:t>
            </a:r>
            <a:r>
              <a:rPr lang="en-US" altLang="en-US">
                <a:sym typeface="+mn-ea"/>
              </a:rPr>
              <a:t> x</a:t>
            </a:r>
            <a:r>
              <a:rPr lang="en-US" altLang="en-US" baseline="-25000">
                <a:sym typeface="+mn-ea"/>
              </a:rPr>
              <a:t>1</a:t>
            </a:r>
            <a:r>
              <a:rPr lang="en-US" altLang="en-US">
                <a:sym typeface="+mn-ea"/>
              </a:rPr>
              <a:t>​[n]=[1,2,3,4]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en-US"/>
              <a:t>Step 2: Windowing</a:t>
            </a:r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To keep the numerical example manageable, we assume a rectangular window: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w[n]=1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</a:t>
            </a:r>
            <a:r>
              <a:rPr lang="en-US" altLang="en-US" baseline="-25000"/>
              <a:t>w</a:t>
            </a:r>
            <a:r>
              <a:rPr lang="en-US" altLang="en-US"/>
              <a:t>​[n]=x[n]w[n]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therefore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x</a:t>
            </a:r>
            <a:r>
              <a:rPr lang="en-US" altLang="en-US" baseline="-25000">
                <a:sym typeface="+mn-ea"/>
              </a:rPr>
              <a:t>w</a:t>
            </a:r>
            <a:r>
              <a:rPr lang="en-US" altLang="en-US">
                <a:sym typeface="+mn-ea"/>
              </a:rPr>
              <a:t>​[n] =</a:t>
            </a:r>
            <a:r>
              <a:rPr lang="en-US" altLang="en-US">
                <a:sym typeface="+mn-ea"/>
              </a:rPr>
              <a:t>[1,2,3,4]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 a real PLP system, a Hamming window is normally used.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Step 3: Autocorrelation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R(k)=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n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N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k</m:t>
                        </m:r>
                      </m:sup>
                      <m:e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𝑥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[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𝑛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]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𝑥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[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𝑛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+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𝑘</m:t>
                        </m:r>
                        <m:r>
                          <a:rPr lang="en-US" altLang="en-US">
                            <a:latin typeface="Cambria Math" panose="02040503050406030204" charset="0"/>
                            <a:sym typeface="+mn-ea"/>
                          </a:rPr>
                          <m:t>]</m:t>
                        </m:r>
                        <m:r>
                          <a:rPr lang="en-US" altLang="en-US">
                            <a:latin typeface="Cambria Math" panose="02040503050406030204" charset="0"/>
                          </a:rPr>
                          <m:t> </m:t>
                        </m:r>
                      </m:e>
                    </m:nary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Since we need a second-order model, calculate: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R(0),R(1),R(2)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Calculate R(0)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R(0)=1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+2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+3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+4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endParaRPr lang="en-US" altLang="en-US" baseline="300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=1+4+9+16 = 30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Calculate R(1)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R(1)= (1)(2)+(2)(3)+(3)(4) =2+6+12 $$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R(1)= 20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Calculate R(2)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R(2)= (1)(3)+(2)(4) =3+8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R(2)=11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4: Levinson–Durbin Algorithm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E0​=R(0)=30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Iteration 1 : The first reflection coefficient is: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K</a:t>
                </a:r>
                <a:r>
                  <a:rPr lang="en-US" altLang="en-US" baseline="-25000"/>
                  <a:t>1</a:t>
                </a:r>
                <a:r>
                  <a:rPr lang="en-US" altLang="en-US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en-US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20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altLang="en-US"/>
                  <a:t>​ =0.6667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en-US"/>
                  <a:t>=0.6667</a:t>
                </a:r>
                <a:endParaRPr lang="en-US" altLang="en-US"/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	​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  <p:custDataLst>
                  <p:tags r:id="rId5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E</a:t>
                </a:r>
                <a:r>
                  <a:rPr lang="en-US" altLang="en-US" baseline="-25000"/>
                  <a:t>1</a:t>
                </a:r>
                <a:r>
                  <a:rPr lang="en-US" altLang="en-US"/>
                  <a:t>​=(1−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en-US"/>
                  <a:t>​)E</a:t>
                </a:r>
                <a:r>
                  <a:rPr lang="en-US" altLang="en-US" baseline="-25000"/>
                  <a:t>0​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667</m:t>
                            </m:r>
                          </m:e>
                        </m:d>
                      </m:e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/>
                  <a:t>(30)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=(1−0.4444)(30)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E</a:t>
                </a:r>
                <a:r>
                  <a:rPr lang="en-US" altLang="en-US" baseline="-25000"/>
                  <a:t>1​</a:t>
                </a:r>
                <a:r>
                  <a:rPr lang="en-US" altLang="en-US"/>
                  <a:t>≈16.6667​</a:t>
                </a:r>
                <a:endParaRPr lang="en-US" alt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6"/>
                </p:custDataLst>
              </p:nvPr>
            </p:nvSpPr>
            <p:spPr>
              <a:blipFill rotWithShape="1">
                <a:blip r:embed="rId7"/>
                <a:stretch>
                  <a:fillRect t="-1" r="6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5: Second Levinson–Durbin iteration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>
                <a:normAutofit lnSpcReduction="20000"/>
              </a:bodyPr>
              <a:p>
                <a:pPr marL="0" indent="0">
                  <a:buNone/>
                </a:pPr>
                <a:r>
                  <a:rPr lang="en-US"/>
                  <a:t>Calculate : </a:t>
                </a:r>
                <a:endParaRPr lang="en-US"/>
              </a:p>
              <a:p>
                <a:pPr marL="0" indent="0">
                  <a:buNone/>
                </a:pPr>
                <a:r>
                  <a:rPr lang="en-US" altLang="en-US"/>
                  <a:t>K</a:t>
                </a:r>
                <a:r>
                  <a:rPr lang="en-US" altLang="en-US" baseline="-25000"/>
                  <a:t>2</a:t>
                </a:r>
                <a:r>
                  <a:rPr lang="en-US" altLang="en-US"/>
                  <a:t>​=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) 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sSubSup>
                          <m:sSubSupPr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en-US"/>
                  <a:t>​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K2​=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11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 − (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6667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) (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20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16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667</m:t>
                        </m:r>
                      </m:den>
                    </m:f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14</m:t>
                    </m:r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</m:t>
                        </m:r>
                      </m:e>
                      <m:sub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	​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The Levinson–Durbin update is: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bSup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bSup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k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             =0.6667−(−0.14)(0.6667)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            =0.6667+0.0933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        </a:t>
                </a:r>
                <a:r>
                  <a:rPr lang="en-US" altLang="en-US">
                    <a:latin typeface="Segoe UI" panose="020B0502040204020203" charset="0"/>
                    <a:cs typeface="Segoe UI" panose="020B0502040204020203" charset="0"/>
                  </a:rPr>
                  <a:t>α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1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​=0.7600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Segoe UI" panose="020B0502040204020203" charset="0"/>
                    <a:cs typeface="Segoe UI" panose="020B0502040204020203" charset="0"/>
                  </a:rPr>
                  <a:t>α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​=K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​=−0.14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  <p:custDataLst>
                  <p:tags r:id="rId5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Final prediction error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E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bSup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= (</m:t>
                      </m:r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k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) </m:t>
                      </m:r>
                      <m:sSub>
                        <m:sSub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E</m:t>
                          </m:r>
                        </m:e>
                        <m: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             =(1−0.142)(16.6667)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E2​≈16.34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The LPC polynomial is: A(z)=1−a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1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​z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−1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−a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​z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−2 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=1−0.76z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−1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+0.14z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−2</a:t>
                </a:r>
                <a:endParaRPr lang="en-US" altLang="en-US" baseline="3000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and the vocal-tract model is: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H</m:t>
                      </m:r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Z</m:t>
                      </m:r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)= </m:t>
                      </m:r>
                      <m:f>
                        <m:f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76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𝑧</m:t>
                          </m:r>
                          <m:r>
                            <a:rPr lang="en-US" altLang="en-US" baseline="30000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en-US" baseline="30000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+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14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𝑧</m:t>
                          </m:r>
                          <m:r>
                            <a:rPr lang="en-US" altLang="en-US" baseline="30000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en-US" baseline="30000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6"/>
                </p:custDataLst>
              </p:nvPr>
            </p:nvSpPr>
            <p:spPr>
              <a:blipFill rotWithShape="1">
                <a:blip r:embed="rId7"/>
                <a:stretch>
                  <a:fillRect t="-1" r="6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6: Obtain the LPC spectrum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For PLP, we need the spectral representation.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LPC power spectrum is: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P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A</m:t>
                                </m:r>
                                <m:r>
                                  <a:rPr lang="en-US" altLang="en-US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en-US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en-US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en-US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j</m:t>
                                    </m:r>
                                    <m:r>
                                      <a:rPr lang="en-US" altLang="en-US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𝜔</m:t>
                                    </m:r>
                                  </m:sup>
                                </m:sSup>
                                <m:r>
                                  <a:rPr lang="en-US" altLang="en-US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A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p>
                      <m:sSup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j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sup>
                    </m:sSup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=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1−0.76z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−1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+0.14z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−2</a:t>
                </a:r>
                <a:endParaRPr lang="en-US" altLang="en-US" baseline="3000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To keep the arithmetic simple, use four frequency points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ω=0,π/2​,π,3π/2​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  <p:custDataLst>
                  <p:tags r:id="rId5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Frequency point 1: ω=0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e</a:t>
                </a:r>
                <a:r>
                  <a:rPr lang="en-US" altLang="en-US" baseline="30000"/>
                  <a:t>−j0</a:t>
                </a:r>
                <a:r>
                  <a:rPr lang="en-US" altLang="en-US"/>
                  <a:t>=1, e</a:t>
                </a:r>
                <a:r>
                  <a:rPr lang="en-US" altLang="en-US" baseline="30000"/>
                  <a:t>−j2(0)</a:t>
                </a:r>
                <a:r>
                  <a:rPr lang="en-US" altLang="en-US"/>
                  <a:t>=1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A(0)=1−0.76+0.14 =0.38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P(0)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16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34</m:t>
                        </m:r>
                      </m:num>
                      <m:den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38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en-US"/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≈ 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113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16</m:t>
                    </m:r>
                  </m:oMath>
                </a14:m>
                <a:endParaRPr lang="en-US" alt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6"/>
                </p:custDataLst>
              </p:nvPr>
            </p:nvSpPr>
            <p:spPr>
              <a:blipFill rotWithShape="1">
                <a:blip r:embed="rId7"/>
                <a:stretch>
                  <a:fillRect t="-1" r="6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Frequency point 2: ω=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e</a:t>
                </a:r>
                <a:r>
                  <a:rPr lang="en-US" altLang="en-US" baseline="30000">
                    <a:sym typeface="+mn-ea"/>
                  </a:rPr>
                  <a:t>−j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>
                    <a:sym typeface="+mn-ea"/>
                  </a:rPr>
                  <a:t>=-1, e</a:t>
                </a:r>
                <a:r>
                  <a:rPr lang="en-US" altLang="en-US" baseline="30000">
                    <a:sym typeface="+mn-ea"/>
                  </a:rPr>
                  <a:t>−j</a:t>
                </a:r>
                <a:r>
                  <a:rPr lang="en-US" altLang="en-US" baseline="30000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π</a:t>
                </a:r>
                <a:r>
                  <a:rPr lang="en-US" altLang="en-US">
                    <a:sym typeface="+mn-ea"/>
                  </a:rPr>
                  <a:t>=-1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A(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>
                    <a:sym typeface="+mn-ea"/>
                  </a:rPr>
                  <a:t>)=1−0.76(-j)+0.14(-1) =0.86+j0.76</a:t>
                </a:r>
                <a:endParaRPr lang="en-US" altLang="en-US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∣A(π/2)∣</a:t>
                </a:r>
                <a:r>
                  <a:rPr lang="en-US" altLang="en-US" baseline="30000">
                    <a:sym typeface="+mn-ea"/>
                  </a:rPr>
                  <a:t>2</a:t>
                </a:r>
                <a:r>
                  <a:rPr lang="en-US" altLang="en-US">
                    <a:sym typeface="+mn-ea"/>
                  </a:rPr>
                  <a:t>=0.86</a:t>
                </a:r>
                <a:r>
                  <a:rPr lang="en-US" altLang="en-US" baseline="30000">
                    <a:sym typeface="+mn-ea"/>
                  </a:rPr>
                  <a:t>2</a:t>
                </a:r>
                <a:r>
                  <a:rPr lang="en-US" altLang="en-US">
                    <a:sym typeface="+mn-ea"/>
                  </a:rPr>
                  <a:t>+0.76</a:t>
                </a:r>
                <a:r>
                  <a:rPr lang="en-US" altLang="en-US" baseline="30000">
                    <a:sym typeface="+mn-ea"/>
                  </a:rPr>
                  <a:t>2</a:t>
                </a:r>
                <a:r>
                  <a:rPr lang="en-US" altLang="en-US">
                    <a:sym typeface="+mn-ea"/>
                  </a:rPr>
                  <a:t> =1.3172</a:t>
                </a:r>
                <a:endParaRPr lang="en-US" altLang="en-US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>
                    <a:sym typeface="+mn-ea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16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34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3172</m:t>
                        </m:r>
                      </m:den>
                    </m:f>
                  </m:oMath>
                </a14:m>
                <a:r>
                  <a:rPr lang="en-US" altLang="en-US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≈ 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12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41</m:t>
                    </m:r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  <p:custDataLst>
                  <p:tags r:id="rId5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Frequency point 3: ω=π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e</a:t>
                </a:r>
                <a:r>
                  <a:rPr lang="en-US" altLang="en-US" baseline="30000"/>
                  <a:t>−jπ</a:t>
                </a:r>
                <a:r>
                  <a:rPr lang="en-US" altLang="en-US"/>
                  <a:t>=−1 e</a:t>
                </a:r>
                <a:r>
                  <a:rPr lang="en-US" altLang="en-US" baseline="30000"/>
                  <a:t>−j2π</a:t>
                </a:r>
                <a:r>
                  <a:rPr lang="en-US" altLang="en-US"/>
                  <a:t>=1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A(π)=1−0.76(−1)+0.14(1)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 =1+0.76+0.14 = 1.90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P(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𝜋</m:t>
                    </m:r>
                  </m:oMath>
                </a14:m>
                <a:r>
                  <a:rPr lang="en-US" altLang="en-US">
                    <a:sym typeface="+mn-ea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16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34</m:t>
                        </m:r>
                      </m:num>
                      <m:den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90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en-US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≈ 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4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53</m:t>
                    </m:r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6"/>
                </p:custDataLst>
              </p:nvPr>
            </p:nvSpPr>
            <p:spPr>
              <a:blipFill rotWithShape="1">
                <a:blip r:embed="rId7"/>
                <a:stretch>
                  <a:fillRect t="-1" r="6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7: Convert frequencies to Bark scale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The Bark conversion can be approximated by: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B(f)=13tan</a:t>
                </a:r>
                <a:r>
                  <a:rPr lang="en-US" altLang="en-US" baseline="30000"/>
                  <a:t>−1</a:t>
                </a:r>
                <a:r>
                  <a:rPr lang="en-US" altLang="en-US"/>
                  <a:t>(0.00076f)+3.5tan</a:t>
                </a:r>
                <a:r>
                  <a:rPr lang="en-US" altLang="en-US" baseline="30000"/>
                  <a:t>−1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7500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/>
                  <a:t> 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Since F</a:t>
                </a:r>
                <a:r>
                  <a:rPr lang="en-US" altLang="en-US" baseline="-25000"/>
                  <a:t>s</a:t>
                </a:r>
                <a:r>
                  <a:rPr lang="en-US" altLang="en-US"/>
                  <a:t>= 8000Hz 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corresponding frequencies are approximately: 0,2000,4000 Hz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B(2000) </a:t>
            </a:r>
            <a:r>
              <a:rPr lang="en-US" altLang="en-US">
                <a:sym typeface="+mn-ea"/>
              </a:rPr>
              <a:t>≈13.1 Bark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B(4000)≈19.0 Bark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Thus the spectrum is represented on a perceptually motivated frequency scale.​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8: Bark auditory filtering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In an actual PLP implementation, the LPC spectrum is passed through a critical-band filterbank.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 demonstrate the auditory weighting, suppose the simplified Bark-filter responses are: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</a:t>
            </a:r>
            <a:r>
              <a:rPr lang="en-US" altLang="en-US" baseline="-25000"/>
              <a:t>B </a:t>
            </a:r>
            <a:r>
              <a:rPr lang="en-US" altLang="en-US"/>
              <a:t>=[0.80,1.00,0.70]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</a:t>
            </a:r>
            <a:r>
              <a:rPr lang="en-US" altLang="en-US" baseline="-25000"/>
              <a:t>B</a:t>
            </a:r>
            <a:r>
              <a:rPr lang="en-US" altLang="en-US"/>
              <a:t>​=P×W</a:t>
            </a:r>
            <a:r>
              <a:rPr lang="en-US" altLang="en-US" baseline="-25000"/>
              <a:t>B</a:t>
            </a:r>
            <a:r>
              <a:rPr lang="en-US" altLang="en-US"/>
              <a:t>​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P</a:t>
            </a:r>
            <a:r>
              <a:rPr lang="en-US" altLang="en-US" baseline="-25000"/>
              <a:t>B​</a:t>
            </a:r>
            <a:r>
              <a:rPr lang="en-US" altLang="en-US"/>
              <a:t>(1)=113.16(0.8)=90.53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</a:t>
            </a:r>
            <a:r>
              <a:rPr lang="en-US" altLang="en-US" baseline="-25000"/>
              <a:t>B</a:t>
            </a:r>
            <a:r>
              <a:rPr lang="en-US" altLang="en-US"/>
              <a:t>​(2)=12.41(1)=12.41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</a:t>
            </a:r>
            <a:r>
              <a:rPr lang="en-US" altLang="en-US" baseline="-25000"/>
              <a:t>B</a:t>
            </a:r>
            <a:r>
              <a:rPr lang="en-US" altLang="en-US"/>
              <a:t>​(3)=4.53(0.7)=3.17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>
                <a:sym typeface="+mn-ea"/>
              </a:rPr>
              <a:t>Step 9: Equal-loudness weighting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let the equal-loudness weights be: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</a:t>
            </a:r>
            <a:r>
              <a:rPr lang="en-US" altLang="en-US" baseline="-25000"/>
              <a:t>E</a:t>
            </a:r>
            <a:r>
              <a:rPr lang="en-US" altLang="en-US"/>
              <a:t>​=[0.50,1.00,1.20]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</a:t>
            </a:r>
            <a:r>
              <a:rPr lang="en-US" altLang="en-US" baseline="-25000"/>
              <a:t>E</a:t>
            </a:r>
            <a:r>
              <a:rPr lang="en-US" altLang="en-US"/>
              <a:t>​=P</a:t>
            </a:r>
            <a:r>
              <a:rPr lang="en-US" altLang="en-US" baseline="-25000"/>
              <a:t>B</a:t>
            </a:r>
            <a:r>
              <a:rPr lang="en-US" altLang="en-US"/>
              <a:t>​×W</a:t>
            </a:r>
            <a:r>
              <a:rPr lang="en-US" altLang="en-US" baseline="-25000"/>
              <a:t>E​</a:t>
            </a:r>
            <a:endParaRPr lang="en-US" altLang="en-US" baseline="-25000"/>
          </a:p>
          <a:p>
            <a:pPr marL="0" indent="0">
              <a:buNone/>
            </a:pPr>
            <a:r>
              <a:rPr lang="en-US" altLang="en-US"/>
              <a:t>Low frequency:</a:t>
            </a:r>
            <a:r>
              <a:rPr lang="en-US" altLang="en-US" baseline="-25000"/>
              <a:t> </a:t>
            </a:r>
            <a:r>
              <a:rPr lang="en-US" altLang="en-US"/>
              <a:t>90.53(0.50) =45.27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Middle frequency: 12.41(1) =12.41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High frequency : 3.17(1.20) =3.80</a:t>
            </a:r>
            <a:endParaRPr lang="en-US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en-US"/>
              <a:t>Step 10: Loudness compression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quarter" idx="4"/>
                <p:custDataLst>
                  <p:tags r:id="rId5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PLP applies a cube-root compression: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P</a:t>
                </a:r>
                <a:r>
                  <a:rPr lang="en-US" altLang="en-US" baseline="-25000"/>
                  <a:t>C</a:t>
                </a:r>
                <a:r>
                  <a:rPr lang="en-US" altLang="en-US"/>
                  <a:t>​=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E</m:t>
                        </m:r>
                      </m:sub>
                      <m:sup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/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45.27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1/3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≈3.56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12.41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1/3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≈2.32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3.80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1/3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≈1.56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P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C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​=[3.56,2.32,1.56]​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This is the perceptually modified spectrum.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Content Placeholder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  <p:custDataLst>
                  <p:tags r:id="rId6"/>
                </p:custDataLst>
              </p:nvPr>
            </p:nvSpPr>
            <p:spPr>
              <a:blipFill rotWithShape="1">
                <a:blip r:embed="rId7"/>
                <a:stretch>
                  <a:fillRect l="-1" t="-10" r="4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Step 11: Convert perceptual spectrum back to autocorrelation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>
                <a:normAutofit lnSpcReduction="20000"/>
              </a:bodyPr>
              <a:p>
                <a:pPr marL="0" indent="0">
                  <a:buNone/>
                </a:pPr>
                <a:r>
                  <a:rPr lang="en-US" altLang="en-US"/>
                  <a:t>This is where PLP comes back to an LPC-like representation.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p</m:t>
                          </m:r>
                        </m:sub>
                      </m:sSub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k</m:t>
                      </m:r>
                      <m:r>
                        <a:rPr lang="en-US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m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N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m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cos</m:t>
                          </m:r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  <m: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mk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N</m:t>
                              </m:r>
                            </m:den>
                          </m:f>
                          <m:r>
                            <a:rPr lang="en-US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We need a symmetric spectrum. Let us use: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P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C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=[3.56,2.32,1.56,2.32]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The last value mirrors the second value.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Content Placeholder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Calculate R</a:t>
            </a:r>
            <a:r>
              <a:rPr lang="en-US" altLang="en-US" baseline="-25000"/>
              <a:t>p</a:t>
            </a:r>
            <a:r>
              <a:rPr lang="en-US" altLang="en-US"/>
              <a:t>(0)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</a:t>
            </a:r>
            <a:r>
              <a:rPr lang="en-US" altLang="en-US" baseline="-25000"/>
              <a:t>p</a:t>
            </a:r>
            <a:r>
              <a:rPr lang="en-US" altLang="en-US"/>
              <a:t>​(0)=1/4​(3.56+2.32+1.56+2.32)=2.44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</a:t>
            </a:r>
            <a:r>
              <a:rPr lang="en-US" altLang="en-US" baseline="-25000"/>
              <a:t>p</a:t>
            </a:r>
            <a:r>
              <a:rPr lang="en-US" altLang="en-US"/>
              <a:t>​(1)=0.50​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R</a:t>
            </a:r>
            <a:r>
              <a:rPr lang="en-US" altLang="en-US" baseline="-25000">
                <a:sym typeface="+mn-ea"/>
              </a:rPr>
              <a:t>p</a:t>
            </a:r>
            <a:r>
              <a:rPr lang="en-US" altLang="en-US">
                <a:sym typeface="+mn-ea"/>
              </a:rPr>
              <a:t>​(2)=0.12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Step 12: All-pole approximation using Levinson–Durbin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Now we fit an all-pole model to the perceptually modified spectrum.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First iteration: K1​=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p</m:t>
                            </m:r>
                          </m:sub>
                        </m:sSub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den>
                    </m:f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50</m:t>
                        </m:r>
                      </m:num>
                      <m:den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44</m:t>
                        </m:r>
                      </m:den>
                    </m:f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2049</m:t>
                    </m:r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Prediction error: E1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>
                        <a:latin typeface="Cambria Math" panose="02040503050406030204" charset="0"/>
                        <a:cs typeface="Cambria Math" panose="02040503050406030204" charset="0"/>
                      </a:rPr>
                      <m:t>33</m:t>
                    </m:r>
                  </m:oMath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Second iteration : k2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0.0075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Segoe UI" panose="020B0502040204020203" charset="0"/>
                    <a:cs typeface="Segoe UI" panose="020B0502040204020203" charset="0"/>
                  </a:rPr>
                  <a:t>α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1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​≈0.2034​	</a:t>
                </a:r>
                <a:r>
                  <a:rPr lang="en-US" altLang="en-US">
                    <a:latin typeface="Segoe UI" panose="020B0502040204020203" charset="0"/>
                    <a:cs typeface="Segoe UI" panose="020B0502040204020203" charset="0"/>
                    <a:sym typeface="+mn-ea"/>
                  </a:rPr>
                  <a:t>α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2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≈0.0075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Therefore the final PLP all-pole model is approximately: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𝐻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𝑃𝐿𝑃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𝑍</m:t>
                      </m:r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)= </m:t>
                      </m:r>
                      <m:f>
                        <m:fPr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𝐺</m:t>
                          </m:r>
                        </m:num>
                        <m:den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2034</m:t>
                          </m:r>
                          <m:sSup>
                            <m:sSup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−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.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0075</m:t>
                          </m:r>
                          <m:sSup>
                            <m:sSupPr>
                              <m:ctrlP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−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Two Levinson–Durbin operations </a:t>
            </a:r>
            <a:endParaRPr lang="en-US"/>
          </a:p>
        </p:txBody>
      </p:sp>
      <p:graphicFrame>
        <p:nvGraphicFramePr>
          <p:cNvPr id="8" name="Content Placeholder 7"/>
          <p:cNvGraphicFramePr/>
          <p:nvPr>
            <p:ph sz="half" idx="4294967295"/>
            <p:custDataLst>
              <p:tags r:id="rId2"/>
            </p:custDataLst>
          </p:nvPr>
        </p:nvGraphicFramePr>
        <p:xfrm>
          <a:off x="1395730" y="1760220"/>
          <a:ext cx="8883015" cy="4309110"/>
        </p:xfrm>
        <a:graphic>
          <a:graphicData uri="http://schemas.openxmlformats.org/drawingml/2006/table">
            <a:tbl>
              <a:tblPr/>
              <a:tblGrid>
                <a:gridCol w="2961005"/>
                <a:gridCol w="2961005"/>
                <a:gridCol w="2961005"/>
              </a:tblGrid>
              <a:tr h="3733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Stage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Input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Output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8552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First LD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Speech autocorrelation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LPC coefficients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3830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PLP processing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LPC spectrum → Bark → equal-loudness → compression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Perceptual spectrum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1191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Second LD / all-pole fitting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Perceptual-spectrum autocorrelation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PLP all-pole coefficients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TABLE_ENDDRAG_ORIGIN_RECT" val="699*338"/>
  <p:tag name="TABLE_ENDDRAG_RECT" val="110*138*699*338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4161</Words>
  <Application>WPS Presentation</Application>
  <PresentationFormat>Widescreen</PresentationFormat>
  <Paragraphs>208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Cambria Math</vt:lpstr>
      <vt:lpstr>Segoe UI</vt:lpstr>
      <vt:lpstr>Calibri</vt:lpstr>
      <vt:lpstr>Calibri</vt:lpstr>
      <vt:lpstr>Microsoft YaHei</vt:lpstr>
      <vt:lpstr>Arial Unicode MS</vt:lpstr>
      <vt:lpstr>MS PGothic</vt:lpstr>
      <vt:lpstr>WPS</vt:lpstr>
      <vt:lpstr>Worked Example</vt:lpstr>
      <vt:lpstr>speech signal</vt:lpstr>
      <vt:lpstr>PowerPoint 演示文稿</vt:lpstr>
      <vt:lpstr>Step 3: Autocorrelation</vt:lpstr>
      <vt:lpstr>Step 4: Levinson–Durbin Algorithm</vt:lpstr>
      <vt:lpstr>Step 5: Second Levinson–Durbin iteration</vt:lpstr>
      <vt:lpstr>Step 6: Obtain the LPC spectrum</vt:lpstr>
      <vt:lpstr>PowerPoint 演示文稿</vt:lpstr>
      <vt:lpstr>Step 7: Convert frequencies to Bark scale</vt:lpstr>
      <vt:lpstr>Step 8: Bark auditory filtering</vt:lpstr>
      <vt:lpstr>PowerPoint 演示文稿</vt:lpstr>
      <vt:lpstr>Step 11: Convert perceptual spectrum back to autocorrelation</vt:lpstr>
      <vt:lpstr>Step 12: All-pole approximation using Levinson–Durbin</vt:lpstr>
      <vt:lpstr>Two Levinson–Durbin operations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Worked Example</dc:title>
  <dc:creator/>
  <cp:lastModifiedBy>vinodha priya</cp:lastModifiedBy>
  <cp:revision>2</cp:revision>
  <dcterms:created xsi:type="dcterms:W3CDTF">2026-10-08T14:52:00Z</dcterms:created>
  <dcterms:modified xsi:type="dcterms:W3CDTF">2026-10-09T05:47:04Z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7832FCE653A34941987BDC54C2E98C97_12</vt:lpwstr>
  </property>
</Properties>
</file>