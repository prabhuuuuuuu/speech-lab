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image" Target="../media/image1.png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4" Type="http://schemas.openxmlformats.org/officeDocument/2006/relationships/image" Target="../media/image2.pn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image" Target="../media/image3.png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4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105.xml"/><Relationship Id="rId7" Type="http://schemas.openxmlformats.org/officeDocument/2006/relationships/image" Target="../media/image5.png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image" Target="../media/image6.png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113.xml"/><Relationship Id="rId1" Type="http://schemas.openxmlformats.org/officeDocument/2006/relationships/tags" Target="../tags/tag10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Perceptual Linear Prediction (PLP) in Speech Processing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PLP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Perceptual Linear Prediction (PLP) is a speech feature-extraction technique used to represent speech in a compact form that is closely related to human auditory perception.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It is widely used in Automatic Speech Recognition (ASR), speaker recognition, speech classification, and speech analysis.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PLP combines: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Short-time Fourier analysis – finds the frequency content of speech.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Human auditory perception – models how the ear perceives different frequencies and loudness levels.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Linear Prediction (LP) – models the vocal-tract characteristics.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Cepstral representation – converts the spectral information into a small number of useful coefficients.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1. Pre-emphasis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speech signal is first passed through a pre-emphasis filter: y[n]=x[n]-</a:t>
            </a:r>
            <a:r>
              <a:rPr lang="en-US" altLang="en-US">
                <a:latin typeface="Segoe UI" panose="020B0502040204020203" charset="0"/>
                <a:cs typeface="Segoe UI" panose="020B0502040204020203" charset="0"/>
              </a:rPr>
              <a:t>α</a:t>
            </a:r>
            <a:r>
              <a:rPr lang="en-US" altLang="en-US"/>
              <a:t>x[n-1]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Where </a:t>
            </a:r>
            <a:r>
              <a:rPr lang="en-US" altLang="en-US">
                <a:latin typeface="Segoe UI" panose="020B0502040204020203" charset="0"/>
                <a:cs typeface="Segoe UI" panose="020B0502040204020203" charset="0"/>
                <a:sym typeface="+mn-ea"/>
              </a:rPr>
              <a:t>α</a:t>
            </a:r>
            <a:r>
              <a:rPr lang="en-US" altLang="en-US"/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≈</a:t>
            </a:r>
            <a:r>
              <a:rPr lang="en-US" altLang="en-US"/>
              <a:t> 0.95-0.97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This emphasizes higher frequencies and compensates for the natural decrease in high-frequency energy in speech.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2. Framing and Windowing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Speech is non-stationary, but over a short period of about 20–30 ms, it can be considered approximately stationary.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signal is therefore divided into overlapping frames.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Sampling frequency = 16 kHz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Frame duration = 25 ms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Frame length: 16000×0.025=400 samples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window such as the Hamming window is then applied: x</a:t>
            </a:r>
            <a:r>
              <a:rPr lang="en-US" altLang="en-US" baseline="-25000"/>
              <a:t>w</a:t>
            </a:r>
            <a:r>
              <a:rPr lang="en-US" altLang="en-US"/>
              <a:t>​[n]=x[n]w[n]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3. Fourier Transform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FFT is applied to each frame: X(k)=FFT{x</a:t>
            </a:r>
            <a:r>
              <a:rPr lang="en-US" altLang="en-US" baseline="-25000"/>
              <a:t>w</a:t>
            </a:r>
            <a:r>
              <a:rPr lang="en-US" altLang="en-US"/>
              <a:t>​[n]}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power spectrum is obtained as: P(k)=∣X(k)∣</a:t>
            </a:r>
            <a:r>
              <a:rPr lang="en-US" altLang="en-US" baseline="30000"/>
              <a:t>2</a:t>
            </a:r>
            <a:endParaRPr lang="en-US" altLang="en-US" baseline="300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4. Critical-Band Analysis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This is one of the important differences between PLP and ordinary LPC.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PLP attempts to model the human auditory system.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frequency spectrum is passed through a set of critical-band filters.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These filters represent the way the human ear divides the frequency spectrum into perceptual bands.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Bark scale is commonly used: z(f)=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6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𝑠𝑖𝑛ℎ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600</m:t>
                            </m:r>
                          </m:den>
                        </m:f>
                      </m:e>
                    </m:d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where f is frequency in Hz.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5. Equal-Loudness Pre-emphasis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The human ear does not perceive all frequencies with equal sensitivity.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example, the ear is generally more sensitive to frequencies around the speech-sensitive mid-frequency region than to very low or very high frequencies.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PLP therefore applies an equal-loudness curve to the critical-band spectrum.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Conceptually: E(f)=P(f)×W(f)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where: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P(f) = critical-band power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W(f) = equal-loudness weighting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E(f) = perceptually weighted spectrum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This makes the representation more consistent with human auditory perception.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6. Intensity-Loudness Compression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The relationship between physical sound intensity and perceived loudness is nonlinear.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PLP therefore applies a cube-root compression: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</m:d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This is based on the idea that perceived loudness does not increase linearly with physical sound intensity.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7. Autoregressive / Linear Prediction Modeling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>
                <a:normAutofit fontScale="90000" lnSpcReduction="10000"/>
              </a:bodyPr>
              <a:p>
                <a:pPr marL="0" indent="0">
                  <a:buNone/>
                </a:pPr>
                <a:r>
                  <a:rPr lang="en-US" altLang="en-US"/>
                  <a:t>After perceptual processing, the resulting spectrum is approximated using an all-pole model.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vocal tract can be modeled approximately as an acoustic filter.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LP model is: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e>
                    </m:d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𝐺𝑒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</m:d>
                      </m:e>
                    </m:nary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where: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a</a:t>
                </a:r>
                <a:r>
                  <a:rPr lang="en-US" altLang="en-US" i="1" baseline="-25000">
                    <a:latin typeface="Cambria Math" panose="02040503050406030204" charset="0"/>
                    <a:cs typeface="Cambria Math" panose="02040503050406030204" charset="0"/>
                  </a:rPr>
                  <a:t>k</a:t>
                </a: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 = linear prediction coefficients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p= prediction order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G = gain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e[n]= excitation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The important point is that PLP uses linear prediction after perceptual processing.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8. Conversion to PLP Cepstral Coefficients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autoregressive model is converted into cepstral coefficients.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These coefficients are called PLP coefficients.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Typically, a small number such as 12–13 coefficients is retained.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speech recognition, derivatives are often added: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PLP feature vector=[PLP,ΔPLP,Δ</a:t>
            </a:r>
            <a:r>
              <a:rPr lang="en-US" altLang="en-US" baseline="30000"/>
              <a:t>2</a:t>
            </a:r>
            <a:r>
              <a:rPr lang="en-US" altLang="en-US"/>
              <a:t>PLP]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70260" cy="1280160"/>
        </p:xfrm>
        <a:graphic>
          <a:graphicData uri="http://schemas.openxmlformats.org/drawingml/2006/table">
            <a:tbl>
              <a:tblPr/>
              <a:tblGrid>
                <a:gridCol w="2742565"/>
                <a:gridCol w="2742565"/>
                <a:gridCol w="2742565"/>
                <a:gridCol w="2742565"/>
              </a:tblGrid>
              <a:tr h="731520"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Critical band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Frequency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Power P</a:t>
                      </a:r>
                      <a:r>
                        <a:rPr sz="1600" b="1" i="0" baseline="-250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sz="1600" b="1" i="0" baseline="-250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Equal-loudness weight W</a:t>
                      </a:r>
                      <a:r>
                        <a:rPr sz="1600" b="1" i="0" baseline="-250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500 Hz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0.8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1500 Hz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2500 Hz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798830" y="3333115"/>
                <a:ext cx="10779125" cy="3020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Assume that PLP uses:</a:t>
                </a:r>
                <a:endParaRPr lang="en-US" altLang="en-US">
                  <a:latin typeface="Calibri" panose="020F0502020204030204" charset="0"/>
                  <a:cs typeface="Calibri" panose="020F0502020204030204" charset="0"/>
                </a:endParaRPr>
              </a:p>
              <a:p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Equal-loudness weighting</a:t>
                </a:r>
                <a:endParaRPr lang="en-US" altLang="en-US">
                  <a:latin typeface="Calibri" panose="020F0502020204030204" charset="0"/>
                  <a:cs typeface="Calibri" panose="020F0502020204030204" charset="0"/>
                </a:endParaRPr>
              </a:p>
              <a:p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Cube-root loudness compression</a:t>
                </a:r>
                <a:endParaRPr lang="en-US" altLang="en-US">
                  <a:latin typeface="Calibri" panose="020F0502020204030204" charset="0"/>
                  <a:cs typeface="Calibri" panose="020F0502020204030204" charset="0"/>
                </a:endParaRPr>
              </a:p>
              <a:p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A first-order autoregressive model</a:t>
                </a:r>
                <a:endParaRPr lang="en-US" altLang="en-US">
                  <a:latin typeface="Calibri" panose="020F0502020204030204" charset="0"/>
                  <a:cs typeface="Calibri" panose="020F0502020204030204" charset="0"/>
                </a:endParaRPr>
              </a:p>
              <a:p>
                <a:endParaRPr lang="en-US" altLang="en-US">
                  <a:latin typeface="Calibri" panose="020F0502020204030204" charset="0"/>
                  <a:cs typeface="Calibri" panose="020F0502020204030204" charset="0"/>
                </a:endParaRPr>
              </a:p>
              <a:p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For the compressed spectrum, use the three values as R[0],R[1],R[2], and estimate the first-order prediction coefficient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∝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e>
                        </m:d>
                      </m:den>
                    </m:f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Find the perceptually weighted spectrum, compressed spectrum, and the first-order PLP prediction coefficient.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30" y="3333115"/>
                <a:ext cx="10779125" cy="30200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Step 1: Critical-band powers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given powers are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P=[100,400,900]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These represent the energy in the three auditory critical bands.</a:t>
            </a:r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en-US"/>
              <a:t>Step 2: Equal-loudness weighting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/>
              <p:cNvSpPr>
                <a:spLocks noGrp="1"/>
              </p:cNvSpPr>
              <p:nvPr>
                <p:ph sz="quarter" idx="4"/>
                <p:custDataLst>
                  <p:tags r:id="rId5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The weighted power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`</m:t>
                        </m:r>
                      </m:sup>
                    </m:sSubSup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/>
                  <a:t>Band1: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`</m:t>
                        </m:r>
                      </m:sup>
                    </m:sSubSup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100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8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80</m:t>
                    </m:r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Band2: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`</m:t>
                        </m:r>
                      </m:sup>
                    </m:sSubSup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4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00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400</m:t>
                    </m:r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Band3: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`</m:t>
                        </m:r>
                      </m:sup>
                    </m:sSubSup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9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00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7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63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P`=[80, 400,630]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</p:txBody>
          </p:sp>
        </mc:Choice>
        <mc:Fallback>
          <p:sp>
            <p:nvSpPr>
              <p:cNvPr id="8" name="Content Placeholder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  <p:custDataLst>
                  <p:tags r:id="rId6"/>
                </p:custDataLst>
              </p:nvPr>
            </p:nvSpPr>
            <p:spPr>
              <a:blipFill rotWithShape="1">
                <a:blip r:embed="rId7"/>
                <a:stretch>
                  <a:fillRect l="-1" t="-10" r="4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Step 3: Cube-root compression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  <p:custDataLst>
                  <p:tags r:id="rId3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Band 1 : E1​=80</a:t>
                </a:r>
                <a:r>
                  <a:rPr lang="en-US" altLang="en-US" baseline="30000"/>
                  <a:t>1/3</a:t>
                </a:r>
                <a:r>
                  <a:rPr lang="en-US" altLang="en-US"/>
                  <a:t>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4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309</m:t>
                    </m:r>
                  </m:oMath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Band 2 : E1​=400</a:t>
                </a:r>
                <a:r>
                  <a:rPr lang="en-US" altLang="en-US" baseline="30000">
                    <a:sym typeface="+mn-ea"/>
                  </a:rPr>
                  <a:t>1/3</a:t>
                </a:r>
                <a:r>
                  <a:rPr lang="en-US" altLang="en-US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7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368</m:t>
                    </m:r>
                  </m:oMath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Band 3 : E1​=630</a:t>
                </a:r>
                <a:r>
                  <a:rPr lang="en-US" altLang="en-US" baseline="30000">
                    <a:sym typeface="+mn-ea"/>
                  </a:rPr>
                  <a:t>1/3</a:t>
                </a:r>
                <a:r>
                  <a:rPr lang="en-US" altLang="en-US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8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568</m:t>
                    </m:r>
                  </m:oMath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E=[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4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309</m:t>
                    </m:r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7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368</m:t>
                    </m:r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8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568</m:t>
                    </m:r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]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  <p:custDataLst>
                  <p:tags r:id="rId4"/>
                </p:custDataLst>
              </p:nvPr>
            </p:nvSpPr>
            <p:spPr>
              <a:blipFill rotWithShape="1">
                <a:blip r:embed="rId5"/>
                <a:stretch>
                  <a:fillRect l="-1" t="-1296" r="4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Step 4: Linear prediction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  <p:custDataLst>
                  <p:tags r:id="rId7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R[0]=4.309 R[1]=7.368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∝</m:t>
                          </m:r>
                        </m:e>
                        <m: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∝</m:t>
                        </m:r>
                      </m:e>
                      <m:sub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368</m:t>
                        </m:r>
                      </m:num>
                      <m:den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309</m:t>
                        </m:r>
                      </m:den>
                    </m:f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= 1.71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  <p:custDataLst>
                  <p:tags r:id="rId8"/>
                </p:custDataLst>
              </p:nvPr>
            </p:nvSpPr>
            <p:spPr>
              <a:blipFill rotWithShape="1">
                <a:blip r:embed="rId9"/>
                <a:stretch>
                  <a:fillRect l="-1" t="-10" r="4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Note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 a full PLP implementation, we do not normally calculate a</a:t>
            </a:r>
            <a:r>
              <a:rPr lang="en-US" altLang="en-US" baseline="-25000"/>
              <a:t>1</a:t>
            </a:r>
            <a:r>
              <a:rPr lang="en-US" altLang="en-US"/>
              <a:t> simply as R[1]/R[0] from three arbitrary band energies.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actual procedure involves obtaining an auditory spectrum, converting it to an autocorrelation sequence (often through an inverse transform), and then solving the LPC equations, commonly using the Levinson–Durbin algorithm.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General Process: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Power spectrum → Bark critical bands → equal-loudness weighting → cube-root → autocorrelation → Levinson-Durbin → PLP coefficients.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4861</Words>
  <Application>WPS Presentation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Segoe UI</vt:lpstr>
      <vt:lpstr>Cambria Math</vt:lpstr>
      <vt:lpstr>Calibri</vt:lpstr>
      <vt:lpstr>Calibri</vt:lpstr>
      <vt:lpstr>Microsoft YaHei</vt:lpstr>
      <vt:lpstr>Arial Unicode MS</vt:lpstr>
      <vt:lpstr>MS PGothic</vt:lpstr>
      <vt:lpstr>WPS</vt:lpstr>
      <vt:lpstr>Perceptual Linear Prediction (PLP) in Speech Processing</vt:lpstr>
      <vt:lpstr>PLP</vt:lpstr>
      <vt:lpstr>1. Pre-emphasis</vt:lpstr>
      <vt:lpstr>2. Framing and Windowing</vt:lpstr>
      <vt:lpstr>3. Fourier Transform</vt:lpstr>
      <vt:lpstr>4. Critical-Band Analysis</vt:lpstr>
      <vt:lpstr>5. Equal-Loudness Pre-emphasis</vt:lpstr>
      <vt:lpstr>6. Intensity-Loudness Compression</vt:lpstr>
      <vt:lpstr>7. Autoregressive / Linear Prediction Modeling</vt:lpstr>
      <vt:lpstr>8. Conversion to PLP Cepstral Coefficients</vt:lpstr>
      <vt:lpstr>Example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Perceptual Linear Prediction (PLP) in Speech Processing</dc:title>
  <dc:creator>priya</dc:creator>
  <cp:lastModifiedBy>vinodha priya</cp:lastModifiedBy>
  <cp:revision>2</cp:revision>
  <dcterms:created xsi:type="dcterms:W3CDTF">2026-09-22T14:58:00Z</dcterms:created>
  <dcterms:modified xsi:type="dcterms:W3CDTF">2026-10-05T10:15:01Z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9D179EA2D29E4146A80063B070F22F5F_11</vt:lpwstr>
  </property>
</Properties>
</file>