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media/image4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custDataLst>
    <p:tags r:id="rId2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gs" Target="tags/tag144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69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0" Type="http://schemas.openxmlformats.org/officeDocument/2006/relationships/slideLayout" Target="../slideLayouts/slideLayout2.xml"/><Relationship Id="rId2" Type="http://schemas.openxmlformats.org/officeDocument/2006/relationships/tags" Target="../tags/tag71.xml"/><Relationship Id="rId19" Type="http://schemas.openxmlformats.org/officeDocument/2006/relationships/tags" Target="../tags/tag84.xml"/><Relationship Id="rId18" Type="http://schemas.openxmlformats.org/officeDocument/2006/relationships/image" Target="../media/image4.svg"/><Relationship Id="rId17" Type="http://schemas.openxmlformats.org/officeDocument/2006/relationships/image" Target="../media/image3.png"/><Relationship Id="rId16" Type="http://schemas.openxmlformats.org/officeDocument/2006/relationships/tags" Target="../tags/tag83.xml"/><Relationship Id="rId15" Type="http://schemas.openxmlformats.org/officeDocument/2006/relationships/image" Target="../media/image2.svg"/><Relationship Id="rId14" Type="http://schemas.openxmlformats.org/officeDocument/2006/relationships/image" Target="../media/image1.png"/><Relationship Id="rId13" Type="http://schemas.openxmlformats.org/officeDocument/2006/relationships/tags" Target="../tags/tag82.xml"/><Relationship Id="rId12" Type="http://schemas.openxmlformats.org/officeDocument/2006/relationships/tags" Target="../tags/tag81.xml"/><Relationship Id="rId11" Type="http://schemas.openxmlformats.org/officeDocument/2006/relationships/tags" Target="../tags/tag80.xml"/><Relationship Id="rId10" Type="http://schemas.openxmlformats.org/officeDocument/2006/relationships/tags" Target="../tags/tag79.xml"/><Relationship Id="rId1" Type="http://schemas.openxmlformats.org/officeDocument/2006/relationships/tags" Target="../tags/tag70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tags" Target="../tags/tag85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5.xml"/><Relationship Id="rId6" Type="http://schemas.openxmlformats.org/officeDocument/2006/relationships/tags" Target="../tags/tag94.xml"/><Relationship Id="rId5" Type="http://schemas.openxmlformats.org/officeDocument/2006/relationships/tags" Target="../tags/tag93.xml"/><Relationship Id="rId4" Type="http://schemas.openxmlformats.org/officeDocument/2006/relationships/tags" Target="../tags/tag92.xml"/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" Type="http://schemas.openxmlformats.org/officeDocument/2006/relationships/tags" Target="../tags/tag89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tags" Target="../tags/tag95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tags" Target="../tags/tag99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5.xml"/><Relationship Id="rId6" Type="http://schemas.openxmlformats.org/officeDocument/2006/relationships/tags" Target="../tags/tag108.xml"/><Relationship Id="rId5" Type="http://schemas.openxmlformats.org/officeDocument/2006/relationships/tags" Target="../tags/tag107.xml"/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tags" Target="../tags/tag103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tags" Target="../tags/tag109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tags" Target="../tags/tag113.xml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5.xml"/><Relationship Id="rId6" Type="http://schemas.openxmlformats.org/officeDocument/2006/relationships/tags" Target="../tags/tag122.xml"/><Relationship Id="rId5" Type="http://schemas.openxmlformats.org/officeDocument/2006/relationships/tags" Target="../tags/tag121.xml"/><Relationship Id="rId4" Type="http://schemas.openxmlformats.org/officeDocument/2006/relationships/tags" Target="../tags/tag120.xml"/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" Type="http://schemas.openxmlformats.org/officeDocument/2006/relationships/tags" Target="../tags/tag117.xml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5.xml"/><Relationship Id="rId6" Type="http://schemas.openxmlformats.org/officeDocument/2006/relationships/tags" Target="../tags/tag128.xml"/><Relationship Id="rId5" Type="http://schemas.openxmlformats.org/officeDocument/2006/relationships/tags" Target="../tags/tag127.xml"/><Relationship Id="rId4" Type="http://schemas.openxmlformats.org/officeDocument/2006/relationships/tags" Target="../tags/tag126.xml"/><Relationship Id="rId3" Type="http://schemas.openxmlformats.org/officeDocument/2006/relationships/tags" Target="../tags/tag125.xml"/><Relationship Id="rId2" Type="http://schemas.openxmlformats.org/officeDocument/2006/relationships/tags" Target="../tags/tag124.xml"/><Relationship Id="rId1" Type="http://schemas.openxmlformats.org/officeDocument/2006/relationships/tags" Target="../tags/tag123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31.xml"/><Relationship Id="rId2" Type="http://schemas.openxmlformats.org/officeDocument/2006/relationships/tags" Target="../tags/tag130.xml"/><Relationship Id="rId1" Type="http://schemas.openxmlformats.org/officeDocument/2006/relationships/tags" Target="../tags/tag129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34.xml"/><Relationship Id="rId2" Type="http://schemas.openxmlformats.org/officeDocument/2006/relationships/tags" Target="../tags/tag133.xml"/><Relationship Id="rId1" Type="http://schemas.openxmlformats.org/officeDocument/2006/relationships/tags" Target="../tags/tag132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37.xml"/><Relationship Id="rId2" Type="http://schemas.openxmlformats.org/officeDocument/2006/relationships/tags" Target="../tags/tag136.xml"/><Relationship Id="rId1" Type="http://schemas.openxmlformats.org/officeDocument/2006/relationships/tags" Target="../tags/tag135.xml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5.xml"/><Relationship Id="rId6" Type="http://schemas.openxmlformats.org/officeDocument/2006/relationships/tags" Target="../tags/tag143.xml"/><Relationship Id="rId5" Type="http://schemas.openxmlformats.org/officeDocument/2006/relationships/tags" Target="../tags/tag142.xml"/><Relationship Id="rId4" Type="http://schemas.openxmlformats.org/officeDocument/2006/relationships/tags" Target="../tags/tag141.xml"/><Relationship Id="rId3" Type="http://schemas.openxmlformats.org/officeDocument/2006/relationships/tags" Target="../tags/tag140.xml"/><Relationship Id="rId2" Type="http://schemas.openxmlformats.org/officeDocument/2006/relationships/tags" Target="../tags/tag139.xml"/><Relationship Id="rId1" Type="http://schemas.openxmlformats.org/officeDocument/2006/relationships/tags" Target="../tags/tag1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Parsing</a:t>
            </a:r>
            <a:endParaRPr lang="en-US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sym typeface="+mn-ea"/>
              </a:rPr>
              <a:t>Shallow and Dependency Parsing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en-US"/>
              <a:t>Parsing:</a:t>
            </a:r>
            <a:r>
              <a:rPr lang="en-US" altLang="en-US">
                <a:sym typeface="+mn-ea"/>
              </a:rPr>
              <a:t>process of analyzing the grammatical structure of a sentence.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 altLang="en-US" sz="2400"/>
              <a:t>identifies:</a:t>
            </a:r>
            <a:endParaRPr lang="en-US" altLang="en-US" sz="2400"/>
          </a:p>
          <a:p>
            <a:r>
              <a:rPr lang="en-US" altLang="en-US" sz="2400"/>
              <a:t>Relationships between words</a:t>
            </a:r>
            <a:endParaRPr lang="en-US" altLang="en-US" sz="2400"/>
          </a:p>
          <a:p>
            <a:r>
              <a:rPr lang="en-US" altLang="en-US" sz="2400"/>
              <a:t>Phrase structure</a:t>
            </a:r>
            <a:endParaRPr lang="en-US" altLang="en-US" sz="2400"/>
          </a:p>
          <a:p>
            <a:r>
              <a:rPr lang="en-US" altLang="en-US" sz="2400"/>
              <a:t>Sentence syntax</a:t>
            </a:r>
            <a:endParaRPr lang="en-US" altLang="en-US" sz="2400"/>
          </a:p>
          <a:p>
            <a:r>
              <a:rPr lang="en-US" altLang="en-US" sz="2400"/>
              <a:t>Subject–verb–object relationships</a:t>
            </a:r>
            <a:endParaRPr lang="en-US" altLang="en-US" sz="2400"/>
          </a:p>
          <a:p>
            <a:pPr marL="0" indent="0">
              <a:buNone/>
            </a:pPr>
            <a:endParaRPr lang="en-US" altLang="en-US" sz="2400"/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 sz="2400">
                <a:sym typeface="+mn-ea"/>
              </a:rPr>
              <a:t>Example sentence: The children are playing football in the park.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>
                <a:sym typeface="+mn-ea"/>
              </a:rPr>
              <a:t>A parser determines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>
                <a:sym typeface="+mn-ea"/>
              </a:rPr>
              <a:t>Subject → children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>
                <a:sym typeface="+mn-ea"/>
              </a:rPr>
              <a:t>Verb → playing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>
                <a:sym typeface="+mn-ea"/>
              </a:rPr>
              <a:t>Object → football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>
                <a:sym typeface="+mn-ea"/>
              </a:rPr>
              <a:t>Location → park</a:t>
            </a:r>
            <a:endParaRPr lang="en-US" altLang="en-US" sz="2400"/>
          </a:p>
          <a:p>
            <a:pPr marL="0" indent="0">
              <a:buNone/>
            </a:pPr>
            <a:endParaRPr lang="en-US" sz="2400"/>
          </a:p>
        </p:txBody>
      </p:sp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Types of </a:t>
            </a:r>
            <a:r>
              <a:rPr lang="en-US" altLang="en-US">
                <a:sym typeface="+mn-ea"/>
              </a:rPr>
              <a:t>Parsing</a:t>
            </a:r>
            <a:endParaRPr lang="en-US"/>
          </a:p>
        </p:txBody>
      </p:sp>
      <p:sp>
        <p:nvSpPr>
          <p:cNvPr id="7" name="任意多边形: 形状 7"/>
          <p:cNvSpPr/>
          <p:nvPr>
            <p:custDataLst>
              <p:tags r:id="rId2"/>
            </p:custDataLst>
          </p:nvPr>
        </p:nvSpPr>
        <p:spPr>
          <a:xfrm>
            <a:off x="1038543" y="3133408"/>
            <a:ext cx="5196960" cy="2443174"/>
          </a:xfrm>
          <a:custGeom>
            <a:avLst/>
            <a:gdLst>
              <a:gd name="connsiteX0" fmla="*/ 4268455 w 5196959"/>
              <a:gd name="connsiteY0" fmla="*/ 2443174 h 2443174"/>
              <a:gd name="connsiteX1" fmla="*/ 0 w 5196959"/>
              <a:gd name="connsiteY1" fmla="*/ 2443174 h 2443174"/>
              <a:gd name="connsiteX2" fmla="*/ 0 w 5196959"/>
              <a:gd name="connsiteY2" fmla="*/ 0 h 2443174"/>
              <a:gd name="connsiteX3" fmla="*/ 4998766 w 5196959"/>
              <a:gd name="connsiteY3" fmla="*/ 0 h 2443174"/>
              <a:gd name="connsiteX4" fmla="*/ 5188277 w 5196959"/>
              <a:gd name="connsiteY4" fmla="*/ 255708 h 2443174"/>
              <a:gd name="connsiteX5" fmla="*/ 4597293 w 5196959"/>
              <a:gd name="connsiteY5" fmla="*/ 2199517 h 2443174"/>
              <a:gd name="connsiteX6" fmla="*/ 4268455 w 5196959"/>
              <a:gd name="connsiteY6" fmla="*/ 2443174 h 2443174"/>
              <a:gd name="connsiteX0-1" fmla="*/ 0 w 5196960"/>
              <a:gd name="connsiteY0-2" fmla="*/ 0 h 2443174"/>
              <a:gd name="connsiteX1-3" fmla="*/ 4998766 w 5196960"/>
              <a:gd name="connsiteY1-4" fmla="*/ 0 h 2443174"/>
              <a:gd name="connsiteX2-5" fmla="*/ 5188277 w 5196960"/>
              <a:gd name="connsiteY2-6" fmla="*/ 255708 h 2443174"/>
              <a:gd name="connsiteX3-7" fmla="*/ 4597293 w 5196960"/>
              <a:gd name="connsiteY3-8" fmla="*/ 2199517 h 2443174"/>
              <a:gd name="connsiteX4-9" fmla="*/ 4268455 w 5196960"/>
              <a:gd name="connsiteY4-10" fmla="*/ 2443174 h 2443174"/>
              <a:gd name="connsiteX5-11" fmla="*/ 0 w 5196960"/>
              <a:gd name="connsiteY5-12" fmla="*/ 2443174 h 2443174"/>
              <a:gd name="connsiteX6-13" fmla="*/ 91440 w 5196960"/>
              <a:gd name="connsiteY6-14" fmla="*/ 91440 h 2443174"/>
              <a:gd name="connsiteX0-15" fmla="*/ 41910 w 5238870"/>
              <a:gd name="connsiteY0-16" fmla="*/ 0 h 2443174"/>
              <a:gd name="connsiteX1-17" fmla="*/ 5040676 w 5238870"/>
              <a:gd name="connsiteY1-18" fmla="*/ 0 h 2443174"/>
              <a:gd name="connsiteX2-19" fmla="*/ 5230187 w 5238870"/>
              <a:gd name="connsiteY2-20" fmla="*/ 255708 h 2443174"/>
              <a:gd name="connsiteX3-21" fmla="*/ 4639203 w 5238870"/>
              <a:gd name="connsiteY3-22" fmla="*/ 2199517 h 2443174"/>
              <a:gd name="connsiteX4-23" fmla="*/ 4310365 w 5238870"/>
              <a:gd name="connsiteY4-24" fmla="*/ 2443174 h 2443174"/>
              <a:gd name="connsiteX5-25" fmla="*/ 41910 w 5238870"/>
              <a:gd name="connsiteY5-26" fmla="*/ 2443174 h 2443174"/>
              <a:gd name="connsiteX6-27" fmla="*/ 0 w 5238870"/>
              <a:gd name="connsiteY6-28" fmla="*/ 415290 h 2443174"/>
              <a:gd name="connsiteX0-29" fmla="*/ 0 w 5196960"/>
              <a:gd name="connsiteY0-30" fmla="*/ 0 h 2443174"/>
              <a:gd name="connsiteX1-31" fmla="*/ 4998766 w 5196960"/>
              <a:gd name="connsiteY1-32" fmla="*/ 0 h 2443174"/>
              <a:gd name="connsiteX2-33" fmla="*/ 5188277 w 5196960"/>
              <a:gd name="connsiteY2-34" fmla="*/ 255708 h 2443174"/>
              <a:gd name="connsiteX3-35" fmla="*/ 4597293 w 5196960"/>
              <a:gd name="connsiteY3-36" fmla="*/ 2199517 h 2443174"/>
              <a:gd name="connsiteX4-37" fmla="*/ 4268455 w 5196960"/>
              <a:gd name="connsiteY4-38" fmla="*/ 2443174 h 2443174"/>
              <a:gd name="connsiteX5-39" fmla="*/ 0 w 5196960"/>
              <a:gd name="connsiteY5-40" fmla="*/ 2443174 h 244317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5196960" h="2443174">
                <a:moveTo>
                  <a:pt x="0" y="0"/>
                </a:moveTo>
                <a:lnTo>
                  <a:pt x="4998766" y="0"/>
                </a:lnTo>
                <a:cubicBezTo>
                  <a:pt x="5131820" y="0"/>
                  <a:pt x="5226906" y="128432"/>
                  <a:pt x="5188277" y="255708"/>
                </a:cubicBezTo>
                <a:lnTo>
                  <a:pt x="4597293" y="2199517"/>
                </a:lnTo>
                <a:cubicBezTo>
                  <a:pt x="4553217" y="2344292"/>
                  <a:pt x="4419833" y="2443174"/>
                  <a:pt x="4268455" y="2443174"/>
                </a:cubicBezTo>
                <a:lnTo>
                  <a:pt x="0" y="2443174"/>
                </a:lnTo>
              </a:path>
            </a:pathLst>
          </a:custGeom>
          <a:gradFill>
            <a:gsLst>
              <a:gs pos="50000">
                <a:schemeClr val="accent2"/>
              </a:gs>
              <a:gs pos="0">
                <a:schemeClr val="accent2">
                  <a:lumMod val="25000"/>
                  <a:lumOff val="75000"/>
                </a:schemeClr>
              </a:gs>
              <a:gs pos="100000">
                <a:schemeClr val="accent2">
                  <a:lumMod val="85000"/>
                </a:schemeClr>
              </a:gs>
            </a:gsLst>
            <a:lin ang="5400000" scaled="1"/>
          </a:gradFill>
          <a:ln w="22225" cap="flat">
            <a:gradFill>
              <a:gsLst>
                <a:gs pos="47000">
                  <a:srgbClr val="F84949">
                    <a:lumMod val="7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740000" scaled="0"/>
            </a:gra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任意多边形: 形状 8"/>
          <p:cNvSpPr/>
          <p:nvPr>
            <p:custDataLst>
              <p:tags r:id="rId3"/>
            </p:custDataLst>
          </p:nvPr>
        </p:nvSpPr>
        <p:spPr>
          <a:xfrm>
            <a:off x="5961063" y="3129598"/>
            <a:ext cx="5196960" cy="2446984"/>
          </a:xfrm>
          <a:custGeom>
            <a:avLst/>
            <a:gdLst>
              <a:gd name="connsiteX0" fmla="*/ 970270 w 5196959"/>
              <a:gd name="connsiteY0" fmla="*/ 0 h 2443174"/>
              <a:gd name="connsiteX1" fmla="*/ 5196960 w 5196959"/>
              <a:gd name="connsiteY1" fmla="*/ 0 h 2443174"/>
              <a:gd name="connsiteX2" fmla="*/ 5196960 w 5196959"/>
              <a:gd name="connsiteY2" fmla="*/ 2443174 h 2443174"/>
              <a:gd name="connsiteX3" fmla="*/ 198194 w 5196959"/>
              <a:gd name="connsiteY3" fmla="*/ 2443174 h 2443174"/>
              <a:gd name="connsiteX4" fmla="*/ 8683 w 5196959"/>
              <a:gd name="connsiteY4" fmla="*/ 2187466 h 2443174"/>
              <a:gd name="connsiteX5" fmla="*/ 587616 w 5196959"/>
              <a:gd name="connsiteY5" fmla="*/ 283606 h 2443174"/>
              <a:gd name="connsiteX6" fmla="*/ 970270 w 5196959"/>
              <a:gd name="connsiteY6" fmla="*/ 0 h 2443174"/>
              <a:gd name="connsiteX0-1" fmla="*/ 5196960 w 5288400"/>
              <a:gd name="connsiteY0-2" fmla="*/ 0 h 2443174"/>
              <a:gd name="connsiteX1-3" fmla="*/ 5196960 w 5288400"/>
              <a:gd name="connsiteY1-4" fmla="*/ 2443174 h 2443174"/>
              <a:gd name="connsiteX2-5" fmla="*/ 198194 w 5288400"/>
              <a:gd name="connsiteY2-6" fmla="*/ 2443174 h 2443174"/>
              <a:gd name="connsiteX3-7" fmla="*/ 8683 w 5288400"/>
              <a:gd name="connsiteY3-8" fmla="*/ 2187466 h 2443174"/>
              <a:gd name="connsiteX4-9" fmla="*/ 587616 w 5288400"/>
              <a:gd name="connsiteY4-10" fmla="*/ 283606 h 2443174"/>
              <a:gd name="connsiteX5-11" fmla="*/ 970270 w 5288400"/>
              <a:gd name="connsiteY5-12" fmla="*/ 0 h 2443174"/>
              <a:gd name="connsiteX6-13" fmla="*/ 5288400 w 5288400"/>
              <a:gd name="connsiteY6-14" fmla="*/ 91440 h 2443174"/>
              <a:gd name="connsiteX0-15" fmla="*/ 5196960 w 5196960"/>
              <a:gd name="connsiteY0-16" fmla="*/ 0 h 2443174"/>
              <a:gd name="connsiteX1-17" fmla="*/ 5196960 w 5196960"/>
              <a:gd name="connsiteY1-18" fmla="*/ 2443174 h 2443174"/>
              <a:gd name="connsiteX2-19" fmla="*/ 198194 w 5196960"/>
              <a:gd name="connsiteY2-20" fmla="*/ 2443174 h 2443174"/>
              <a:gd name="connsiteX3-21" fmla="*/ 8683 w 5196960"/>
              <a:gd name="connsiteY3-22" fmla="*/ 2187466 h 2443174"/>
              <a:gd name="connsiteX4-23" fmla="*/ 587616 w 5196960"/>
              <a:gd name="connsiteY4-24" fmla="*/ 283606 h 2443174"/>
              <a:gd name="connsiteX5-25" fmla="*/ 970270 w 5196960"/>
              <a:gd name="connsiteY5-26" fmla="*/ 0 h 2443174"/>
              <a:gd name="connsiteX6-27" fmla="*/ 5183625 w 5196960"/>
              <a:gd name="connsiteY6-28" fmla="*/ 34290 h 2443174"/>
              <a:gd name="connsiteX0-29" fmla="*/ 5196960 w 5196960"/>
              <a:gd name="connsiteY0-30" fmla="*/ 0 h 2443174"/>
              <a:gd name="connsiteX1-31" fmla="*/ 5196960 w 5196960"/>
              <a:gd name="connsiteY1-32" fmla="*/ 2443174 h 2443174"/>
              <a:gd name="connsiteX2-33" fmla="*/ 198194 w 5196960"/>
              <a:gd name="connsiteY2-34" fmla="*/ 2443174 h 2443174"/>
              <a:gd name="connsiteX3-35" fmla="*/ 8683 w 5196960"/>
              <a:gd name="connsiteY3-36" fmla="*/ 2187466 h 2443174"/>
              <a:gd name="connsiteX4-37" fmla="*/ 587616 w 5196960"/>
              <a:gd name="connsiteY4-38" fmla="*/ 283606 h 2443174"/>
              <a:gd name="connsiteX5-39" fmla="*/ 970270 w 5196960"/>
              <a:gd name="connsiteY5-40" fmla="*/ 0 h 2443174"/>
              <a:gd name="connsiteX6-41" fmla="*/ 5183625 w 5196960"/>
              <a:gd name="connsiteY6-42" fmla="*/ 5715 h 2443174"/>
              <a:gd name="connsiteX0-43" fmla="*/ 5196960 w 5196960"/>
              <a:gd name="connsiteY0-44" fmla="*/ 3810 h 2446984"/>
              <a:gd name="connsiteX1-45" fmla="*/ 5196960 w 5196960"/>
              <a:gd name="connsiteY1-46" fmla="*/ 2446984 h 2446984"/>
              <a:gd name="connsiteX2-47" fmla="*/ 198194 w 5196960"/>
              <a:gd name="connsiteY2-48" fmla="*/ 2446984 h 2446984"/>
              <a:gd name="connsiteX3-49" fmla="*/ 8683 w 5196960"/>
              <a:gd name="connsiteY3-50" fmla="*/ 2191276 h 2446984"/>
              <a:gd name="connsiteX4-51" fmla="*/ 587616 w 5196960"/>
              <a:gd name="connsiteY4-52" fmla="*/ 287416 h 2446984"/>
              <a:gd name="connsiteX5-53" fmla="*/ 970270 w 5196960"/>
              <a:gd name="connsiteY5-54" fmla="*/ 3810 h 2446984"/>
              <a:gd name="connsiteX6-55" fmla="*/ 4840725 w 5196960"/>
              <a:gd name="connsiteY6-56" fmla="*/ 0 h 2446984"/>
              <a:gd name="connsiteX0-57" fmla="*/ 5196960 w 5196960"/>
              <a:gd name="connsiteY0-58" fmla="*/ 2446984 h 2446984"/>
              <a:gd name="connsiteX1-59" fmla="*/ 198194 w 5196960"/>
              <a:gd name="connsiteY1-60" fmla="*/ 2446984 h 2446984"/>
              <a:gd name="connsiteX2-61" fmla="*/ 8683 w 5196960"/>
              <a:gd name="connsiteY2-62" fmla="*/ 2191276 h 2446984"/>
              <a:gd name="connsiteX3-63" fmla="*/ 587616 w 5196960"/>
              <a:gd name="connsiteY3-64" fmla="*/ 287416 h 2446984"/>
              <a:gd name="connsiteX4-65" fmla="*/ 970270 w 5196960"/>
              <a:gd name="connsiteY4-66" fmla="*/ 3810 h 2446984"/>
              <a:gd name="connsiteX5-67" fmla="*/ 4840725 w 5196960"/>
              <a:gd name="connsiteY5-68" fmla="*/ 0 h 2446984"/>
              <a:gd name="connsiteX0-69" fmla="*/ 5196960 w 5196960"/>
              <a:gd name="connsiteY0-70" fmla="*/ 2446984 h 2446984"/>
              <a:gd name="connsiteX1-71" fmla="*/ 198194 w 5196960"/>
              <a:gd name="connsiteY1-72" fmla="*/ 2446984 h 2446984"/>
              <a:gd name="connsiteX2-73" fmla="*/ 8683 w 5196960"/>
              <a:gd name="connsiteY2-74" fmla="*/ 2191276 h 2446984"/>
              <a:gd name="connsiteX3-75" fmla="*/ 587616 w 5196960"/>
              <a:gd name="connsiteY3-76" fmla="*/ 287416 h 2446984"/>
              <a:gd name="connsiteX4-77" fmla="*/ 970270 w 5196960"/>
              <a:gd name="connsiteY4-78" fmla="*/ 3810 h 2446984"/>
              <a:gd name="connsiteX5-79" fmla="*/ 5174100 w 5196960"/>
              <a:gd name="connsiteY5-80" fmla="*/ 0 h 244698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5196960" h="2446984">
                <a:moveTo>
                  <a:pt x="5196960" y="2446984"/>
                </a:moveTo>
                <a:lnTo>
                  <a:pt x="198194" y="2446984"/>
                </a:lnTo>
                <a:cubicBezTo>
                  <a:pt x="65140" y="2446984"/>
                  <a:pt x="-29945" y="2318552"/>
                  <a:pt x="8683" y="2191276"/>
                </a:cubicBezTo>
                <a:lnTo>
                  <a:pt x="587616" y="287416"/>
                </a:lnTo>
                <a:cubicBezTo>
                  <a:pt x="638791" y="119035"/>
                  <a:pt x="794131" y="3810"/>
                  <a:pt x="970270" y="3810"/>
                </a:cubicBezTo>
                <a:lnTo>
                  <a:pt x="5174100" y="0"/>
                </a:lnTo>
              </a:path>
            </a:pathLst>
          </a:custGeom>
          <a:gradFill flip="none" rotWithShape="1">
            <a:gsLst>
              <a:gs pos="50000">
                <a:schemeClr val="accent2"/>
              </a:gs>
              <a:gs pos="0">
                <a:schemeClr val="accent2">
                  <a:lumMod val="25000"/>
                  <a:lumOff val="75000"/>
                </a:schemeClr>
              </a:gs>
              <a:gs pos="100000">
                <a:schemeClr val="accent2">
                  <a:lumMod val="85000"/>
                </a:schemeClr>
              </a:gs>
            </a:gsLst>
            <a:lin ang="5400000" scaled="1"/>
          </a:gradFill>
          <a:ln w="22225" cap="flat">
            <a:gradFill>
              <a:gsLst>
                <a:gs pos="57000">
                  <a:srgbClr val="F84949">
                    <a:lumMod val="75000"/>
                  </a:srgbClr>
                </a:gs>
                <a:gs pos="0">
                  <a:srgbClr val="FFFFFF">
                    <a:alpha val="0"/>
                  </a:srgbClr>
                </a:gs>
              </a:gsLst>
              <a:lin ang="10800000" scaled="1"/>
            </a:gra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" name="任意多边形: 形状 9"/>
          <p:cNvSpPr/>
          <p:nvPr>
            <p:custDataLst>
              <p:tags r:id="rId4"/>
            </p:custDataLst>
          </p:nvPr>
        </p:nvSpPr>
        <p:spPr>
          <a:xfrm>
            <a:off x="5363528" y="3661728"/>
            <a:ext cx="1370158" cy="1370158"/>
          </a:xfrm>
          <a:custGeom>
            <a:avLst/>
            <a:gdLst>
              <a:gd name="connsiteX0" fmla="*/ 1370158 w 1370158"/>
              <a:gd name="connsiteY0" fmla="*/ 685079 h 1370158"/>
              <a:gd name="connsiteX1" fmla="*/ 685079 w 1370158"/>
              <a:gd name="connsiteY1" fmla="*/ 1370158 h 1370158"/>
              <a:gd name="connsiteX2" fmla="*/ 0 w 1370158"/>
              <a:gd name="connsiteY2" fmla="*/ 685079 h 1370158"/>
              <a:gd name="connsiteX3" fmla="*/ 685079 w 1370158"/>
              <a:gd name="connsiteY3" fmla="*/ 0 h 1370158"/>
              <a:gd name="connsiteX4" fmla="*/ 1370158 w 1370158"/>
              <a:gd name="connsiteY4" fmla="*/ 685079 h 1370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0158" h="1370158">
                <a:moveTo>
                  <a:pt x="1370158" y="685079"/>
                </a:moveTo>
                <a:cubicBezTo>
                  <a:pt x="1370158" y="1063438"/>
                  <a:pt x="1063438" y="1370158"/>
                  <a:pt x="685079" y="1370158"/>
                </a:cubicBezTo>
                <a:cubicBezTo>
                  <a:pt x="306720" y="1370158"/>
                  <a:pt x="0" y="1063438"/>
                  <a:pt x="0" y="685079"/>
                </a:cubicBezTo>
                <a:cubicBezTo>
                  <a:pt x="0" y="306720"/>
                  <a:pt x="306720" y="0"/>
                  <a:pt x="685079" y="0"/>
                </a:cubicBezTo>
                <a:cubicBezTo>
                  <a:pt x="1063438" y="0"/>
                  <a:pt x="1370158" y="306720"/>
                  <a:pt x="1370158" y="685079"/>
                </a:cubicBezTo>
                <a:close/>
              </a:path>
            </a:pathLst>
          </a:custGeom>
          <a:solidFill>
            <a:srgbClr val="FFFFFF"/>
          </a:solidFill>
          <a:ln w="1650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任意多边形: 形状 10"/>
          <p:cNvSpPr/>
          <p:nvPr>
            <p:custDataLst>
              <p:tags r:id="rId5"/>
            </p:custDataLst>
          </p:nvPr>
        </p:nvSpPr>
        <p:spPr>
          <a:xfrm>
            <a:off x="5482908" y="3783013"/>
            <a:ext cx="1135085" cy="1135085"/>
          </a:xfrm>
          <a:custGeom>
            <a:avLst/>
            <a:gdLst>
              <a:gd name="connsiteX0" fmla="*/ 1135085 w 1135085"/>
              <a:gd name="connsiteY0" fmla="*/ 567543 h 1135085"/>
              <a:gd name="connsiteX1" fmla="*/ 567543 w 1135085"/>
              <a:gd name="connsiteY1" fmla="*/ 1135085 h 1135085"/>
              <a:gd name="connsiteX2" fmla="*/ 0 w 1135085"/>
              <a:gd name="connsiteY2" fmla="*/ 567543 h 1135085"/>
              <a:gd name="connsiteX3" fmla="*/ 567543 w 1135085"/>
              <a:gd name="connsiteY3" fmla="*/ 0 h 1135085"/>
              <a:gd name="connsiteX4" fmla="*/ 1135085 w 1135085"/>
              <a:gd name="connsiteY4" fmla="*/ 567543 h 1135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85" h="1135085">
                <a:moveTo>
                  <a:pt x="1135085" y="567543"/>
                </a:moveTo>
                <a:cubicBezTo>
                  <a:pt x="1135085" y="880988"/>
                  <a:pt x="880988" y="1135085"/>
                  <a:pt x="567543" y="1135085"/>
                </a:cubicBezTo>
                <a:cubicBezTo>
                  <a:pt x="254097" y="1135085"/>
                  <a:pt x="0" y="880988"/>
                  <a:pt x="0" y="567543"/>
                </a:cubicBezTo>
                <a:cubicBezTo>
                  <a:pt x="0" y="254098"/>
                  <a:pt x="254097" y="0"/>
                  <a:pt x="567543" y="0"/>
                </a:cubicBezTo>
                <a:cubicBezTo>
                  <a:pt x="880988" y="0"/>
                  <a:pt x="1135085" y="254098"/>
                  <a:pt x="1135085" y="567543"/>
                </a:cubicBezTo>
                <a:close/>
              </a:path>
            </a:pathLst>
          </a:custGeom>
          <a:solidFill>
            <a:srgbClr val="F84949">
              <a:alpha val="80000"/>
            </a:srgbClr>
          </a:solidFill>
          <a:ln w="1650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" name="矩形 11"/>
          <p:cNvSpPr/>
          <p:nvPr>
            <p:custDataLst>
              <p:tags r:id="rId6"/>
            </p:custDataLst>
          </p:nvPr>
        </p:nvSpPr>
        <p:spPr>
          <a:xfrm>
            <a:off x="2092643" y="3812858"/>
            <a:ext cx="3074035" cy="927100"/>
          </a:xfrm>
          <a:prstGeom prst="rect">
            <a:avLst/>
          </a:prstGeom>
          <a:noFill/>
          <a:ln>
            <a:noFill/>
          </a:ln>
        </p:spPr>
        <p:style>
          <a:lnRef idx="2">
            <a:srgbClr val="F84949">
              <a:shade val="15000"/>
            </a:srgbClr>
          </a:lnRef>
          <a:fillRef idx="1">
            <a:srgbClr val="F84949"/>
          </a:fillRef>
          <a:effectRef idx="0">
            <a:srgbClr val="F84949"/>
          </a:effectRef>
          <a:fontRef idx="minor">
            <a:srgbClr val="FFFFFF"/>
          </a:fontRef>
        </p:style>
        <p:txBody>
          <a:bodyPr wrap="square" lIns="0" tIns="0" rIns="0" bIns="0" rtlCol="0" anchor="t">
            <a:normAutofit/>
          </a:bodyPr>
          <a:lstStyle>
            <a:defPPr>
              <a:defRPr lang="en-US">
                <a:solidFill>
                  <a:srgbClr val="FFFFFF"/>
                </a:solidFill>
                <a:latin typeface="Arial" panose="020B0604020202020204" pitchFamily="34" charset="0"/>
              </a:defRPr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sz="2000" kern="0" dirty="0">
                <a:ln>
                  <a:noFill/>
                  <a:prstDash val="sysDot"/>
                </a:ln>
                <a:solidFill>
                  <a:srgbClr val="FFFFFF"/>
                </a:solidFill>
                <a:latin typeface="Arial" panose="020B0604020202020204" pitchFamily="34" charset="0"/>
                <a:sym typeface="Microsoft YaHei" panose="020B0503020204020204" charset="-122"/>
              </a:rPr>
              <a:t>Shallow Parsing</a:t>
            </a:r>
            <a:endParaRPr lang="en-US" sz="2000" kern="0" dirty="0">
              <a:ln>
                <a:noFill/>
                <a:prstDash val="sysDot"/>
              </a:ln>
              <a:solidFill>
                <a:srgbClr val="FFFFFF"/>
              </a:solidFill>
              <a:latin typeface="Arial" panose="020B0604020202020204" pitchFamily="34" charset="0"/>
              <a:sym typeface="Microsoft YaHei" panose="020B0503020204020204" charset="-122"/>
            </a:endParaRPr>
          </a:p>
          <a:p>
            <a:pPr algn="ctr">
              <a:lnSpc>
                <a:spcPct val="150000"/>
              </a:lnSpc>
            </a:pPr>
            <a:r>
              <a:rPr lang="en-US" sz="2000" kern="0" dirty="0">
                <a:ln>
                  <a:noFill/>
                  <a:prstDash val="sysDot"/>
                </a:ln>
                <a:solidFill>
                  <a:srgbClr val="FFFFFF"/>
                </a:solidFill>
                <a:latin typeface="Arial" panose="020B0604020202020204" pitchFamily="34" charset="0"/>
                <a:sym typeface="Microsoft YaHei" panose="020B0503020204020204" charset="-122"/>
              </a:rPr>
              <a:t>(Chunk parsing)</a:t>
            </a:r>
            <a:endParaRPr lang="en-US" sz="2000" kern="0" dirty="0">
              <a:ln>
                <a:noFill/>
                <a:prstDash val="sysDot"/>
              </a:ln>
              <a:solidFill>
                <a:srgbClr val="FFFFFF"/>
              </a:solidFill>
              <a:latin typeface="Arial" panose="020B0604020202020204" pitchFamily="34" charset="0"/>
              <a:sym typeface="Microsoft YaHei" panose="020B0503020204020204" charset="-122"/>
            </a:endParaRPr>
          </a:p>
        </p:txBody>
      </p:sp>
      <p:sp>
        <p:nvSpPr>
          <p:cNvPr id="13" name="矩形 12"/>
          <p:cNvSpPr/>
          <p:nvPr>
            <p:custDataLst>
              <p:tags r:id="rId7"/>
            </p:custDataLst>
          </p:nvPr>
        </p:nvSpPr>
        <p:spPr>
          <a:xfrm>
            <a:off x="6732905" y="3808095"/>
            <a:ext cx="4391025" cy="1358900"/>
          </a:xfrm>
          <a:prstGeom prst="rect">
            <a:avLst/>
          </a:prstGeom>
          <a:gradFill>
            <a:gsLst>
              <a:gs pos="50000">
                <a:schemeClr val="accent2"/>
              </a:gs>
              <a:gs pos="0">
                <a:schemeClr val="accent2">
                  <a:lumMod val="25000"/>
                  <a:lumOff val="75000"/>
                </a:schemeClr>
              </a:gs>
              <a:gs pos="100000">
                <a:schemeClr val="accent2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rgbClr val="F84949">
              <a:shade val="15000"/>
            </a:srgbClr>
          </a:lnRef>
          <a:fillRef idx="1">
            <a:srgbClr val="F84949"/>
          </a:fillRef>
          <a:effectRef idx="0">
            <a:srgbClr val="F84949"/>
          </a:effectRef>
          <a:fontRef idx="minor">
            <a:srgbClr val="FFFFFF"/>
          </a:fontRef>
        </p:style>
        <p:txBody>
          <a:bodyPr wrap="square" lIns="0" tIns="0" rIns="0" bIns="0" rtlCol="0" anchor="t">
            <a:noAutofit/>
          </a:bodyPr>
          <a:lstStyle>
            <a:defPPr>
              <a:defRPr lang="en-US">
                <a:solidFill>
                  <a:srgbClr val="FFFFFF"/>
                </a:solidFill>
                <a:latin typeface="Arial" panose="020B0604020202020204" pitchFamily="34" charset="0"/>
              </a:defRPr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sz="1700" kern="0" dirty="0">
                <a:ln>
                  <a:noFill/>
                  <a:prstDash val="sysDot"/>
                </a:ln>
                <a:solidFill>
                  <a:srgbClr val="FFFFFF"/>
                </a:solidFill>
                <a:latin typeface="Arial" panose="020B0604020202020204" pitchFamily="34" charset="0"/>
                <a:sym typeface="Microsoft YaHei" panose="020B0503020204020204" charset="-122"/>
              </a:rPr>
              <a:t>Deep Parsing</a:t>
            </a:r>
            <a:endParaRPr lang="en-US" sz="1700" kern="0" dirty="0">
              <a:ln>
                <a:noFill/>
                <a:prstDash val="sysDot"/>
              </a:ln>
              <a:solidFill>
                <a:srgbClr val="FFFFFF"/>
              </a:solidFill>
              <a:latin typeface="Arial" panose="020B0604020202020204" pitchFamily="34" charset="0"/>
              <a:sym typeface="Microsoft YaHei" panose="020B050302020402020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en-US" sz="1700" kern="0" dirty="0">
                <a:ln>
                  <a:noFill/>
                  <a:prstDash val="sysDot"/>
                </a:ln>
                <a:solidFill>
                  <a:srgbClr val="FFFFFF"/>
                </a:solidFill>
                <a:latin typeface="Arial" panose="020B0604020202020204" pitchFamily="34" charset="0"/>
                <a:sym typeface="Microsoft YaHei" panose="020B0503020204020204" charset="-122"/>
              </a:rPr>
              <a:t>(Dependency Parsing</a:t>
            </a:r>
            <a:endParaRPr lang="en-US" altLang="en-US" sz="1700" kern="0" dirty="0">
              <a:ln>
                <a:noFill/>
                <a:prstDash val="sysDot"/>
              </a:ln>
              <a:solidFill>
                <a:srgbClr val="FFFFFF"/>
              </a:solidFill>
              <a:latin typeface="Arial" panose="020B0604020202020204" pitchFamily="34" charset="0"/>
              <a:sym typeface="Microsoft YaHei" panose="020B050302020402020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en-US" sz="1700" kern="0" dirty="0">
                <a:ln>
                  <a:noFill/>
                  <a:prstDash val="sysDot"/>
                </a:ln>
                <a:solidFill>
                  <a:srgbClr val="FFFFFF"/>
                </a:solidFill>
                <a:latin typeface="Arial" panose="020B0604020202020204" pitchFamily="34" charset="0"/>
                <a:sym typeface="Microsoft YaHei" panose="020B0503020204020204" charset="-122"/>
              </a:rPr>
              <a:t>, Constituency Parsing)</a:t>
            </a:r>
            <a:endParaRPr lang="en-US" altLang="en-US" sz="1700" kern="0" dirty="0">
              <a:ln>
                <a:noFill/>
                <a:prstDash val="sysDot"/>
              </a:ln>
              <a:solidFill>
                <a:srgbClr val="FFFFFF"/>
              </a:solidFill>
              <a:latin typeface="Arial" panose="020B0604020202020204" pitchFamily="34" charset="0"/>
              <a:sym typeface="Microsoft YaHei" panose="020B0503020204020204" charset="-122"/>
            </a:endParaRPr>
          </a:p>
        </p:txBody>
      </p:sp>
      <p:grpSp>
        <p:nvGrpSpPr>
          <p:cNvPr id="18" name="图形 16"/>
          <p:cNvGrpSpPr/>
          <p:nvPr>
            <p:custDataLst>
              <p:tags r:id="rId8"/>
            </p:custDataLst>
          </p:nvPr>
        </p:nvGrpSpPr>
        <p:grpSpPr>
          <a:xfrm>
            <a:off x="5701983" y="4068128"/>
            <a:ext cx="693067" cy="557999"/>
            <a:chOff x="5672846" y="3531711"/>
            <a:chExt cx="843659" cy="679243"/>
          </a:xfrm>
          <a:solidFill>
            <a:srgbClr val="FFFFFF"/>
          </a:solidFill>
        </p:grpSpPr>
        <p:sp>
          <p:nvSpPr>
            <p:cNvPr id="8" name="任意多边形: 形状 18"/>
            <p:cNvSpPr/>
            <p:nvPr>
              <p:custDataLst>
                <p:tags r:id="rId9"/>
              </p:custDataLst>
            </p:nvPr>
          </p:nvSpPr>
          <p:spPr>
            <a:xfrm>
              <a:off x="5672846" y="3545406"/>
              <a:ext cx="441759" cy="651916"/>
            </a:xfrm>
            <a:custGeom>
              <a:avLst/>
              <a:gdLst>
                <a:gd name="connsiteX0" fmla="*/ 441760 w 441759"/>
                <a:gd name="connsiteY0" fmla="*/ 0 h 651916"/>
                <a:gd name="connsiteX1" fmla="*/ 355449 w 441759"/>
                <a:gd name="connsiteY1" fmla="*/ 651916 h 651916"/>
                <a:gd name="connsiteX2" fmla="*/ 97939 w 441759"/>
                <a:gd name="connsiteY2" fmla="*/ 651916 h 651916"/>
                <a:gd name="connsiteX3" fmla="*/ 0 w 441759"/>
                <a:gd name="connsiteY3" fmla="*/ 0 h 651916"/>
                <a:gd name="connsiteX4" fmla="*/ 178758 w 441759"/>
                <a:gd name="connsiteY4" fmla="*/ 0 h 651916"/>
                <a:gd name="connsiteX5" fmla="*/ 223270 w 441759"/>
                <a:gd name="connsiteY5" fmla="*/ 455844 h 651916"/>
                <a:gd name="connsiteX6" fmla="*/ 251179 w 441759"/>
                <a:gd name="connsiteY6" fmla="*/ 121261 h 651916"/>
                <a:gd name="connsiteX7" fmla="*/ 262937 w 441759"/>
                <a:gd name="connsiteY7" fmla="*/ 0 h 651916"/>
                <a:gd name="connsiteX8" fmla="*/ 441760 w 441759"/>
                <a:gd name="connsiteY8" fmla="*/ 0 h 651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759" h="651916">
                  <a:moveTo>
                    <a:pt x="441760" y="0"/>
                  </a:moveTo>
                  <a:lnTo>
                    <a:pt x="355449" y="651916"/>
                  </a:lnTo>
                  <a:lnTo>
                    <a:pt x="97939" y="651916"/>
                  </a:lnTo>
                  <a:lnTo>
                    <a:pt x="0" y="0"/>
                  </a:lnTo>
                  <a:lnTo>
                    <a:pt x="178758" y="0"/>
                  </a:lnTo>
                  <a:cubicBezTo>
                    <a:pt x="199561" y="179598"/>
                    <a:pt x="214355" y="331546"/>
                    <a:pt x="223270" y="455844"/>
                  </a:cubicBezTo>
                  <a:cubicBezTo>
                    <a:pt x="232056" y="330190"/>
                    <a:pt x="241295" y="218684"/>
                    <a:pt x="251179" y="121261"/>
                  </a:cubicBezTo>
                  <a:lnTo>
                    <a:pt x="262937" y="0"/>
                  </a:lnTo>
                  <a:lnTo>
                    <a:pt x="441760" y="0"/>
                  </a:lnTo>
                  <a:close/>
                </a:path>
              </a:pathLst>
            </a:custGeom>
            <a:grpFill/>
            <a:ln w="63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20" name="任意多边形: 形状 19"/>
            <p:cNvSpPr/>
            <p:nvPr>
              <p:custDataLst>
                <p:tags r:id="rId10"/>
              </p:custDataLst>
            </p:nvPr>
          </p:nvSpPr>
          <p:spPr>
            <a:xfrm>
              <a:off x="6129141" y="3531711"/>
              <a:ext cx="387363" cy="679243"/>
            </a:xfrm>
            <a:custGeom>
              <a:avLst/>
              <a:gdLst>
                <a:gd name="connsiteX0" fmla="*/ 373215 w 387363"/>
                <a:gd name="connsiteY0" fmla="*/ 210996 h 679243"/>
                <a:gd name="connsiteX1" fmla="*/ 215776 w 387363"/>
                <a:gd name="connsiteY1" fmla="*/ 210996 h 679243"/>
                <a:gd name="connsiteX2" fmla="*/ 215776 w 387363"/>
                <a:gd name="connsiteY2" fmla="*/ 162672 h 679243"/>
                <a:gd name="connsiteX3" fmla="*/ 209768 w 387363"/>
                <a:gd name="connsiteY3" fmla="*/ 119581 h 679243"/>
                <a:gd name="connsiteX4" fmla="*/ 189612 w 387363"/>
                <a:gd name="connsiteY4" fmla="*/ 110343 h 679243"/>
                <a:gd name="connsiteX5" fmla="*/ 166484 w 387363"/>
                <a:gd name="connsiteY5" fmla="*/ 122812 h 679243"/>
                <a:gd name="connsiteX6" fmla="*/ 158602 w 387363"/>
                <a:gd name="connsiteY6" fmla="*/ 160669 h 679243"/>
                <a:gd name="connsiteX7" fmla="*/ 167453 w 387363"/>
                <a:gd name="connsiteY7" fmla="*/ 209833 h 679243"/>
                <a:gd name="connsiteX8" fmla="*/ 215389 w 387363"/>
                <a:gd name="connsiteY8" fmla="*/ 249693 h 679243"/>
                <a:gd name="connsiteX9" fmla="*/ 357969 w 387363"/>
                <a:gd name="connsiteY9" fmla="*/ 359972 h 679243"/>
                <a:gd name="connsiteX10" fmla="*/ 387364 w 387363"/>
                <a:gd name="connsiteY10" fmla="*/ 498870 h 679243"/>
                <a:gd name="connsiteX11" fmla="*/ 371084 w 387363"/>
                <a:gd name="connsiteY11" fmla="*/ 601525 h 679243"/>
                <a:gd name="connsiteX12" fmla="*/ 308095 w 387363"/>
                <a:gd name="connsiteY12" fmla="*/ 656891 h 679243"/>
                <a:gd name="connsiteX13" fmla="*/ 199367 w 387363"/>
                <a:gd name="connsiteY13" fmla="*/ 679243 h 679243"/>
                <a:gd name="connsiteX14" fmla="*/ 83210 w 387363"/>
                <a:gd name="connsiteY14" fmla="*/ 653467 h 679243"/>
                <a:gd name="connsiteX15" fmla="*/ 20221 w 387363"/>
                <a:gd name="connsiteY15" fmla="*/ 587829 h 679243"/>
                <a:gd name="connsiteX16" fmla="*/ 5297 w 387363"/>
                <a:gd name="connsiteY16" fmla="*/ 474708 h 679243"/>
                <a:gd name="connsiteX17" fmla="*/ 5297 w 387363"/>
                <a:gd name="connsiteY17" fmla="*/ 432005 h 679243"/>
                <a:gd name="connsiteX18" fmla="*/ 162607 w 387363"/>
                <a:gd name="connsiteY18" fmla="*/ 432005 h 679243"/>
                <a:gd name="connsiteX19" fmla="*/ 162607 w 387363"/>
                <a:gd name="connsiteY19" fmla="*/ 511338 h 679243"/>
                <a:gd name="connsiteX20" fmla="*/ 169262 w 387363"/>
                <a:gd name="connsiteY20" fmla="*/ 558435 h 679243"/>
                <a:gd name="connsiteX21" fmla="*/ 192842 w 387363"/>
                <a:gd name="connsiteY21" fmla="*/ 568900 h 679243"/>
                <a:gd name="connsiteX22" fmla="*/ 218037 w 387363"/>
                <a:gd name="connsiteY22" fmla="*/ 555592 h 679243"/>
                <a:gd name="connsiteX23" fmla="*/ 226307 w 387363"/>
                <a:gd name="connsiteY23" fmla="*/ 516119 h 679243"/>
                <a:gd name="connsiteX24" fmla="*/ 210608 w 387363"/>
                <a:gd name="connsiteY24" fmla="*/ 440791 h 679243"/>
                <a:gd name="connsiteX25" fmla="*/ 131275 w 387363"/>
                <a:gd name="connsiteY25" fmla="*/ 381614 h 679243"/>
                <a:gd name="connsiteX26" fmla="*/ 47548 w 387363"/>
                <a:gd name="connsiteY26" fmla="*/ 320822 h 679243"/>
                <a:gd name="connsiteX27" fmla="*/ 13502 w 387363"/>
                <a:gd name="connsiteY27" fmla="*/ 268493 h 679243"/>
                <a:gd name="connsiteX28" fmla="*/ 0 w 387363"/>
                <a:gd name="connsiteY28" fmla="*/ 183152 h 679243"/>
                <a:gd name="connsiteX29" fmla="*/ 19123 w 387363"/>
                <a:gd name="connsiteY29" fmla="*/ 73648 h 679243"/>
                <a:gd name="connsiteX30" fmla="*/ 80948 w 387363"/>
                <a:gd name="connsiteY30" fmla="*/ 19510 h 679243"/>
                <a:gd name="connsiteX31" fmla="*/ 183991 w 387363"/>
                <a:gd name="connsiteY31" fmla="*/ 0 h 679243"/>
                <a:gd name="connsiteX32" fmla="*/ 296531 w 387363"/>
                <a:gd name="connsiteY32" fmla="*/ 21319 h 679243"/>
                <a:gd name="connsiteX33" fmla="*/ 358163 w 387363"/>
                <a:gd name="connsiteY33" fmla="*/ 75070 h 679243"/>
                <a:gd name="connsiteX34" fmla="*/ 373280 w 387363"/>
                <a:gd name="connsiteY34" fmla="*/ 185219 h 679243"/>
                <a:gd name="connsiteX35" fmla="*/ 373280 w 387363"/>
                <a:gd name="connsiteY35" fmla="*/ 210996 h 679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387363" h="679243">
                  <a:moveTo>
                    <a:pt x="373215" y="210996"/>
                  </a:moveTo>
                  <a:lnTo>
                    <a:pt x="215776" y="210996"/>
                  </a:lnTo>
                  <a:lnTo>
                    <a:pt x="215776" y="162672"/>
                  </a:lnTo>
                  <a:cubicBezTo>
                    <a:pt x="215776" y="140125"/>
                    <a:pt x="213774" y="125783"/>
                    <a:pt x="209768" y="119581"/>
                  </a:cubicBezTo>
                  <a:cubicBezTo>
                    <a:pt x="205763" y="113380"/>
                    <a:pt x="199044" y="110343"/>
                    <a:pt x="189612" y="110343"/>
                  </a:cubicBezTo>
                  <a:cubicBezTo>
                    <a:pt x="179404" y="110343"/>
                    <a:pt x="171717" y="114478"/>
                    <a:pt x="166484" y="122812"/>
                  </a:cubicBezTo>
                  <a:cubicBezTo>
                    <a:pt x="161251" y="131146"/>
                    <a:pt x="158602" y="143743"/>
                    <a:pt x="158602" y="160669"/>
                  </a:cubicBezTo>
                  <a:cubicBezTo>
                    <a:pt x="158602" y="182441"/>
                    <a:pt x="161574" y="198786"/>
                    <a:pt x="167453" y="209833"/>
                  </a:cubicBezTo>
                  <a:cubicBezTo>
                    <a:pt x="173073" y="220880"/>
                    <a:pt x="189030" y="234124"/>
                    <a:pt x="215389" y="249693"/>
                  </a:cubicBezTo>
                  <a:cubicBezTo>
                    <a:pt x="290846" y="294464"/>
                    <a:pt x="338394" y="331223"/>
                    <a:pt x="357969" y="359972"/>
                  </a:cubicBezTo>
                  <a:cubicBezTo>
                    <a:pt x="377544" y="388721"/>
                    <a:pt x="387364" y="434977"/>
                    <a:pt x="387364" y="498870"/>
                  </a:cubicBezTo>
                  <a:cubicBezTo>
                    <a:pt x="387364" y="545320"/>
                    <a:pt x="381937" y="579560"/>
                    <a:pt x="371084" y="601525"/>
                  </a:cubicBezTo>
                  <a:cubicBezTo>
                    <a:pt x="360230" y="623555"/>
                    <a:pt x="339234" y="641967"/>
                    <a:pt x="308095" y="656891"/>
                  </a:cubicBezTo>
                  <a:cubicBezTo>
                    <a:pt x="276956" y="671814"/>
                    <a:pt x="240713" y="679243"/>
                    <a:pt x="199367" y="679243"/>
                  </a:cubicBezTo>
                  <a:cubicBezTo>
                    <a:pt x="154015" y="679243"/>
                    <a:pt x="115253" y="670651"/>
                    <a:pt x="83210" y="653467"/>
                  </a:cubicBezTo>
                  <a:cubicBezTo>
                    <a:pt x="51102" y="636282"/>
                    <a:pt x="30105" y="614381"/>
                    <a:pt x="20221" y="587829"/>
                  </a:cubicBezTo>
                  <a:cubicBezTo>
                    <a:pt x="10272" y="561277"/>
                    <a:pt x="5297" y="523549"/>
                    <a:pt x="5297" y="474708"/>
                  </a:cubicBezTo>
                  <a:lnTo>
                    <a:pt x="5297" y="432005"/>
                  </a:lnTo>
                  <a:lnTo>
                    <a:pt x="162607" y="432005"/>
                  </a:lnTo>
                  <a:lnTo>
                    <a:pt x="162607" y="511338"/>
                  </a:lnTo>
                  <a:cubicBezTo>
                    <a:pt x="162607" y="535759"/>
                    <a:pt x="164804" y="551457"/>
                    <a:pt x="169262" y="558435"/>
                  </a:cubicBezTo>
                  <a:cubicBezTo>
                    <a:pt x="173719" y="565412"/>
                    <a:pt x="181536" y="568900"/>
                    <a:pt x="192842" y="568900"/>
                  </a:cubicBezTo>
                  <a:cubicBezTo>
                    <a:pt x="204148" y="568900"/>
                    <a:pt x="212481" y="564443"/>
                    <a:pt x="218037" y="555592"/>
                  </a:cubicBezTo>
                  <a:cubicBezTo>
                    <a:pt x="223529" y="546741"/>
                    <a:pt x="226307" y="533562"/>
                    <a:pt x="226307" y="516119"/>
                  </a:cubicBezTo>
                  <a:cubicBezTo>
                    <a:pt x="226307" y="477744"/>
                    <a:pt x="221074" y="452614"/>
                    <a:pt x="210608" y="440791"/>
                  </a:cubicBezTo>
                  <a:cubicBezTo>
                    <a:pt x="199884" y="428969"/>
                    <a:pt x="173396" y="409265"/>
                    <a:pt x="131275" y="381614"/>
                  </a:cubicBezTo>
                  <a:cubicBezTo>
                    <a:pt x="89153" y="353705"/>
                    <a:pt x="61180" y="333420"/>
                    <a:pt x="47548" y="320822"/>
                  </a:cubicBezTo>
                  <a:cubicBezTo>
                    <a:pt x="33852" y="308224"/>
                    <a:pt x="22482" y="290781"/>
                    <a:pt x="13502" y="268493"/>
                  </a:cubicBezTo>
                  <a:cubicBezTo>
                    <a:pt x="4522" y="246205"/>
                    <a:pt x="0" y="217779"/>
                    <a:pt x="0" y="183152"/>
                  </a:cubicBezTo>
                  <a:cubicBezTo>
                    <a:pt x="0" y="133213"/>
                    <a:pt x="6396" y="96712"/>
                    <a:pt x="19123" y="73648"/>
                  </a:cubicBezTo>
                  <a:cubicBezTo>
                    <a:pt x="31850" y="50585"/>
                    <a:pt x="52458" y="32496"/>
                    <a:pt x="80948" y="19510"/>
                  </a:cubicBezTo>
                  <a:cubicBezTo>
                    <a:pt x="109309" y="6525"/>
                    <a:pt x="143679" y="0"/>
                    <a:pt x="183991" y="0"/>
                  </a:cubicBezTo>
                  <a:cubicBezTo>
                    <a:pt x="227986" y="0"/>
                    <a:pt x="265521" y="7106"/>
                    <a:pt x="296531" y="21319"/>
                  </a:cubicBezTo>
                  <a:cubicBezTo>
                    <a:pt x="327541" y="35532"/>
                    <a:pt x="348085" y="53492"/>
                    <a:pt x="358163" y="75070"/>
                  </a:cubicBezTo>
                  <a:cubicBezTo>
                    <a:pt x="368241" y="96712"/>
                    <a:pt x="373280" y="133407"/>
                    <a:pt x="373280" y="185219"/>
                  </a:cubicBezTo>
                  <a:lnTo>
                    <a:pt x="373280" y="210996"/>
                  </a:lnTo>
                  <a:close/>
                </a:path>
              </a:pathLst>
            </a:custGeom>
            <a:grpFill/>
            <a:ln w="63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</p:grpSp>
      <p:sp>
        <p:nvSpPr>
          <p:cNvPr id="40" name="任意多边形: 形状 39"/>
          <p:cNvSpPr/>
          <p:nvPr>
            <p:custDataLst>
              <p:tags r:id="rId11"/>
            </p:custDataLst>
          </p:nvPr>
        </p:nvSpPr>
        <p:spPr>
          <a:xfrm>
            <a:off x="999173" y="2770188"/>
            <a:ext cx="705601" cy="705601"/>
          </a:xfrm>
          <a:custGeom>
            <a:avLst/>
            <a:gdLst>
              <a:gd name="connsiteX0" fmla="*/ 1135085 w 1135085"/>
              <a:gd name="connsiteY0" fmla="*/ 567543 h 1135085"/>
              <a:gd name="connsiteX1" fmla="*/ 567543 w 1135085"/>
              <a:gd name="connsiteY1" fmla="*/ 1135085 h 1135085"/>
              <a:gd name="connsiteX2" fmla="*/ 0 w 1135085"/>
              <a:gd name="connsiteY2" fmla="*/ 567543 h 1135085"/>
              <a:gd name="connsiteX3" fmla="*/ 567543 w 1135085"/>
              <a:gd name="connsiteY3" fmla="*/ 0 h 1135085"/>
              <a:gd name="connsiteX4" fmla="*/ 1135085 w 1135085"/>
              <a:gd name="connsiteY4" fmla="*/ 567543 h 1135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85" h="1135085">
                <a:moveTo>
                  <a:pt x="1135085" y="567543"/>
                </a:moveTo>
                <a:cubicBezTo>
                  <a:pt x="1135085" y="880988"/>
                  <a:pt x="880988" y="1135085"/>
                  <a:pt x="567543" y="1135085"/>
                </a:cubicBezTo>
                <a:cubicBezTo>
                  <a:pt x="254097" y="1135085"/>
                  <a:pt x="0" y="880988"/>
                  <a:pt x="0" y="567543"/>
                </a:cubicBezTo>
                <a:cubicBezTo>
                  <a:pt x="0" y="254098"/>
                  <a:pt x="254097" y="0"/>
                  <a:pt x="567543" y="0"/>
                </a:cubicBezTo>
                <a:cubicBezTo>
                  <a:pt x="880988" y="0"/>
                  <a:pt x="1135085" y="254098"/>
                  <a:pt x="1135085" y="567543"/>
                </a:cubicBezTo>
                <a:close/>
              </a:path>
            </a:pathLst>
          </a:custGeom>
          <a:solidFill>
            <a:srgbClr val="F84949"/>
          </a:solidFill>
          <a:ln w="25400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1" name="任意多边形: 形状 40"/>
          <p:cNvSpPr/>
          <p:nvPr>
            <p:custDataLst>
              <p:tags r:id="rId12"/>
            </p:custDataLst>
          </p:nvPr>
        </p:nvSpPr>
        <p:spPr>
          <a:xfrm>
            <a:off x="10487343" y="2770188"/>
            <a:ext cx="705601" cy="705601"/>
          </a:xfrm>
          <a:custGeom>
            <a:avLst/>
            <a:gdLst>
              <a:gd name="connsiteX0" fmla="*/ 1135085 w 1135085"/>
              <a:gd name="connsiteY0" fmla="*/ 567543 h 1135085"/>
              <a:gd name="connsiteX1" fmla="*/ 567543 w 1135085"/>
              <a:gd name="connsiteY1" fmla="*/ 1135085 h 1135085"/>
              <a:gd name="connsiteX2" fmla="*/ 0 w 1135085"/>
              <a:gd name="connsiteY2" fmla="*/ 567543 h 1135085"/>
              <a:gd name="connsiteX3" fmla="*/ 567543 w 1135085"/>
              <a:gd name="connsiteY3" fmla="*/ 0 h 1135085"/>
              <a:gd name="connsiteX4" fmla="*/ 1135085 w 1135085"/>
              <a:gd name="connsiteY4" fmla="*/ 567543 h 1135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85" h="1135085">
                <a:moveTo>
                  <a:pt x="1135085" y="567543"/>
                </a:moveTo>
                <a:cubicBezTo>
                  <a:pt x="1135085" y="880988"/>
                  <a:pt x="880988" y="1135085"/>
                  <a:pt x="567543" y="1135085"/>
                </a:cubicBezTo>
                <a:cubicBezTo>
                  <a:pt x="254097" y="1135085"/>
                  <a:pt x="0" y="880988"/>
                  <a:pt x="0" y="567543"/>
                </a:cubicBezTo>
                <a:cubicBezTo>
                  <a:pt x="0" y="254098"/>
                  <a:pt x="254097" y="0"/>
                  <a:pt x="567543" y="0"/>
                </a:cubicBezTo>
                <a:cubicBezTo>
                  <a:pt x="880988" y="0"/>
                  <a:pt x="1135085" y="254098"/>
                  <a:pt x="1135085" y="567543"/>
                </a:cubicBezTo>
                <a:close/>
              </a:path>
            </a:pathLst>
          </a:custGeom>
          <a:solidFill>
            <a:srgbClr val="F84949"/>
          </a:solidFill>
          <a:ln w="25400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4" name="图形 2" descr="343435383036303b343532343135373bcfeec4bfb7d6cef6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94753" y="2958148"/>
            <a:ext cx="314486" cy="314486"/>
          </a:xfrm>
          <a:prstGeom prst="rect">
            <a:avLst/>
          </a:prstGeom>
        </p:spPr>
      </p:pic>
      <p:pic>
        <p:nvPicPr>
          <p:cNvPr id="15" name="图形 4" descr="343439383331313b343532303031393bd2b5bca8b9dcc0ed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682923" y="2972753"/>
            <a:ext cx="314486" cy="314486"/>
          </a:xfrm>
          <a:prstGeom prst="rect">
            <a:avLst/>
          </a:prstGeom>
        </p:spPr>
      </p:pic>
    </p:spTree>
    <p:custDataLst>
      <p:tags r:id="rId19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Shallow Parsing (Chunk Parsing)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groups of words (called chunks) without building a complete parse tree</a:t>
            </a:r>
            <a:endParaRPr lang="en-US" altLang="en-US"/>
          </a:p>
          <a:p>
            <a:endParaRPr lang="en-US" altLang="en-US"/>
          </a:p>
        </p:txBody>
      </p:sp>
      <p:graphicFrame>
        <p:nvGraphicFramePr>
          <p:cNvPr id="5" name="Content Placeholder 4"/>
          <p:cNvGraphicFramePr/>
          <p:nvPr>
            <p:ph sz="half" idx="2"/>
            <p:custDataLst>
              <p:tags r:id="rId3"/>
            </p:custDataLst>
          </p:nvPr>
        </p:nvGraphicFramePr>
        <p:xfrm>
          <a:off x="6411600" y="1501200"/>
          <a:ext cx="5176520" cy="2194560"/>
        </p:xfrm>
        <a:graphic>
          <a:graphicData uri="http://schemas.openxmlformats.org/drawingml/2006/table">
            <a:tbl>
              <a:tblPr/>
              <a:tblGrid>
                <a:gridCol w="2588260"/>
                <a:gridCol w="2588260"/>
              </a:tblGrid>
              <a:tr h="182880"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Chunk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Meaning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NP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Noun Phrase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VP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Verb Phrase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864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PP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Prepositional Phrase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ADJP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Adjective Phrase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ADVP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Adverb Phrase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Example 1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>
            <a:normAutofit fontScale="70000"/>
          </a:bodyPr>
          <a:p>
            <a:r>
              <a:rPr lang="en-US" altLang="en-US">
                <a:sym typeface="+mn-ea"/>
              </a:rPr>
              <a:t>The smart student solved the difficult problem.</a:t>
            </a:r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  <p:custDataLst>
              <p:tags r:id="rId3"/>
            </p:custDataLst>
          </p:nvPr>
        </p:nvSpPr>
        <p:spPr/>
        <p:txBody>
          <a:bodyPr/>
          <a:p>
            <a:r>
              <a:rPr lang="en-US" altLang="en-US"/>
              <a:t>Chunking</a:t>
            </a:r>
            <a:endParaRPr lang="en-US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4"/>
            <p:custDataLst>
              <p:tags r:id="rId4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[NP The smart student]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[VP solved]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[NP the difficult problem]</a:t>
            </a:r>
            <a:endParaRPr lang="en-US" altLang="en-US"/>
          </a:p>
        </p:txBody>
      </p:sp>
      <p:graphicFrame>
        <p:nvGraphicFramePr>
          <p:cNvPr id="8" name="Content Placeholder 7"/>
          <p:cNvGraphicFramePr/>
          <p:nvPr>
            <p:ph sz="half" idx="2"/>
            <p:custDataLst>
              <p:tags r:id="rId5"/>
            </p:custDataLst>
          </p:nvPr>
        </p:nvGraphicFramePr>
        <p:xfrm>
          <a:off x="608400" y="1854000"/>
          <a:ext cx="5342890" cy="1828800"/>
        </p:xfrm>
        <a:graphic>
          <a:graphicData uri="http://schemas.openxmlformats.org/drawingml/2006/table">
            <a:tbl>
              <a:tblPr/>
              <a:tblGrid>
                <a:gridCol w="2671445"/>
                <a:gridCol w="2671445"/>
              </a:tblGrid>
              <a:tr h="182880"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Word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POS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The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DT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smart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JJ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student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NN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solved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VBD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the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DT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difficult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JJ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problem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NN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6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Example 2</a:t>
            </a:r>
            <a:endParaRPr lang="en-US" altLang="en-US"/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Sentence : The cat is sleeping on the sofa.</a:t>
            </a:r>
            <a:endParaRPr lang="en-US" altLang="en-US"/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Chunks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[NP The cat]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[VP is sleeping]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[PP on]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[NP the sofa]</a:t>
            </a:r>
            <a:endParaRPr lang="en-US" altLang="en-US"/>
          </a:p>
        </p:txBody>
      </p:sp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Example 3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Sentence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The little girl is reading a story book.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>
                <a:sym typeface="+mn-ea"/>
              </a:rPr>
              <a:t>Chunking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[NP The little girl]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[VP is reading]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[NP a story book]</a:t>
            </a:r>
            <a:endParaRPr lang="en-US" altLang="en-US"/>
          </a:p>
          <a:p>
            <a:pPr marL="0" indent="0">
              <a:buNone/>
            </a:pPr>
            <a:endParaRPr lang="en-US"/>
          </a:p>
        </p:txBody>
      </p:sp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Shallow Parsing</a:t>
            </a:r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Advantages</a:t>
            </a:r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Fast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Computationally efficient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Easier than full parsing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Suitable for information extraction</a:t>
            </a:r>
            <a:endParaRPr lang="en-US" alt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/>
        <p:txBody>
          <a:bodyPr/>
          <a:p>
            <a:r>
              <a:rPr lang="en-US"/>
              <a:t>Limitations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/>
        <p:txBody>
          <a:bodyPr/>
          <a:p>
            <a:r>
              <a:rPr lang="en-US" altLang="en-US"/>
              <a:t>Cannot identify complete grammatical relationships</a:t>
            </a:r>
            <a:endParaRPr lang="en-US" altLang="en-US"/>
          </a:p>
          <a:p>
            <a:r>
              <a:rPr lang="en-US" altLang="en-US"/>
              <a:t>Ignores long-distance dependencies</a:t>
            </a:r>
            <a:endParaRPr lang="en-US" altLang="en-US"/>
          </a:p>
          <a:p>
            <a:r>
              <a:rPr lang="en-US" altLang="en-US"/>
              <a:t>Does not produce a complete syntax tree</a:t>
            </a:r>
            <a:endParaRPr lang="en-US" altLang="en-US"/>
          </a:p>
        </p:txBody>
      </p:sp>
    </p:spTree>
    <p:custDataLst>
      <p:tags r:id="rId6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Dependency Parsing</a:t>
            </a:r>
            <a:endParaRPr lang="en-US" altLang="en-US"/>
          </a:p>
        </p:txBody>
      </p:sp>
      <p:sp>
        <p:nvSpPr>
          <p:cNvPr id="8" name="Content Placeholder 7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Definition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Dependency parsing identifies grammatical relationships between individual words.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Every word depends on another word except the root.</a:t>
            </a:r>
            <a:endParaRPr lang="en-US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Instead of phrases, it focuses on</a:t>
            </a:r>
            <a:endParaRPr lang="en-US" altLang="en-US"/>
          </a:p>
          <a:p>
            <a:r>
              <a:rPr lang="en-US" altLang="en-US"/>
              <a:t>Subject</a:t>
            </a:r>
            <a:endParaRPr lang="en-US" altLang="en-US"/>
          </a:p>
          <a:p>
            <a:r>
              <a:rPr lang="en-US" altLang="en-US"/>
              <a:t>Object</a:t>
            </a:r>
            <a:endParaRPr lang="en-US" altLang="en-US"/>
          </a:p>
          <a:p>
            <a:r>
              <a:rPr lang="en-US" altLang="en-US"/>
              <a:t>Modifier</a:t>
            </a:r>
            <a:endParaRPr lang="en-US" altLang="en-US"/>
          </a:p>
          <a:p>
            <a:r>
              <a:rPr lang="en-US" altLang="en-US"/>
              <a:t>Auxiliary</a:t>
            </a:r>
            <a:endParaRPr lang="en-US" altLang="en-US"/>
          </a:p>
          <a:p>
            <a:r>
              <a:rPr lang="en-US" altLang="en-US"/>
              <a:t>Determiner</a:t>
            </a:r>
            <a:endParaRPr lang="en-US" altLang="en-US"/>
          </a:p>
        </p:txBody>
      </p:sp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Example 1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Sentence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The boy kicked the ball.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kicked(ROOT)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    /         \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 boy         ball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 |            |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The          the</a:t>
            </a:r>
            <a:endParaRPr lang="en-US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ROOT → kicked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boy --------► kicked (nsubj)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ball ------► kicked (obj)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The ------► boy (det)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the ------► ball (det)</a:t>
            </a:r>
            <a:endParaRPr lang="en-US" altLang="en-US"/>
          </a:p>
        </p:txBody>
      </p:sp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en-US"/>
              <a:t>Example 2 </a:t>
            </a:r>
            <a:r>
              <a:rPr lang="en-US" altLang="en-US">
                <a:sym typeface="+mn-ea"/>
              </a:rPr>
              <a:t>The intelligent student answered the question correctly.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Dependencies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/>
        <p:txBody>
          <a:bodyPr>
            <a:normAutofit/>
          </a:bodyPr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ROOT → answered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student → answered (nsubj)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intelligent → student (amod)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The → student (det)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question → answered (obj)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the → question (det)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correctly → answered (advmod)</a:t>
            </a:r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/>
        <p:txBody>
          <a:bodyPr/>
          <a:p>
            <a:r>
              <a:rPr lang="en-US" altLang="en-US"/>
              <a:t>Diagram</a:t>
            </a:r>
            <a:endParaRPr lang="en-US" alt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/>
        <p:txBody>
          <a:bodyPr>
            <a:normAutofit fontScale="90000" lnSpcReduction="20000"/>
          </a:bodyPr>
          <a:p>
            <a:pPr marL="0" indent="0">
              <a:buNone/>
            </a:pPr>
            <a:r>
              <a:rPr lang="en-US" altLang="en-US"/>
              <a:t>       answered(ROOT)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    /      |      \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student   question   correctly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|		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intelligent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|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The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question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|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the</a:t>
            </a:r>
            <a:endParaRPr lang="en-US" altLang="en-US"/>
          </a:p>
        </p:txBody>
      </p:sp>
    </p:spTree>
    <p:custDataLst>
      <p:tags r:id="rId6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en-US" altLang="en-US"/>
              <a:t>Example 3: Birds fly in the sky.</a:t>
            </a:r>
            <a:endParaRPr lang="en-US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Dependencies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ROOT → fly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Birds → fly (nsubj)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sky → fly (obl)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the → sky (det)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in → sky (case)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/>
        <p:txBody>
          <a:bodyPr/>
          <a:p>
            <a:r>
              <a:rPr lang="en-US"/>
              <a:t>Diagram 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  fly(ROOT)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 /      \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Birds       sky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         |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        the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         |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         in</a:t>
            </a:r>
            <a:endParaRPr lang="en-US" altLang="en-US"/>
          </a:p>
        </p:txBody>
      </p:sp>
    </p:spTree>
    <p:custDataLst>
      <p:tags r:id="rId6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Title 9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Shallow Parsing vs Dependency Parsing</a:t>
            </a:r>
            <a:endParaRPr lang="en-US" altLang="en-US"/>
          </a:p>
        </p:txBody>
      </p:sp>
      <p:graphicFrame>
        <p:nvGraphicFramePr>
          <p:cNvPr id="9" name="Content Placeholder 8"/>
          <p:cNvGraphicFramePr/>
          <p:nvPr>
            <p:ph idx="1"/>
            <p:custDataLst>
              <p:tags r:id="rId2"/>
            </p:custDataLst>
          </p:nvPr>
        </p:nvGraphicFramePr>
        <p:xfrm>
          <a:off x="608400" y="1490400"/>
          <a:ext cx="10968990" cy="3474720"/>
        </p:xfrm>
        <a:graphic>
          <a:graphicData uri="http://schemas.openxmlformats.org/drawingml/2006/table">
            <a:tbl>
              <a:tblPr/>
              <a:tblGrid>
                <a:gridCol w="3656330"/>
                <a:gridCol w="3656330"/>
                <a:gridCol w="3656330"/>
              </a:tblGrid>
              <a:tr h="548640"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Feature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Shallow Parsing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Dependency Parsing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864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Focus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Chunks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Word relationships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864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Output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NP, VP, PP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Dependency Tree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Complexity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Low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High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Speed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Faster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Slower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Captures Grammar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Partial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Complete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3152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Used in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Information Extraction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Machine Translation, QA, Chatbots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To Do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A virtual assistant receives the command:  "Turn off the bedroom lights after 10 PM."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1. POS tagging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2. Shallow Parsing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3. Dependency Parsing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POS Tagging</a:t>
            </a:r>
            <a:endParaRPr lang="en-US"/>
          </a:p>
        </p:txBody>
      </p:sp>
      <p:graphicFrame>
        <p:nvGraphicFramePr>
          <p:cNvPr id="4" name="Content Placeholder 3"/>
          <p:cNvGraphicFramePr/>
          <p:nvPr>
            <p:ph idx="1"/>
            <p:custDataLst>
              <p:tags r:id="rId2"/>
            </p:custDataLst>
          </p:nvPr>
        </p:nvGraphicFramePr>
        <p:xfrm>
          <a:off x="608330" y="1490345"/>
          <a:ext cx="8582660" cy="4884420"/>
        </p:xfrm>
        <a:graphic>
          <a:graphicData uri="http://schemas.openxmlformats.org/drawingml/2006/table">
            <a:tbl>
              <a:tblPr/>
              <a:tblGrid>
                <a:gridCol w="4291330"/>
                <a:gridCol w="4291330"/>
              </a:tblGrid>
              <a:tr h="645160"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Word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POS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4516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Turn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VB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45795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off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RP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9895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the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DT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9895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bedroom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NN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3053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lights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NNS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60425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after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IN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9895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CD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7665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PM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NNP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Parsing</a:t>
            </a:r>
            <a:endParaRPr lang="en-US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en-US" altLang="en-US">
                <a:sym typeface="+mn-ea"/>
              </a:rPr>
              <a:t>Shallow Parsing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[VP Turn off]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[NP the bedroom lights]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[PP after]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[NP 10 PM]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/>
        <p:txBody>
          <a:bodyPr/>
          <a:p>
            <a:r>
              <a:rPr lang="en-US" altLang="en-US"/>
              <a:t>Dependency Parsing</a:t>
            </a:r>
            <a:endParaRPr lang="en-US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Turn → ROOT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lights → object of Turn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bedroom → modifier of lights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the → determiner of lights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after → temporal modifier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10 PM → time expression</a:t>
            </a:r>
            <a:endParaRPr lang="en-US" altLang="en-US"/>
          </a:p>
        </p:txBody>
      </p:sp>
    </p:spTree>
    <p:custDataLst>
      <p:tags r:id="rId6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8437_1*l_h_i*1_1_1"/>
  <p:tag name="KSO_WM_TEMPLATE_CATEGORY" val="diagram"/>
  <p:tag name="KSO_WM_TEMPLATE_INDEX" val="20238437"/>
  <p:tag name="KSO_WM_UNIT_LAYERLEVEL" val="1_1_1"/>
  <p:tag name="KSO_WM_TAG_VERSION" val="3.0"/>
  <p:tag name="KSO_WM_BEAUTIFY_FLAG" val="#wm#"/>
  <p:tag name="KSO_WM_UNIT_DIAGRAM_CONTRAST_TITLE_CNT" val="0"/>
  <p:tag name="KSO_WM_UNIT_DIAGRAM_DIMENSION_TITLE_CNT" val="0"/>
  <p:tag name="KSO_WM_DIAGRAM_VERSION" val="3"/>
  <p:tag name="KSO_WM_DIAGRAM_COLOR_TRICK" val="1"/>
  <p:tag name="KSO_WM_DIAGRAM_COLOR_TEXT_CAN_REMOVE" val="n"/>
  <p:tag name="KSO_WM_DIAGRAM_MAX_ITEMCNT" val="2"/>
  <p:tag name="KSO_WM_DIAGRAM_MIN_ITEMCNT" val="2"/>
  <p:tag name="KSO_WM_DIAGRAM_VIRTUALLY_FRAME" val="{&quot;height&quot;:221.0215731787494,&quot;left&quot;:78.6649169921875,&quot;top&quot;:218.12503937007872,&quot;width&quot;:802.670166015625}"/>
  <p:tag name="KSO_WM_DIAGRAM_COLOR_MATCH_VALUE" val="{&quot;shape&quot;:{&quot;fill&quot;:{&quot;gradient&quot;:[{&quot;brightness&quot;:0,&quot;colorType&quot;:1,&quot;foreColorIndex&quot;:5,&quot;pos&quot;:0.44999998807907104,&quot;transparency&quot;:0},{&quot;brightness&quot;:0,&quot;colorType&quot;:1,&quot;foreColorIndex&quot;:5,&quot;pos&quot;:0,&quot;transparency&quot;:1}],&quot;type&quot;:3},&quot;glow&quot;:{&quot;colorType&quot;:0},&quot;line&quot;:{&quot;gradient&quot;:[{&quot;brightness&quot;:-0.25,&quot;colorType&quot;:1,&quot;foreColorIndex&quot;:5,&quot;pos&quot;:0.4699999988079071,&quot;transparency&quot;:0},{&quot;brightness&quot;:0,&quot;colorType&quot;:1,&quot;foreColorIndex&quot;:14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8437_1*l_h_i*1_2_1"/>
  <p:tag name="KSO_WM_TEMPLATE_CATEGORY" val="diagram"/>
  <p:tag name="KSO_WM_TEMPLATE_INDEX" val="20238437"/>
  <p:tag name="KSO_WM_UNIT_LAYERLEVEL" val="1_1_1"/>
  <p:tag name="KSO_WM_TAG_VERSION" val="3.0"/>
  <p:tag name="KSO_WM_BEAUTIFY_FLAG" val="#wm#"/>
  <p:tag name="KSO_WM_UNIT_DIAGRAM_CONTRAST_TITLE_CNT" val="0"/>
  <p:tag name="KSO_WM_UNIT_DIAGRAM_DIMENSION_TITLE_CNT" val="0"/>
  <p:tag name="KSO_WM_DIAGRAM_VERSION" val="3"/>
  <p:tag name="KSO_WM_DIAGRAM_COLOR_TRICK" val="1"/>
  <p:tag name="KSO_WM_DIAGRAM_COLOR_TEXT_CAN_REMOVE" val="n"/>
  <p:tag name="KSO_WM_DIAGRAM_MAX_ITEMCNT" val="2"/>
  <p:tag name="KSO_WM_DIAGRAM_MIN_ITEMCNT" val="2"/>
  <p:tag name="KSO_WM_DIAGRAM_VIRTUALLY_FRAME" val="{&quot;height&quot;:221.0215731787494,&quot;left&quot;:78.6649169921875,&quot;top&quot;:218.12503937007872,&quot;width&quot;:802.670166015625}"/>
  <p:tag name="KSO_WM_DIAGRAM_COLOR_MATCH_VALUE" val="{&quot;shape&quot;:{&quot;fill&quot;:{&quot;gradient&quot;:[{&quot;brightness&quot;:0,&quot;colorType&quot;:1,&quot;foreColorIndex&quot;:5,&quot;pos&quot;:0.5600000023841858,&quot;transparency&quot;:0},{&quot;brightness&quot;:-0.05000000074505806,&quot;colorType&quot;:1,&quot;foreColorIndex&quot;:5,&quot;pos&quot;:1,&quot;transparency&quot;:1}],&quot;type&quot;:3},&quot;glow&quot;:{&quot;colorType&quot;:0},&quot;line&quot;:{&quot;gradient&quot;:[{&quot;brightness&quot;:-0.25,&quot;colorType&quot;:1,&quot;foreColorIndex&quot;:5,&quot;pos&quot;:0.5699999928474426,&quot;transparency&quot;:0},{&quot;brightness&quot;:0,&quot;colorType&quot;:1,&quot;foreColorIndex&quot;:14,&quot;pos&quot;:0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1"/>
  <p:tag name="KSO_WM_UNIT_ID" val="diagram20238437_1*l_i*1_1"/>
  <p:tag name="KSO_WM_TEMPLATE_CATEGORY" val="diagram"/>
  <p:tag name="KSO_WM_TEMPLATE_INDEX" val="20238437"/>
  <p:tag name="KSO_WM_UNIT_LAYERLEVEL" val="1_1"/>
  <p:tag name="KSO_WM_TAG_VERSION" val="3.0"/>
  <p:tag name="KSO_WM_BEAUTIFY_FLAG" val="#wm#"/>
  <p:tag name="KSO_WM_UNIT_DIAGRAM_CONTRAST_TITLE_CNT" val="0"/>
  <p:tag name="KSO_WM_UNIT_DIAGRAM_DIMENSION_TITLE_CNT" val="0"/>
  <p:tag name="KSO_WM_DIAGRAM_VERSION" val="3"/>
  <p:tag name="KSO_WM_DIAGRAM_COLOR_TRICK" val="1"/>
  <p:tag name="KSO_WM_DIAGRAM_COLOR_TEXT_CAN_REMOVE" val="n"/>
  <p:tag name="KSO_WM_DIAGRAM_MAX_ITEMCNT" val="2"/>
  <p:tag name="KSO_WM_DIAGRAM_MIN_ITEMCNT" val="2"/>
  <p:tag name="KSO_WM_DIAGRAM_VIRTUALLY_FRAME" val="{&quot;height&quot;:221.0215731787494,&quot;left&quot;:78.6649169921875,&quot;top&quot;:218.12503937007872,&quot;width&quot;:802.67016601562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2"/>
  <p:tag name="KSO_WM_UNIT_ID" val="diagram20238437_1*l_i*1_2"/>
  <p:tag name="KSO_WM_TEMPLATE_CATEGORY" val="diagram"/>
  <p:tag name="KSO_WM_TEMPLATE_INDEX" val="20238437"/>
  <p:tag name="KSO_WM_UNIT_LAYERLEVEL" val="1_1"/>
  <p:tag name="KSO_WM_TAG_VERSION" val="3.0"/>
  <p:tag name="KSO_WM_BEAUTIFY_FLAG" val="#wm#"/>
  <p:tag name="KSO_WM_UNIT_DIAGRAM_CONTRAST_TITLE_CNT" val="0"/>
  <p:tag name="KSO_WM_UNIT_DIAGRAM_DIMENSION_TITLE_CNT" val="0"/>
  <p:tag name="KSO_WM_DIAGRAM_VERSION" val="3"/>
  <p:tag name="KSO_WM_DIAGRAM_COLOR_TRICK" val="1"/>
  <p:tag name="KSO_WM_DIAGRAM_COLOR_TEXT_CAN_REMOVE" val="n"/>
  <p:tag name="KSO_WM_DIAGRAM_MAX_ITEMCNT" val="2"/>
  <p:tag name="KSO_WM_DIAGRAM_MIN_ITEMCNT" val="2"/>
  <p:tag name="KSO_WM_DIAGRAM_VIRTUALLY_FRAME" val="{&quot;height&quot;:221.0215731787494,&quot;left&quot;:78.6649169921875,&quot;top&quot;:218.12503937007872,&quot;width&quot;:802.670166015625}"/>
  <p:tag name="KSO_WM_DIAGRAM_COLOR_MATCH_VALUE" val="{&quot;shape&quot;:{&quot;fill&quot;:{&quot;solid&quot;:{&quot;brightness&quot;:0,&quot;colorType&quot;:1,&quot;foreColorIndex&quot;:5,&quot;transparency&quot;:0.20000000298023224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75.xml><?xml version="1.0" encoding="utf-8"?>
<p:tagLst xmlns:p="http://schemas.openxmlformats.org/presentationml/2006/main">
  <p:tag name="KSO_WM_UNIT_SUBTYPE" val="a"/>
  <p:tag name="KSO_WM_UNIT_NOCLEAR" val="0"/>
  <p:tag name="KSO_WM_UNIT_VALUE" val="2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8437_1*l_h_f*1_1_1"/>
  <p:tag name="KSO_WM_TEMPLATE_CATEGORY" val="diagram"/>
  <p:tag name="KSO_WM_TEMPLATE_INDEX" val="20238437"/>
  <p:tag name="KSO_WM_UNIT_LAYERLEVEL" val="1_1_1"/>
  <p:tag name="KSO_WM_TAG_VERSION" val="3.0"/>
  <p:tag name="KSO_WM_BEAUTIFY_FLAG" val="#wm#"/>
  <p:tag name="KSO_WM_UNIT_DIAGRAM_CONTRAST_TITLE_CNT" val="0"/>
  <p:tag name="KSO_WM_UNIT_DIAGRAM_DIMENSION_TITLE_CNT" val="0"/>
  <p:tag name="KSO_WM_DIAGRAM_VERSION" val="3"/>
  <p:tag name="KSO_WM_DIAGRAM_COLOR_TRICK" val="1"/>
  <p:tag name="KSO_WM_DIAGRAM_COLOR_TEXT_CAN_REMOVE" val="n"/>
  <p:tag name="KSO_WM_DIAGRAM_MAX_ITEMCNT" val="2"/>
  <p:tag name="KSO_WM_DIAGRAM_MIN_ITEMCNT" val="2"/>
  <p:tag name="KSO_WM_DIAGRAM_VIRTUALLY_FRAME" val="{&quot;height&quot;:221.0215731787494,&quot;left&quot;:78.6649169921875,&quot;top&quot;:218.12503937007872,&quot;width&quot;:802.67016601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DIAGRAM_USE_COLOR_VALUE" val="{&quot;color_scheme&quot;:1,&quot;color_type&quot;:1,&quot;theme_color_indexes&quot;:[]}"/>
</p:tagLst>
</file>

<file path=ppt/tags/tag76.xml><?xml version="1.0" encoding="utf-8"?>
<p:tagLst xmlns:p="http://schemas.openxmlformats.org/presentationml/2006/main">
  <p:tag name="KSO_WM_UNIT_SUBTYPE" val="a"/>
  <p:tag name="KSO_WM_UNIT_NOCLEAR" val="0"/>
  <p:tag name="KSO_WM_UNIT_VALUE" val="2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8437_1*l_h_f*1_2_1"/>
  <p:tag name="KSO_WM_TEMPLATE_CATEGORY" val="diagram"/>
  <p:tag name="KSO_WM_TEMPLATE_INDEX" val="20238437"/>
  <p:tag name="KSO_WM_UNIT_LAYERLEVEL" val="1_1_1"/>
  <p:tag name="KSO_WM_TAG_VERSION" val="3.0"/>
  <p:tag name="KSO_WM_BEAUTIFY_FLAG" val="#wm#"/>
  <p:tag name="KSO_WM_UNIT_DIAGRAM_CONTRAST_TITLE_CNT" val="0"/>
  <p:tag name="KSO_WM_UNIT_DIAGRAM_DIMENSION_TITLE_CNT" val="0"/>
  <p:tag name="KSO_WM_DIAGRAM_VERSION" val="3"/>
  <p:tag name="KSO_WM_DIAGRAM_COLOR_TRICK" val="1"/>
  <p:tag name="KSO_WM_DIAGRAM_COLOR_TEXT_CAN_REMOVE" val="n"/>
  <p:tag name="KSO_WM_DIAGRAM_MAX_ITEMCNT" val="2"/>
  <p:tag name="KSO_WM_DIAGRAM_MIN_ITEMCNT" val="2"/>
  <p:tag name="KSO_WM_DIAGRAM_VIRTUALLY_FRAME" val="{&quot;height&quot;:221.0215731787494,&quot;left&quot;:78.6649169921875,&quot;top&quot;:218.12503937007872,&quot;width&quot;:802.67016601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DIAGRAM_USE_COLOR_VALUE" val="{&quot;color_scheme&quot;:1,&quot;color_type&quot;:1,&quot;theme_color_indexes&quot;:[]}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5"/>
  <p:tag name="KSO_WM_UNIT_ID" val="diagram20238437_1*l_i*1_5"/>
  <p:tag name="KSO_WM_TEMPLATE_CATEGORY" val="diagram"/>
  <p:tag name="KSO_WM_TEMPLATE_INDEX" val="20238437"/>
  <p:tag name="KSO_WM_UNIT_LAYERLEVEL" val="1_1"/>
  <p:tag name="KSO_WM_TAG_VERSION" val="3.0"/>
  <p:tag name="KSO_WM_BEAUTIFY_FLAG" val="#wm#"/>
  <p:tag name="KSO_WM_UNIT_DIAGRAM_CONTRAST_TITLE_CNT" val="0"/>
  <p:tag name="KSO_WM_UNIT_DIAGRAM_DIMENSION_TITLE_CNT" val="0"/>
  <p:tag name="KSO_WM_DIAGRAM_VERSION" val="3"/>
  <p:tag name="KSO_WM_DIAGRAM_COLOR_TRICK" val="1"/>
  <p:tag name="KSO_WM_DIAGRAM_COLOR_TEXT_CAN_REMOVE" val="n"/>
  <p:tag name="KSO_WM_DIAGRAM_VIRTUALLY_FRAME" val="{&quot;height&quot;:221.0215731787494,&quot;left&quot;:78.6649169921875,&quot;top&quot;:218.12503937007872,&quot;width&quot;:802.670166015625}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4"/>
  <p:tag name="KSO_WM_UNIT_ID" val="diagram20238437_1*l_i*1_4"/>
  <p:tag name="KSO_WM_TEMPLATE_CATEGORY" val="diagram"/>
  <p:tag name="KSO_WM_TEMPLATE_INDEX" val="20238437"/>
  <p:tag name="KSO_WM_UNIT_LAYERLEVEL" val="1_1"/>
  <p:tag name="KSO_WM_TAG_VERSION" val="3.0"/>
  <p:tag name="KSO_WM_BEAUTIFY_FLAG" val="#wm#"/>
  <p:tag name="KSO_WM_UNIT_DIAGRAM_CONTRAST_TITLE_CNT" val="0"/>
  <p:tag name="KSO_WM_UNIT_DIAGRAM_DIMENSION_TITLE_CNT" val="0"/>
  <p:tag name="KSO_WM_DIAGRAM_VERSION" val="3"/>
  <p:tag name="KSO_WM_DIAGRAM_COLOR_TRICK" val="1"/>
  <p:tag name="KSO_WM_DIAGRAM_COLOR_TEXT_CAN_REMOVE" val="n"/>
  <p:tag name="KSO_WM_DIAGRAM_MAX_ITEMCNT" val="2"/>
  <p:tag name="KSO_WM_DIAGRAM_MIN_ITEMCNT" val="2"/>
  <p:tag name="KSO_WM_DIAGRAM_VIRTUALLY_FRAME" val="{&quot;height&quot;:221.0215731787494,&quot;left&quot;:78.6649169921875,&quot;top&quot;:218.12503937007872,&quot;width&quot;:802.67016601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3"/>
  <p:tag name="KSO_WM_UNIT_ID" val="diagram20238437_1*l_i*1_3"/>
  <p:tag name="KSO_WM_TEMPLATE_CATEGORY" val="diagram"/>
  <p:tag name="KSO_WM_TEMPLATE_INDEX" val="20238437"/>
  <p:tag name="KSO_WM_UNIT_LAYERLEVEL" val="1_1"/>
  <p:tag name="KSO_WM_TAG_VERSION" val="3.0"/>
  <p:tag name="KSO_WM_BEAUTIFY_FLAG" val="#wm#"/>
  <p:tag name="KSO_WM_UNIT_DIAGRAM_CONTRAST_TITLE_CNT" val="0"/>
  <p:tag name="KSO_WM_UNIT_DIAGRAM_DIMENSION_TITLE_CNT" val="0"/>
  <p:tag name="KSO_WM_DIAGRAM_VERSION" val="3"/>
  <p:tag name="KSO_WM_DIAGRAM_COLOR_TRICK" val="1"/>
  <p:tag name="KSO_WM_DIAGRAM_COLOR_TEXT_CAN_REMOVE" val="n"/>
  <p:tag name="KSO_WM_DIAGRAM_MAX_ITEMCNT" val="2"/>
  <p:tag name="KSO_WM_DIAGRAM_MIN_ITEMCNT" val="2"/>
  <p:tag name="KSO_WM_DIAGRAM_VIRTUALLY_FRAME" val="{&quot;height&quot;:221.0215731787494,&quot;left&quot;:78.6649169921875,&quot;top&quot;:218.12503937007872,&quot;width&quot;:802.67016601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8437_1*l_h_i*1_1_2"/>
  <p:tag name="KSO_WM_TEMPLATE_CATEGORY" val="diagram"/>
  <p:tag name="KSO_WM_TEMPLATE_INDEX" val="20238437"/>
  <p:tag name="KSO_WM_UNIT_LAYERLEVEL" val="1_1_1"/>
  <p:tag name="KSO_WM_TAG_VERSION" val="3.0"/>
  <p:tag name="KSO_WM_BEAUTIFY_FLAG" val="#wm#"/>
  <p:tag name="KSO_WM_UNIT_DIAGRAM_CONTRAST_TITLE_CNT" val="0"/>
  <p:tag name="KSO_WM_UNIT_DIAGRAM_DIMENSION_TITLE_CNT" val="0"/>
  <p:tag name="KSO_WM_DIAGRAM_VERSION" val="3"/>
  <p:tag name="KSO_WM_DIAGRAM_COLOR_TRICK" val="1"/>
  <p:tag name="KSO_WM_DIAGRAM_COLOR_TEXT_CAN_REMOVE" val="n"/>
  <p:tag name="KSO_WM_DIAGRAM_MAX_ITEMCNT" val="2"/>
  <p:tag name="KSO_WM_DIAGRAM_MIN_ITEMCNT" val="2"/>
  <p:tag name="KSO_WM_DIAGRAM_VIRTUALLY_FRAME" val="{&quot;height&quot;:221.0215731787494,&quot;left&quot;:78.6649169921875,&quot;top&quot;:218.12503937007872,&quot;width&quot;:802.6701660156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8437_1*l_h_i*1_2_2"/>
  <p:tag name="KSO_WM_TEMPLATE_CATEGORY" val="diagram"/>
  <p:tag name="KSO_WM_TEMPLATE_INDEX" val="20238437"/>
  <p:tag name="KSO_WM_UNIT_LAYERLEVEL" val="1_1_1"/>
  <p:tag name="KSO_WM_TAG_VERSION" val="3.0"/>
  <p:tag name="KSO_WM_BEAUTIFY_FLAG" val="#wm#"/>
  <p:tag name="KSO_WM_UNIT_DIAGRAM_CONTRAST_TITLE_CNT" val="0"/>
  <p:tag name="KSO_WM_UNIT_DIAGRAM_DIMENSION_TITLE_CNT" val="0"/>
  <p:tag name="KSO_WM_DIAGRAM_VERSION" val="3"/>
  <p:tag name="KSO_WM_DIAGRAM_COLOR_TRICK" val="1"/>
  <p:tag name="KSO_WM_DIAGRAM_COLOR_TEXT_CAN_REMOVE" val="n"/>
  <p:tag name="KSO_WM_DIAGRAM_MAX_ITEMCNT" val="2"/>
  <p:tag name="KSO_WM_DIAGRAM_MIN_ITEMCNT" val="2"/>
  <p:tag name="KSO_WM_DIAGRAM_VIRTUALLY_FRAME" val="{&quot;height&quot;:221.0215731787494,&quot;left&quot;:78.6649169921875,&quot;top&quot;:218.12503937007872,&quot;width&quot;:802.6701660156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82.xml><?xml version="1.0" encoding="utf-8"?>
<p:tagLst xmlns:p="http://schemas.openxmlformats.org/presentationml/2006/main">
  <p:tag name="KSO_WM_UNIT_VALUE" val="87*87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1_1"/>
  <p:tag name="KSO_WM_UNIT_ID" val="diagram20238437_1*l_h_x*1_1_1"/>
  <p:tag name="KSO_WM_TEMPLATE_CATEGORY" val="diagram"/>
  <p:tag name="KSO_WM_TEMPLATE_INDEX" val="20238437"/>
  <p:tag name="KSO_WM_UNIT_LAYERLEVEL" val="1_1_1"/>
  <p:tag name="KSO_WM_TAG_VERSION" val="3.0"/>
  <p:tag name="KSO_WM_BEAUTIFY_FLAG" val="#wm#"/>
  <p:tag name="KSO_WM_UNIT_DIAGRAM_CONTRAST_TITLE_CNT" val="0"/>
  <p:tag name="KSO_WM_UNIT_DIAGRAM_DIMENSION_TITLE_CNT" val="0"/>
  <p:tag name="KSO_WM_DIAGRAM_VERSION" val="3"/>
  <p:tag name="KSO_WM_DIAGRAM_COLOR_TRICK" val="1"/>
  <p:tag name="KSO_WM_DIAGRAM_COLOR_TEXT_CAN_REMOVE" val="n"/>
  <p:tag name="KSO_WM_DIAGRAM_MAX_ITEMCNT" val="2"/>
  <p:tag name="KSO_WM_DIAGRAM_MIN_ITEMCNT" val="2"/>
  <p:tag name="KSO_WM_DIAGRAM_VIRTUALLY_FRAME" val="{&quot;height&quot;:221.0215731787494,&quot;left&quot;:78.6649169921875,&quot;top&quot;:218.12503937007872,&quot;width&quot;:802.67016601562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</p:tagLst>
</file>

<file path=ppt/tags/tag83.xml><?xml version="1.0" encoding="utf-8"?>
<p:tagLst xmlns:p="http://schemas.openxmlformats.org/presentationml/2006/main">
  <p:tag name="KSO_WM_UNIT_VALUE" val="87*87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2_1"/>
  <p:tag name="KSO_WM_UNIT_ID" val="diagram20238437_1*l_h_x*1_2_1"/>
  <p:tag name="KSO_WM_TEMPLATE_CATEGORY" val="diagram"/>
  <p:tag name="KSO_WM_TEMPLATE_INDEX" val="20238437"/>
  <p:tag name="KSO_WM_UNIT_LAYERLEVEL" val="1_1_1"/>
  <p:tag name="KSO_WM_TAG_VERSION" val="3.0"/>
  <p:tag name="KSO_WM_BEAUTIFY_FLAG" val="#wm#"/>
  <p:tag name="KSO_WM_UNIT_DIAGRAM_CONTRAST_TITLE_CNT" val="0"/>
  <p:tag name="KSO_WM_UNIT_DIAGRAM_DIMENSION_TITLE_CNT" val="0"/>
  <p:tag name="KSO_WM_DIAGRAM_VERSION" val="3"/>
  <p:tag name="KSO_WM_DIAGRAM_COLOR_TRICK" val="1"/>
  <p:tag name="KSO_WM_DIAGRAM_COLOR_TEXT_CAN_REMOVE" val="n"/>
  <p:tag name="KSO_WM_DIAGRAM_MAX_ITEMCNT" val="2"/>
  <p:tag name="KSO_WM_DIAGRAM_MIN_ITEMCNT" val="2"/>
  <p:tag name="KSO_WM_DIAGRAM_VIRTUALLY_FRAME" val="{&quot;height&quot;:221.0215731787494,&quot;left&quot;:78.6649169921875,&quot;top&quot;:218.12503937007872,&quot;width&quot;:802.67016601562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</p:tagLst>
</file>

<file path=ppt/tags/tag8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65&quot;:[20205081],&quot;70&quot;:[3327011]}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  <p:tag name="TABLE_ENDDRAG_ORIGIN_RECT" val="675*384"/>
  <p:tag name="TABLE_ENDDRAG_RECT" val="47*117*675*384"/>
</p:tagLst>
</file>

<file path=ppt/tags/tag13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4.xml><?xml version="1.0" encoding="utf-8"?>
<p:tagLst xmlns:p="http://schemas.openxmlformats.org/presentationml/2006/main">
  <p:tag name="resource_record_key" val="{&quot;65&quot;:[20205081],&quot;70&quot;:[3327011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3143</Words>
  <Application>WPS Presentation</Application>
  <PresentationFormat>Widescreen</PresentationFormat>
  <Paragraphs>335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Parsing</dc:title>
  <dc:creator>priya</dc:creator>
  <cp:lastModifiedBy>vinodha priya</cp:lastModifiedBy>
  <cp:revision>5</cp:revision>
  <dcterms:created xsi:type="dcterms:W3CDTF">2026-07-14T09:07:12Z</dcterms:created>
  <dcterms:modified xsi:type="dcterms:W3CDTF">2026-07-14T09:35:55Z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86C220979BE849A0A7E2DEE4D5EA2F9C_11</vt:lpwstr>
  </property>
</Properties>
</file>