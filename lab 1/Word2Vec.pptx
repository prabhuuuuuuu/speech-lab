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9" r:id="rId4"/>
    <p:sldId id="280" r:id="rId5"/>
    <p:sldId id="258" r:id="rId6"/>
    <p:sldId id="260" r:id="rId7"/>
    <p:sldId id="266" r:id="rId8"/>
    <p:sldId id="267" r:id="rId9"/>
    <p:sldId id="281" r:id="rId10"/>
    <p:sldId id="282" r:id="rId11"/>
    <p:sldId id="268" r:id="rId12"/>
    <p:sldId id="269" r:id="rId13"/>
    <p:sldId id="270" r:id="rId14"/>
    <p:sldId id="271" r:id="rId15"/>
    <p:sldId id="272" r:id="rId16"/>
    <p:sldId id="283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Word2Vec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Definition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Neural network-based word embedding technique that converts words into dense, low-dimensional numerical vectors while preserving their semantic and syntactic relationships.</a:t>
            </a:r>
            <a:endParaRPr lang="en-US" altLang="en-US"/>
          </a:p>
          <a:p>
            <a:r>
              <a:rPr lang="en-US" altLang="en-US"/>
              <a:t>learns these vector representations by analyzing the context in which words appear in a large text corpus.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Characteristics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Converts words into dense vectors (embeddings).</a:t>
            </a:r>
            <a:endParaRPr lang="en-US" altLang="en-US"/>
          </a:p>
          <a:p>
            <a:r>
              <a:rPr lang="en-US" altLang="en-US"/>
              <a:t>Learns from the context in which words appear.</a:t>
            </a:r>
            <a:endParaRPr lang="en-US" altLang="en-US"/>
          </a:p>
          <a:p>
            <a:r>
              <a:rPr lang="en-US" altLang="en-US"/>
              <a:t>Places semantically similar words close together in vector space.</a:t>
            </a:r>
            <a:endParaRPr lang="en-US" altLang="en-US"/>
          </a:p>
          <a:p>
            <a:r>
              <a:rPr lang="en-US" altLang="en-US"/>
              <a:t>Uses one of two architectures:</a:t>
            </a:r>
            <a:endParaRPr lang="en-US" altLang="en-US"/>
          </a:p>
          <a:p>
            <a:pPr lvl="1"/>
            <a:r>
              <a:rPr lang="en-US" altLang="en-US"/>
              <a:t>CBOW (Continuous Bag of Words)</a:t>
            </a:r>
            <a:endParaRPr lang="en-US" altLang="en-US"/>
          </a:p>
          <a:p>
            <a:pPr lvl="1"/>
            <a:r>
              <a:rPr lang="en-US" altLang="en-US"/>
              <a:t>Skip-Gram</a:t>
            </a:r>
            <a:endParaRPr lang="en-US" altLang="en-US"/>
          </a:p>
          <a:p>
            <a:r>
              <a:rPr lang="en-US" altLang="en-US"/>
              <a:t>Typically produces embeddings of 100–300 dimensions.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Corpus: “Students study machine learning”</a:t>
            </a:r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Step 1: Preprocessing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Tokenization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[students, study, machine, learning]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Vocabulary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 = {students, study, machine, learning}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|V| = 4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>
                <a:sym typeface="+mn-ea"/>
              </a:rPr>
              <a:t>Step 2: Vocabulary</a:t>
            </a:r>
            <a:endParaRPr lang="en-US"/>
          </a:p>
        </p:txBody>
      </p:sp>
      <p:graphicFrame>
        <p:nvGraphicFramePr>
          <p:cNvPr id="7" name="Content Placeholder 6"/>
          <p:cNvGraphicFramePr/>
          <p:nvPr>
            <p:ph sz="quarter" idx="4"/>
          </p:nvPr>
        </p:nvGraphicFramePr>
        <p:xfrm>
          <a:off x="6172200" y="2505075"/>
          <a:ext cx="5182870" cy="1866900"/>
        </p:xfrm>
        <a:graphic>
          <a:graphicData uri="http://schemas.openxmlformats.org/drawingml/2006/table">
            <a:tbl>
              <a:tblPr/>
              <a:tblGrid>
                <a:gridCol w="2591435"/>
                <a:gridCol w="259143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Index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Corpus: “Students study machine learning”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Step 3: One-Hot Encoding</a:t>
            </a:r>
            <a:endParaRPr lang="en-US" alt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/>
              <a:t>Step 4: Initial weight matrix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596130" y="2505075"/>
                <a:ext cx="3552190" cy="3684905"/>
              </a:xfrm>
            </p:spPr>
            <p:txBody>
              <a:bodyPr/>
              <a:p>
                <a:pPr marL="0" indent="0">
                  <a:buNone/>
                </a:pPr>
                <a:r>
                  <a:rPr lang="en-US" altLang="en-US"/>
                  <a:t>Embedding Dimension = 2</a:t>
                </a:r>
                <a:endParaRPr lang="en-US" alt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𝑊</m:t>
                    </m:r>
                    <m:r>
                      <a:rPr lang="en-US" altLang="en-US"/>
                      <m:t>= </m:t>
                    </m:r>
                    <m:d>
                      <m:dPr>
                        <m:begChr m:val="["/>
                        <m:endChr m:val="]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.</m:t>
                                  </m:r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.</m:t>
                                  </m:r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5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.</m:t>
                                  </m:r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.</m:t>
                                  </m:r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8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.</m:t>
                                  </m:r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.</m:t>
                                  </m:r>
                                  <m:r>
                                    <a:rPr lang="en-US" altLang="en-US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charset="0"/>
                                    </a:rPr>
                                    <m:t>.</m:t>
                                  </m:r>
                                  <m:r>
                                    <a:rPr lang="en-US" i="1">
                                      <a:latin typeface="Cambria Math" panose="02040503050406030204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charset="0"/>
                                    </a:rPr>
                                    <m:t>0</m:t>
                                  </m:r>
                                  <m:r>
                                    <a:rPr lang="en-US" i="1">
                                      <a:latin typeface="Cambria Math" panose="02040503050406030204" charset="0"/>
                                    </a:rPr>
                                    <m:t>.</m:t>
                                  </m:r>
                                  <m:r>
                                    <a:rPr lang="en-US" i="1">
                                      <a:latin typeface="Cambria Math" panose="02040503050406030204" charset="0"/>
                                    </a:rPr>
                                    <m:t>7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r>
                  <a:rPr lang="en-US" altLang="en-US"/>
                  <a:t>​</a:t>
                </a:r>
                <a:endParaRPr lang="en-US" altLang="en-US"/>
              </a:p>
            </p:txBody>
          </p:sp>
        </mc:Choice>
        <mc:Fallback>
          <p:sp>
            <p:nvSpPr>
              <p:cNvPr id="10" name="Content Placeholder 9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596130" y="2505075"/>
                <a:ext cx="3552190" cy="368490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ontent Placeholder 6"/>
          <p:cNvGraphicFramePr/>
          <p:nvPr>
            <p:ph sz="half" idx="2"/>
            <p:custDataLst>
              <p:tags r:id="rId2"/>
            </p:custDataLst>
          </p:nvPr>
        </p:nvGraphicFramePr>
        <p:xfrm>
          <a:off x="840105" y="2505075"/>
          <a:ext cx="3649980" cy="2667635"/>
        </p:xfrm>
        <a:graphic>
          <a:graphicData uri="http://schemas.openxmlformats.org/drawingml/2006/table">
            <a:tbl>
              <a:tblPr/>
              <a:tblGrid>
                <a:gridCol w="1824990"/>
                <a:gridCol w="1824990"/>
              </a:tblGrid>
              <a:tr h="372110">
                <a:tc gridSpan="2"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Vocabulary size = 4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2110">
                <a:tc gridSpan="2">
                  <a:txBody>
                    <a:bodyPr/>
                    <a:p>
                      <a:pPr algn="ctr" fontAlgn="ctr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3561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One-Hot Vector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147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[1 0 0 0]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211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study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 1 0 0]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211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 0 1 0]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211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 0 0 1]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/>
          <p:nvPr/>
        </p:nvGraphicFramePr>
        <p:xfrm>
          <a:off x="8446770" y="2558415"/>
          <a:ext cx="2865120" cy="3019425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</a:tblGrid>
              <a:tr h="603885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Embedding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88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[0.2,0.5]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88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study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[0.4,0.8]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88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[0.6,0.3]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88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[0.1,0.7]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Corpus: “Students study machine learning”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1249680" y="2007870"/>
            <a:ext cx="5157470" cy="823595"/>
          </a:xfrm>
        </p:spPr>
        <p:txBody>
          <a:bodyPr/>
          <a:p>
            <a:pPr marL="0" indent="0">
              <a:buNone/>
            </a:pPr>
            <a:r>
              <a:rPr lang="en-US" altLang="en-US"/>
              <a:t>Step 5: Output Weight Matrix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4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    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   </m:t>
                                </m: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/>
              <a:t>PART A – CBOW</a:t>
            </a:r>
            <a:endParaRPr lang="en-US" altLang="en-US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Definition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CBOW (Continuous Bag of Words) is a Word2Vec architecture that predicts a target word using the surrounding context words within a specified window size.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Only the presence of the words matters, not their order.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Advantages Vs Disadvantages</a:t>
            </a:r>
            <a:endParaRPr lang="en-US" alt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Advantages of CBOW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514350" indent="-514350">
              <a:buAutoNum type="arabicPeriod"/>
            </a:pPr>
            <a:r>
              <a:rPr lang="en-US" altLang="en-US"/>
              <a:t>Faster to train than Skip-Gram.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Works well for large datasets.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Efficient for frequent words.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Produces smooth word embeddings.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Requires fewer training samples.</a:t>
            </a:r>
            <a:endParaRPr lang="en-US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/>
              <a:t>Disadvantages</a:t>
            </a:r>
            <a:endParaRPr lang="en-US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p>
            <a:pPr marL="514350" indent="-514350">
              <a:buAutoNum type="arabicPeriod"/>
            </a:pPr>
            <a:r>
              <a:rPr lang="en-US" altLang="en-US"/>
              <a:t>Ignores the order of context words.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Performs less effectively for rare words.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Cannot distinguish different meanings of the same word (e.g., "bank" as a financial institution vs. river bank).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Step 1: Generate Training Samples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5000"/>
          </a:bodyPr>
          <a:p>
            <a:pPr marL="0" indent="0">
              <a:buNone/>
            </a:pPr>
            <a:r>
              <a:rPr lang="en-US" altLang="en-US"/>
              <a:t>Window Size = 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Training Sample 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Students   study   machine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	     ↑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	 Target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Context</a:t>
            </a:r>
            <a:endParaRPr lang="en-US" altLang="en-US"/>
          </a:p>
          <a:p>
            <a:r>
              <a:rPr lang="en-US" altLang="en-US"/>
              <a:t>Students</a:t>
            </a:r>
            <a:endParaRPr lang="en-US" altLang="en-US"/>
          </a:p>
          <a:p>
            <a:r>
              <a:rPr lang="en-US" altLang="en-US"/>
              <a:t>machine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Target</a:t>
            </a:r>
            <a:endParaRPr lang="en-US" altLang="en-US"/>
          </a:p>
          <a:p>
            <a:r>
              <a:rPr lang="en-US" altLang="en-US"/>
              <a:t>study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Training Sample 2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study   machine   learning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     ↑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       Target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Context</a:t>
            </a:r>
            <a:endParaRPr lang="en-US" altLang="en-US"/>
          </a:p>
          <a:p>
            <a:r>
              <a:rPr lang="en-US" altLang="en-US">
                <a:sym typeface="+mn-ea"/>
              </a:rPr>
              <a:t>study</a:t>
            </a:r>
            <a:endParaRPr lang="en-US" altLang="en-US"/>
          </a:p>
          <a:p>
            <a:r>
              <a:rPr lang="en-US" altLang="en-US">
                <a:sym typeface="+mn-ea"/>
              </a:rPr>
              <a:t>learning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Target</a:t>
            </a:r>
            <a:endParaRPr lang="en-US" altLang="en-US"/>
          </a:p>
          <a:p>
            <a:r>
              <a:rPr lang="en-US" altLang="en-US">
                <a:sym typeface="+mn-ea"/>
              </a:rPr>
              <a:t>machine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Solve Training Sample 1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Context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Students  Embedding  : [0.2,0.5]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Machine Embedding :[0.6,0.3]</a:t>
            </a:r>
            <a:endParaRPr lang="en-US" altLang="en-US"/>
          </a:p>
          <a:p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Step 2: Compute Hidden Layer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Average the embeddings. h= ([0.2,0.5]+[0.6,0.3])/2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Dimension 1 : (0.2+0.6)/2 = 0.4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Dimension 2 : (0.5+0.3)/2 =0.4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Hidden Layer : h=[0.4,0.4]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	​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7010400" y="1825625"/>
            <a:ext cx="5181600" cy="435165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​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3: Compute Output Scores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/>
              <a:t>Multiply : [0.4 , 0.4]×W′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Students : 0.4(0.3)+0.4(0.6)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=0.12+0.24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0.36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study : 0.4(0.4)+0.4(0.1)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=0.16+0.04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0.20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	​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	​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/>
              <a:t>machine : 0.4(0.5)+0.4(0.7)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=0.20+0.28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0.48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learning : 0.4(0.2)+0.4(0.8)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0.08+0.32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0.40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Output Scores : [0.36,0.20,0.48,0.40]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	​​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4: Softmax</a:t>
            </a:r>
            <a:endParaRPr lang="en-US" alt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Exponents</a:t>
            </a:r>
            <a:endParaRPr lang="en-US"/>
          </a:p>
        </p:txBody>
      </p:sp>
      <p:graphicFrame>
        <p:nvGraphicFramePr>
          <p:cNvPr id="6" name="Content Placeholder 5"/>
          <p:cNvGraphicFramePr/>
          <p:nvPr>
            <p:ph sz="half" idx="2"/>
          </p:nvPr>
        </p:nvGraphicFramePr>
        <p:xfrm>
          <a:off x="839788" y="2505075"/>
          <a:ext cx="5157470" cy="1866900"/>
        </p:xfrm>
        <a:graphic>
          <a:graphicData uri="http://schemas.openxmlformats.org/drawingml/2006/table">
            <a:tbl>
              <a:tblPr/>
              <a:tblGrid>
                <a:gridCol w="2578735"/>
                <a:gridCol w="2578735"/>
              </a:tblGrid>
              <a:tr h="21336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Score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</a:t>
                      </a:r>
                      <a:r>
                        <a:rPr sz="2400" b="1" i="0" baseline="300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Score</a:t>
                      </a:r>
                      <a:endParaRPr sz="2400" b="1" i="0" baseline="300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0.36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1.434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1.221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0.48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1.616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0.4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1.492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/>
              <a:t>Probabilities</a:t>
            </a:r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641350" y="4706620"/>
            <a:ext cx="5355590" cy="366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Summation : 1.434+1.221+1.616+1.492=5.763</a:t>
            </a:r>
            <a:endParaRPr lang="en-US" altLang="en-US"/>
          </a:p>
        </p:txBody>
      </p:sp>
      <p:graphicFrame>
        <p:nvGraphicFramePr>
          <p:cNvPr id="12" name="Content Placeholder 11"/>
          <p:cNvGraphicFramePr/>
          <p:nvPr>
            <p:ph sz="quarter" idx="4"/>
          </p:nvPr>
        </p:nvGraphicFramePr>
        <p:xfrm>
          <a:off x="6172200" y="2505075"/>
          <a:ext cx="5182870" cy="2560320"/>
        </p:xfrm>
        <a:graphic>
          <a:graphicData uri="http://schemas.openxmlformats.org/drawingml/2006/table">
            <a:tbl>
              <a:tblPr/>
              <a:tblGrid>
                <a:gridCol w="2591435"/>
                <a:gridCol w="2591435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Probability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1.434/5.763 =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0.249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1.221/5.763 =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0.212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1.616/5.763 =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0.280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1.492/5.763 = </a:t>
                      </a:r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0.259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 Box 12"/>
          <p:cNvSpPr txBox="1"/>
          <p:nvPr/>
        </p:nvSpPr>
        <p:spPr>
          <a:xfrm>
            <a:off x="6172200" y="5337175"/>
            <a:ext cx="5182235" cy="1588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Since the highest probability is machine, the prediction is incorrect. During training, backpropagation updates the weights so that the probability of study increases.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/>
              <a:t>PART B – Skip-Gram</a:t>
            </a:r>
            <a:endParaRPr lang="en-US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Definition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Skip-Gram is a Word2Vec architecture that predicts the surrounding context words within a specified window size using the target (center) word as input.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Step 1: Generate Training Samples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5000"/>
          </a:bodyPr>
          <a:p>
            <a:pPr marL="0" indent="0">
              <a:buNone/>
            </a:pPr>
            <a:r>
              <a:rPr lang="en-US" altLang="en-US"/>
              <a:t>Target = study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Context words</a:t>
            </a:r>
            <a:endParaRPr lang="en-US" altLang="en-US"/>
          </a:p>
          <a:p>
            <a:r>
              <a:rPr lang="en-US" altLang="en-US"/>
              <a:t>Students</a:t>
            </a:r>
            <a:endParaRPr lang="en-US" altLang="en-US"/>
          </a:p>
          <a:p>
            <a:r>
              <a:rPr lang="en-US" altLang="en-US"/>
              <a:t>machine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Training pairs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Input	Output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study	Students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study	machine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>
                <a:sym typeface="+mn-ea"/>
              </a:rPr>
              <a:t>Target = machine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Context</a:t>
            </a:r>
            <a:endParaRPr lang="en-US" altLang="en-US"/>
          </a:p>
          <a:p>
            <a:r>
              <a:rPr lang="en-US" altLang="en-US">
                <a:sym typeface="+mn-ea"/>
              </a:rPr>
              <a:t>study</a:t>
            </a:r>
            <a:endParaRPr lang="en-US" altLang="en-US"/>
          </a:p>
          <a:p>
            <a:r>
              <a:rPr lang="en-US" altLang="en-US">
                <a:sym typeface="+mn-ea"/>
              </a:rPr>
              <a:t>learning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Training pairs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Input		Output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machine	study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machine	learning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Solve Training Pair 1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Input : study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One-hot : [0100]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Step 2: Hidden Layer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Embedding of study : [0.4,0.8]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	​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5000"/>
          </a:bodyPr>
          <a:p>
            <a:pPr marL="0" indent="0">
              <a:buNone/>
            </a:pPr>
            <a:r>
              <a:rPr lang="en-US" altLang="en-US"/>
              <a:t>Step 3: Compute Output Scores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Multiply : [0.4, 0.8]×W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Students : 0.4(0.3)+0.8(0.6)=0.12+0.48= 0.60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study  : 0.4(0.4)+0.8(0.1)=0.16+0.08= 0.24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machine : 0.4(0.5)+0.8(0.7)=0.20+0.56= 0.76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learning : 0.4(0.2)+0.8(0.8)=0.08+0.64= 0.72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Output Scores :  [0.60,0.24,0.76,0.72]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4: Softmax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Exponentials</a:t>
            </a:r>
            <a:endParaRPr lang="en-US" altLang="en-US"/>
          </a:p>
        </p:txBody>
      </p:sp>
      <p:graphicFrame>
        <p:nvGraphicFramePr>
          <p:cNvPr id="9" name="Content Placeholder 8"/>
          <p:cNvGraphicFramePr/>
          <p:nvPr>
            <p:ph sz="half" idx="2"/>
          </p:nvPr>
        </p:nvGraphicFramePr>
        <p:xfrm>
          <a:off x="839788" y="2505075"/>
          <a:ext cx="5157470" cy="2560320"/>
        </p:xfrm>
        <a:graphic>
          <a:graphicData uri="http://schemas.openxmlformats.org/drawingml/2006/table">
            <a:tbl>
              <a:tblPr/>
              <a:tblGrid>
                <a:gridCol w="2578735"/>
                <a:gridCol w="2578735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Score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</a:t>
                      </a:r>
                      <a:r>
                        <a:rPr sz="1800" b="1" i="0" baseline="300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Score</a:t>
                      </a:r>
                      <a:endParaRPr sz="1800" b="1" i="0" baseline="300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0.6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1.822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0.24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1.271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0.76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2.139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0.72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2.054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/>
              <a:t>Final Probabilities</a:t>
            </a:r>
            <a:endParaRPr lang="en-US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1046480" y="52920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Sum: 1.822+1.271+2.139+2.054=7.286</a:t>
            </a:r>
            <a:endParaRPr lang="en-US" altLang="en-US"/>
          </a:p>
        </p:txBody>
      </p:sp>
      <p:graphicFrame>
        <p:nvGraphicFramePr>
          <p:cNvPr id="12" name="Content Placeholder 11"/>
          <p:cNvGraphicFramePr/>
          <p:nvPr>
            <p:ph sz="quarter" idx="4"/>
          </p:nvPr>
        </p:nvGraphicFramePr>
        <p:xfrm>
          <a:off x="6172200" y="2505075"/>
          <a:ext cx="5182870" cy="2560320"/>
        </p:xfrm>
        <a:graphic>
          <a:graphicData uri="http://schemas.openxmlformats.org/drawingml/2006/table">
            <a:tbl>
              <a:tblPr/>
              <a:tblGrid>
                <a:gridCol w="2591435"/>
                <a:gridCol w="2591435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Probability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Students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1.822/7.286 = </a:t>
                      </a:r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0.250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study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1.271/7.286 = </a:t>
                      </a:r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0.174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2.139/7.286 = </a:t>
                      </a:r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0.294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2.054/7.286 = </a:t>
                      </a:r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0.282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 Box 12"/>
          <p:cNvSpPr txBox="1"/>
          <p:nvPr/>
        </p:nvSpPr>
        <p:spPr>
          <a:xfrm>
            <a:off x="4831080" y="5145405"/>
            <a:ext cx="65239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The expected output for this training pair is: study → Students</a:t>
            </a:r>
            <a:endParaRPr lang="en-US" altLang="en-US"/>
          </a:p>
          <a:p>
            <a:r>
              <a:rPr lang="en-US" altLang="en-US"/>
              <a:t>The model updates the weights to increase the probability of Students. A second training update is then performed for: study → machine. Similarly, additional updates are carried out for:</a:t>
            </a:r>
            <a:endParaRPr lang="en-US" altLang="en-US"/>
          </a:p>
          <a:p>
            <a:r>
              <a:rPr lang="en-US" altLang="en-US"/>
              <a:t>machine → study</a:t>
            </a:r>
            <a:endParaRPr lang="en-US" altLang="en-US"/>
          </a:p>
          <a:p>
            <a:r>
              <a:rPr lang="en-US" altLang="en-US"/>
              <a:t>machine → learning</a:t>
            </a: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To Do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Birds eat worms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Assume the following: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Window Size = 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Embedding Dimension = 2</a:t>
            </a:r>
            <a:endParaRPr lang="en-US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/>
              <a:t>Answer the following: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Construct the CBOW training pair.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Compute the hidden layer vector.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Compute the output scores.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Compute the Softmax probabilities.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Construct the Skip-Gram training pairs.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Compute the hidden layer for Skip-Gram.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Compute the output scores and probabilities.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Given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Input Weight Matrix (W)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Word	Dimension 1	Dimension 2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Birds		0.2	0.5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eat		0.4	0.7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worms	0.6	0.1</a:t>
            </a:r>
            <a:endParaRPr lang="en-US" alt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/>
              <a:t>Output Weight Matrix (W')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/>
                  <a:t>W=[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mPr>
                      <m:m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5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6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8</m:t>
                          </m:r>
                        </m:e>
                      </m:mr>
                    </m:m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]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8" name="Content Placeholder 7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1"/>
                <a:stretch>
                  <a:fillRect r="6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Answer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Predicted Output : CBOW</a:t>
            </a:r>
            <a:endParaRPr lang="en-US"/>
          </a:p>
        </p:txBody>
      </p:sp>
      <p:graphicFrame>
        <p:nvGraphicFramePr>
          <p:cNvPr id="14" name="Content Placeholder 13"/>
          <p:cNvGraphicFramePr/>
          <p:nvPr>
            <p:ph sz="half" idx="2"/>
          </p:nvPr>
        </p:nvGraphicFramePr>
        <p:xfrm>
          <a:off x="840105" y="2505075"/>
          <a:ext cx="4370070" cy="2165985"/>
        </p:xfrm>
        <a:graphic>
          <a:graphicData uri="http://schemas.openxmlformats.org/drawingml/2006/table">
            <a:tbl>
              <a:tblPr/>
              <a:tblGrid>
                <a:gridCol w="2185035"/>
                <a:gridCol w="2185035"/>
              </a:tblGrid>
              <a:tr h="78867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Probability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70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Birds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0.329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862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eat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0.336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99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worms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0.336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/>
              <a:t>Skip- gram</a:t>
            </a:r>
            <a:endParaRPr lang="en-US"/>
          </a:p>
        </p:txBody>
      </p:sp>
      <p:graphicFrame>
        <p:nvGraphicFramePr>
          <p:cNvPr id="11" name="Content Placeholder 10"/>
          <p:cNvGraphicFramePr/>
          <p:nvPr>
            <p:ph sz="quarter" idx="4"/>
          </p:nvPr>
        </p:nvGraphicFramePr>
        <p:xfrm>
          <a:off x="6172200" y="2505075"/>
          <a:ext cx="5182870" cy="914400"/>
        </p:xfrm>
        <a:graphic>
          <a:graphicData uri="http://schemas.openxmlformats.org/drawingml/2006/table">
            <a:tbl>
              <a:tblPr/>
              <a:tblGrid>
                <a:gridCol w="2591435"/>
                <a:gridCol w="2591435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Probability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Birds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0.328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eat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0.309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worms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0.363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 Box 11"/>
          <p:cNvSpPr txBox="1"/>
          <p:nvPr/>
        </p:nvSpPr>
        <p:spPr>
          <a:xfrm>
            <a:off x="6172835" y="4267835"/>
            <a:ext cx="5182870" cy="1367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During training, the embedding of eat is updated so that it becomes closer to the embeddings of Birds and worms, as these words frequently occur together.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87*210"/>
  <p:tag name="TABLE_ENDDRAG_RECT" val="66*197*287*21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5185</Words>
  <Application>WPS Presentation</Application>
  <PresentationFormat>Widescreen</PresentationFormat>
  <Paragraphs>422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Calibri</vt:lpstr>
      <vt:lpstr>Cambria Math</vt:lpstr>
      <vt:lpstr>Office Theme</vt:lpstr>
      <vt:lpstr>Word2Vec</vt:lpstr>
      <vt:lpstr>PowerPoint 演示文稿</vt:lpstr>
      <vt:lpstr>PowerPoint 演示文稿</vt:lpstr>
      <vt:lpstr>Corpus: “Students study machine learning”</vt:lpstr>
      <vt:lpstr>Corpus: “Students study machine learning”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vinodha priya</cp:lastModifiedBy>
  <cp:revision>14</cp:revision>
  <dcterms:created xsi:type="dcterms:W3CDTF">2025-07-23T00:59:00Z</dcterms:created>
  <dcterms:modified xsi:type="dcterms:W3CDTF">2026-07-28T09:40:25Z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1575A297D37F4AD6BBB05FD6E7311F69_11</vt:lpwstr>
  </property>
  <property fmtid="{D5CDD505-2E9C-101B-9397-08002B2CF9AE}" pid="3" name="KSOProductBuildVer">
    <vt:lpwstr>1033-12.1.0.27458</vt:lpwstr>
  </property>
</Properties>
</file>