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2" r:id="rId20"/>
    <p:sldId id="273" r:id="rId21"/>
    <p:sldId id="275" r:id="rId22"/>
    <p:sldId id="276" r:id="rId23"/>
    <p:sldId id="277" r:id="rId24"/>
    <p:sldId id="278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6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.wmf"/><Relationship Id="rId3" Type="http://schemas.openxmlformats.org/officeDocument/2006/relationships/oleObject" Target="../embeddings/oleObject1.bin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94.xml"/><Relationship Id="rId7" Type="http://schemas.openxmlformats.org/officeDocument/2006/relationships/image" Target="../media/image3.wmf"/><Relationship Id="rId6" Type="http://schemas.openxmlformats.org/officeDocument/2006/relationships/oleObject" Target="../embeddings/oleObject3.bin"/><Relationship Id="rId5" Type="http://schemas.openxmlformats.org/officeDocument/2006/relationships/tags" Target="../tags/tag93.xml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tags" Target="../tags/tag92.xml"/><Relationship Id="rId10" Type="http://schemas.openxmlformats.org/officeDocument/2006/relationships/vmlDrawing" Target="../drawings/vmlDrawing2.vml"/><Relationship Id="rId1" Type="http://schemas.openxmlformats.org/officeDocument/2006/relationships/tags" Target="../tags/tag9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5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tags" Target="../tags/tag1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.vml"/><Relationship Id="rId7" Type="http://schemas.openxmlformats.org/officeDocument/2006/relationships/slideLayout" Target="../slideLayouts/slideLayout4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image" Target="../media/image4.wmf"/><Relationship Id="rId3" Type="http://schemas.openxmlformats.org/officeDocument/2006/relationships/oleObject" Target="../embeddings/oleObject4.bin"/><Relationship Id="rId2" Type="http://schemas.openxmlformats.org/officeDocument/2006/relationships/tags" Target="../tags/tag120.xml"/><Relationship Id="rId1" Type="http://schemas.openxmlformats.org/officeDocument/2006/relationships/tags" Target="../tags/tag119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38.xml"/><Relationship Id="rId7" Type="http://schemas.openxmlformats.org/officeDocument/2006/relationships/image" Target="../media/image6.wmf"/><Relationship Id="rId6" Type="http://schemas.openxmlformats.org/officeDocument/2006/relationships/oleObject" Target="../embeddings/oleObject5.bin"/><Relationship Id="rId5" Type="http://schemas.openxmlformats.org/officeDocument/2006/relationships/tags" Target="../tags/tag137.xml"/><Relationship Id="rId4" Type="http://schemas.openxmlformats.org/officeDocument/2006/relationships/image" Target="../media/image5.png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0" Type="http://schemas.openxmlformats.org/officeDocument/2006/relationships/vmlDrawing" Target="../drawings/vmlDrawing4.vml"/><Relationship Id="rId1" Type="http://schemas.openxmlformats.org/officeDocument/2006/relationships/tags" Target="../tags/tag134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45.xml"/><Relationship Id="rId2" Type="http://schemas.openxmlformats.org/officeDocument/2006/relationships/tags" Target="../tags/tag144.xml"/><Relationship Id="rId1" Type="http://schemas.openxmlformats.org/officeDocument/2006/relationships/tags" Target="../tags/tag14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" Type="http://schemas.openxmlformats.org/officeDocument/2006/relationships/tags" Target="../tags/tag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Text Summarization </a:t>
            </a:r>
            <a:endParaRPr lang="en-US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Statistical Models with Worked Examples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Major Statistical Approaches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Statistical text summarization selects the most important information from a document using statistical features such as word frequency, TF-IDF, sentence position, sentence length, and similarity.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342900" indent="-342900">
              <a:buAutoNum type="arabicPeriod"/>
            </a:pPr>
            <a:r>
              <a:rPr lang="en-US" altLang="en-US"/>
              <a:t>Frequency-based summarization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TF-IDF-based summarization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TextRank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LexRank</a:t>
            </a:r>
            <a:endParaRPr lang="en-US" altLang="en-US"/>
          </a:p>
          <a:p>
            <a:pPr marL="342900" indent="-342900">
              <a:buAutoNum type="arabicPeriod"/>
            </a:pPr>
            <a:r>
              <a:rPr lang="en-US" altLang="en-US"/>
              <a:t>Feature-based sentence scoring</a:t>
            </a:r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1. Frequency-Based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Sentences containing more important/frequent words are more important.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S1: Machine learning is an important technology in healthcare.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S2: Machine learning helps doctors analyze patient data.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S3: Doctors use healthcare systems to store patient information.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S4: Machine learning can predict diseases from medical data.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Title 15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Step 1: Preprocessing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Remove stop words such as: is, an, in, the, to, from, can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 sentences become approximately: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15" name="Content Placeholder 1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2189480"/>
        </p:xfrm>
        <a:graphic>
          <a:graphicData uri="http://schemas.openxmlformats.org/drawingml/2006/table">
            <a:tbl>
              <a:tblPr/>
              <a:tblGrid>
                <a:gridCol w="1376045"/>
                <a:gridCol w="380047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Important words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machine, learning, important, technology, healthcare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machine, learning, helps, doctors, analyze, patient, data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420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doctors, use, healthcare, systems, store, patient, information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machine, learning, predict, diseases, medical, data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2: Word frequency</a:t>
            </a:r>
            <a:endParaRPr lang="en-US" altLang="en-US"/>
          </a:p>
        </p:txBody>
      </p:sp>
      <p:graphicFrame>
        <p:nvGraphicFramePr>
          <p:cNvPr id="6" name="Content Placeholder 5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840480"/>
        </p:xfrm>
        <a:graphic>
          <a:graphicData uri="http://schemas.openxmlformats.org/drawingml/2006/table">
            <a:tbl>
              <a:tblPr/>
              <a:tblGrid>
                <a:gridCol w="2915285"/>
                <a:gridCol w="805370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Frequency</a:t>
                      </a:r>
                      <a:endParaRPr sz="16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healthcare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doctors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patient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important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technology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helps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analyze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systems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store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information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predict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diseases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medical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6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6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3: Sentence score</a:t>
            </a:r>
            <a:endParaRPr lang="en-US" altLang="en-US"/>
          </a:p>
        </p:txBody>
      </p:sp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2"/>
            <p:custDataLst>
              <p:tags r:id="rId2"/>
            </p:custDataLst>
          </p:nvPr>
        </p:nvGraphicFramePr>
        <p:xfrm>
          <a:off x="776605" y="1899285"/>
          <a:ext cx="5641975" cy="112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1854200" imgH="368300" progId="Equation.KSEE3">
                  <p:embed/>
                </p:oleObj>
              </mc:Choice>
              <mc:Fallback>
                <p:oleObj name="" r:id="rId3" imgW="1854200" imgH="3683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6605" y="1899285"/>
                        <a:ext cx="5641975" cy="1121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08330" y="1501140"/>
            <a:ext cx="5176520" cy="33070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Calculate: 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978535" y="342265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S1 = 3+3+1+1+2=10</a:t>
            </a:r>
            <a:endParaRPr lang="en-US" altLang="en-US"/>
          </a:p>
          <a:p>
            <a:r>
              <a:rPr lang="en-US" altLang="en-US"/>
              <a:t>S2 = 3+3+1+2+1+2+2=14</a:t>
            </a:r>
            <a:endParaRPr lang="en-US" altLang="en-US"/>
          </a:p>
          <a:p>
            <a:r>
              <a:rPr lang="en-US" altLang="en-US"/>
              <a:t>S3 = 2+1+2+1+1+2+1=10</a:t>
            </a:r>
            <a:endParaRPr lang="en-US" altLang="en-US"/>
          </a:p>
          <a:p>
            <a:r>
              <a:rPr lang="en-US" altLang="en-US"/>
              <a:t>S4 = 3+3+1+1+1+2=11</a:t>
            </a:r>
            <a:endParaRPr lang="en-US" altLang="en-US"/>
          </a:p>
        </p:txBody>
      </p:sp>
      <p:graphicFrame>
        <p:nvGraphicFramePr>
          <p:cNvPr id="12" name="Table 11"/>
          <p:cNvGraphicFramePr/>
          <p:nvPr/>
        </p:nvGraphicFramePr>
        <p:xfrm>
          <a:off x="7365365" y="2334260"/>
          <a:ext cx="3282315" cy="2287270"/>
        </p:xfrm>
        <a:graphic>
          <a:graphicData uri="http://schemas.openxmlformats.org/drawingml/2006/table">
            <a:tbl>
              <a:tblPr/>
              <a:tblGrid>
                <a:gridCol w="1094105"/>
                <a:gridCol w="1094105"/>
                <a:gridCol w="1094105"/>
              </a:tblGrid>
              <a:tr h="496570"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Rank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Score</a:t>
                      </a:r>
                      <a:endParaRPr sz="18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5339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958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11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21335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6390"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8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endParaRPr sz="18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Text Box 12"/>
          <p:cNvSpPr txBox="1"/>
          <p:nvPr/>
        </p:nvSpPr>
        <p:spPr>
          <a:xfrm>
            <a:off x="608965" y="4807585"/>
            <a:ext cx="109855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Limitation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Frequency alone can select repetitive or less informative sentences because it does not consider how common a word is across the whole document.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This leads to TF-IDF-based summarization.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2. TF-IDF-Based Text Summarization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TF-IDF is one of the most useful statistical techniques for explaining extractive summarization. A word is important if it occurs frequently in a sentence/document but is not common across all documents.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Worked Example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Consider three short documents: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D1: Machine learning improves healthcare prediction.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D2: Machine learning helps doctors analyze healthcare data.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D3: Doctors use medical data for disease prediction.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Suppose we want to summarize D1.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1: Calculate Term Frequency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TF(t,d)=Number of occurrences of t​/</a:t>
            </a:r>
            <a:r>
              <a:rPr lang="en-US" altLang="en-US">
                <a:sym typeface="+mn-ea"/>
              </a:rPr>
              <a:t>Total number of words in d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D1 has 5 words: machine learning improves healthcare prediction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For the word machine: TF(machine,D1) = 1/5 =0.2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</p:txBody>
      </p:sp>
      <p:graphicFrame>
        <p:nvGraphicFramePr>
          <p:cNvPr id="4" name="Content Placeholder 3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1463040"/>
        </p:xfrm>
        <a:graphic>
          <a:graphicData uri="http://schemas.openxmlformats.org/drawingml/2006/table">
            <a:tbl>
              <a:tblPr/>
              <a:tblGrid>
                <a:gridCol w="2726055"/>
                <a:gridCol w="245046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machine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learning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improves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healthcare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prediction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2: Calculate IDF</a:t>
            </a:r>
            <a:endParaRPr lang="en-US" altLang="en-US"/>
          </a:p>
        </p:txBody>
      </p:sp>
      <p:graphicFrame>
        <p:nvGraphicFramePr>
          <p:cNvPr id="5" name="Content Placeholder 4">
            <a:hlinkClick r:id="" action="ppaction://ole?verb="/>
          </p:cNvPr>
          <p:cNvGraphicFramePr>
            <a:graphicFrameLocks noChangeAspect="1"/>
          </p:cNvGraphicFramePr>
          <p:nvPr>
            <p:ph sz="half" idx="1"/>
            <p:custDataLst>
              <p:tags r:id="rId2"/>
            </p:custDataLst>
          </p:nvPr>
        </p:nvGraphicFramePr>
        <p:xfrm>
          <a:off x="720725" y="1501140"/>
          <a:ext cx="2689860" cy="896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3" imgW="1371600" imgH="457200" progId="Equation.KSEE3">
                  <p:embed/>
                </p:oleObj>
              </mc:Choice>
              <mc:Fallback>
                <p:oleObj name="" r:id="rId3" imgW="1371600" imgH="4572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0725" y="1501140"/>
                        <a:ext cx="2689860" cy="896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Content Placeholder 6">
            <a:hlinkClick r:id="" action="ppaction://ole?verb="/>
          </p:cNvPr>
          <p:cNvGraphicFramePr>
            <a:graphicFrameLocks noChangeAspect="1"/>
          </p:cNvGraphicFramePr>
          <p:nvPr>
            <p:ph sz="half" idx="2"/>
            <p:custDataLst>
              <p:tags r:id="rId5"/>
            </p:custDataLst>
          </p:nvPr>
        </p:nvGraphicFramePr>
        <p:xfrm>
          <a:off x="2587625" y="4090670"/>
          <a:ext cx="1271270" cy="919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6" imgW="596900" imgH="431800" progId="Equation.KSEE3">
                  <p:embed/>
                </p:oleObj>
              </mc:Choice>
              <mc:Fallback>
                <p:oleObj name="" r:id="rId6" imgW="596900" imgH="431800" progId="Equation.KSEE3">
                  <p:embed/>
                  <p:pic>
                    <p:nvPicPr>
                      <p:cNvPr id="0" name="Picture 2049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87625" y="4090670"/>
                        <a:ext cx="1271270" cy="9194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608330" y="2585085"/>
            <a:ext cx="5414010" cy="2941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where:</a:t>
            </a:r>
            <a:endParaRPr lang="en-US" altLang="en-US"/>
          </a:p>
          <a:p>
            <a:r>
              <a:rPr lang="en-US" altLang="en-US"/>
              <a:t>N=3 documents</a:t>
            </a:r>
            <a:endParaRPr lang="en-US" altLang="en-US"/>
          </a:p>
          <a:p>
            <a:r>
              <a:rPr lang="en-US" altLang="en-US"/>
              <a:t>df(t) = number of documents containing the word</a:t>
            </a:r>
            <a:endParaRPr lang="en-US" altLang="en-US"/>
          </a:p>
          <a:p>
            <a:r>
              <a:rPr lang="en-US" altLang="en-US" b="1"/>
              <a:t>For machine:</a:t>
            </a:r>
            <a:endParaRPr lang="en-US" altLang="en-US" b="1"/>
          </a:p>
          <a:p>
            <a:r>
              <a:rPr lang="en-US" altLang="en-US"/>
              <a:t>Machine occurs in D1 and D2. df(machine)=2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IDF(machine) = 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IDF(machine)≈0.176</a:t>
            </a:r>
            <a:endParaRPr lang="en-US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6888480" y="1903095"/>
            <a:ext cx="4436110" cy="3503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b="1"/>
              <a:t>For improves:</a:t>
            </a:r>
            <a:endParaRPr lang="en-US" altLang="en-US" b="1"/>
          </a:p>
          <a:p>
            <a:endParaRPr lang="en-US" altLang="en-US"/>
          </a:p>
          <a:p>
            <a:r>
              <a:rPr lang="en-US" altLang="en-US"/>
              <a:t>It occurs only in D1.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df(improves)=1 IDF(improves)=log</a:t>
            </a:r>
            <a:r>
              <a:rPr lang="en-US" altLang="en-US" baseline="-25000"/>
              <a:t>10</a:t>
            </a:r>
            <a:r>
              <a:rPr lang="en-US" altLang="en-US"/>
              <a:t>(3)  IDF(improves)=0.477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Thus, improves is more discriminative than machine.</a:t>
            </a:r>
            <a:endParaRPr lang="en-US" altLang="en-US"/>
          </a:p>
        </p:txBody>
      </p: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3: Calculate TF-IDF</a:t>
            </a:r>
            <a:endParaRPr lang="en-US" alt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TFIDF(t,d)=TF(t,d)×IDF(t)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For machine: TFIDF(machine,D1) = 0.2 X 0.176 =0.0352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improves: TFIDF(improves,D1) = 0.2X 0.477 =0.0954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 summary system can calculate the TF-IDF score of the words in every sentence and then calculate the sentence score.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en-US"/>
              <a:t>3. TF-IDF Sentence Scoring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/>
              <a:t>Consider the following document: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S1: Artificial intelligence is transforming healthcare.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S2: Artificial intelligence helps doctors diagnose diseases.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S3: Hospitals use AI systems to manage patient records.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S4: AI can also predict diseases using medical data.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Suppose we want two sentences.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After preprocessing, assume the important words are: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926080"/>
        </p:xfrm>
        <a:graphic>
          <a:graphicData uri="http://schemas.openxmlformats.org/drawingml/2006/table">
            <a:tbl>
              <a:tblPr/>
              <a:tblGrid>
                <a:gridCol w="5484495"/>
                <a:gridCol w="548449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Weight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artificial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intelligence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healthcare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doctors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diagnose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diseases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hospitals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systems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patient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records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predict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medical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0.85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data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Sentence Scores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Now calculate sentence scores by summing the TF-IDF weights.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S1 :  Score(S1)=0.80+0.80+0.90  =2.50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S2 : Score(S2)=0.80+0.80+0.85+0.90+0.70 =4.05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S3 : Score(S3)=0.90+0.80+0.85+0.90 =3.45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S4 : Score(S4)=0.95+0.70+0.85+0.75 =3.25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itle 9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Final ranking and summary</a:t>
            </a:r>
            <a:endParaRPr lang="en-US"/>
          </a:p>
        </p:txBody>
      </p:sp>
      <p:sp>
        <p:nvSpPr>
          <p:cNvPr id="11" name="Text Placeholder 10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Ranking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/>
        <p:txBody>
          <a:bodyPr/>
          <a:p>
            <a:r>
              <a:rPr lang="en-US"/>
              <a:t>Extractive summary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Artificial intelligence helps doctors diagnose diseases. Hospitals use AI systems to manage patient records.</a:t>
            </a:r>
            <a:endParaRPr lang="en-US" altLang="en-US"/>
          </a:p>
        </p:txBody>
      </p:sp>
      <p:graphicFrame>
        <p:nvGraphicFramePr>
          <p:cNvPr id="9" name="Content Placeholder 8"/>
          <p:cNvGraphicFramePr/>
          <p:nvPr>
            <p:ph sz="half" idx="2"/>
            <p:custDataLst>
              <p:tags r:id="rId5"/>
            </p:custDataLst>
          </p:nvPr>
        </p:nvGraphicFramePr>
        <p:xfrm>
          <a:off x="608400" y="1854000"/>
          <a:ext cx="5343525" cy="914400"/>
        </p:xfrm>
        <a:graphic>
          <a:graphicData uri="http://schemas.openxmlformats.org/drawingml/2006/table">
            <a:tbl>
              <a:tblPr/>
              <a:tblGrid>
                <a:gridCol w="1781175"/>
                <a:gridCol w="1781175"/>
                <a:gridCol w="178117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Rank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Score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4.05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3.45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3.25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2.5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4. TextRank</a:t>
            </a:r>
            <a:endParaRPr lang="en-US" alt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TextRank is a graph-based statistical summarization method.  Instead of directly calculating the frequency of words, TextRank asks: Which sentences are most connected to other important sentences? A highly connected sentence tends to receive a higher TextRank score.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For example: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          S2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  /  \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0.7    0.6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/      \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S1 ------ S3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 0.5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Example : TextRank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/>
              <a:t>Consider four sentences: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S1: Machine learning is useful in healthcare.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S2: Machine learning helps doctors analyze medical data.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S3: Doctors use medical data to diagnose diseases.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S4: Machine learning is also used in agriculture.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Assume cosine similarity between sentences has already been calculated as: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1: Initialize scores</a:t>
            </a:r>
            <a:endParaRPr lang="en-US" altLang="en-US"/>
          </a:p>
        </p:txBody>
      </p:sp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2"/>
            <p:custDataLst>
              <p:tags r:id="rId2"/>
            </p:custDataLst>
          </p:nvPr>
        </p:nvGraphicFramePr>
        <p:xfrm>
          <a:off x="3262630" y="2573655"/>
          <a:ext cx="416623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914400" imgH="215900" progId="Equation.KSEE3">
                  <p:embed/>
                </p:oleObj>
              </mc:Choice>
              <mc:Fallback>
                <p:oleObj name="" r:id="rId3" imgW="914400" imgH="215900" progId="Equation.KSEE3">
                  <p:embed/>
                  <p:pic>
                    <p:nvPicPr>
                      <p:cNvPr id="0" name="Picture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62630" y="2573655"/>
                        <a:ext cx="4166235" cy="98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Initially: S1=S2=S3=S4=1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Damping factor d=0.85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TextRank formula: </a:t>
            </a:r>
            <a:endParaRPr lang="en-US" altLang="en-US"/>
          </a:p>
        </p:txBody>
      </p:sp>
    </p:spTree>
    <p:custDataLst>
      <p:tags r:id="rId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2: Calculate Row Sums in TextRank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sz="half" idx="1"/>
            <p:custDataLst>
              <p:tags r:id="rId2"/>
            </p:custDataLst>
          </p:nvPr>
        </p:nvGraphicFramePr>
        <p:xfrm>
          <a:off x="608400" y="1501200"/>
          <a:ext cx="5178425" cy="1668780"/>
        </p:xfrm>
        <a:graphic>
          <a:graphicData uri="http://schemas.openxmlformats.org/drawingml/2006/table">
            <a:tbl>
              <a:tblPr/>
              <a:tblGrid>
                <a:gridCol w="1035685"/>
                <a:gridCol w="1035685"/>
                <a:gridCol w="1035685"/>
                <a:gridCol w="1035685"/>
                <a:gridCol w="1035685"/>
              </a:tblGrid>
              <a:tr h="182880">
                <a:tc>
                  <a:txBody>
                    <a:bodyPr/>
                    <a:p>
                      <a:pPr algn="ctr" fontAlgn="ctr"/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–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0.5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–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–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0.5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–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832485" y="3512820"/>
            <a:ext cx="10746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en-US"/>
          </a:p>
        </p:txBody>
      </p:sp>
      <p:graphicFrame>
        <p:nvGraphicFramePr>
          <p:cNvPr id="10" name="Content Placeholder 9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914400"/>
        </p:xfrm>
        <a:graphic>
          <a:graphicData uri="http://schemas.openxmlformats.org/drawingml/2006/table">
            <a:tbl>
              <a:tblPr/>
              <a:tblGrid>
                <a:gridCol w="1147445"/>
                <a:gridCol w="2881630"/>
                <a:gridCol w="1147445"/>
              </a:tblGrid>
              <a:tr h="182880"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Similarity values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Row Sum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0.60 + 0.20 + 0.50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1.3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0.60 + 0.70 + 0.30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1.6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0.20 + 0.70 + 0.10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0.50 + 0.30 + 0.10</a:t>
                      </a:r>
                      <a:endParaRPr sz="20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t"/>
                      <a:r>
                        <a:rPr sz="20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0.9</a:t>
                      </a:r>
                      <a:endParaRPr sz="20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t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Step 3: First iteration for S1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/>
              <a:t>Contribution from S2</a:t>
            </a:r>
            <a:endParaRPr lang="en-US" altLang="en-US" b="1"/>
          </a:p>
          <a:p>
            <a:pPr marL="0" indent="0">
              <a:buNone/>
            </a:pPr>
            <a:r>
              <a:rPr lang="en-US" altLang="en-US"/>
              <a:t>Similarity between S2 and S1: w</a:t>
            </a:r>
            <a:r>
              <a:rPr lang="en-US" altLang="en-US" baseline="-25000"/>
              <a:t>21</a:t>
            </a:r>
            <a:r>
              <a:rPr lang="en-US" altLang="en-US"/>
              <a:t>=0.60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Row sum of S2: 1.60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Current score of S2: TR(S2)=1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Therefore:(0.60/1.60) X1 =0.375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sym typeface="+mn-ea"/>
              </a:rPr>
              <a:t>Contribution from S3</a:t>
            </a:r>
            <a:endParaRPr lang="en-US" altLang="en-US" b="1"/>
          </a:p>
          <a:p>
            <a:pPr marL="0" indent="0">
              <a:buNone/>
            </a:pPr>
            <a:r>
              <a:rPr lang="en-US" altLang="en-US">
                <a:sym typeface="+mn-ea"/>
              </a:rPr>
              <a:t>Similarity between S3 and S1: w</a:t>
            </a:r>
            <a:r>
              <a:rPr lang="en-US" altLang="en-US" baseline="-25000">
                <a:sym typeface="+mn-ea"/>
              </a:rPr>
              <a:t>31</a:t>
            </a:r>
            <a:r>
              <a:rPr lang="en-US" altLang="en-US">
                <a:sym typeface="+mn-ea"/>
              </a:rPr>
              <a:t>​=0.20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Row sum of S3: 1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Current score of S3: TR(S3)=1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Therefore:(0.20/1) X1 =0.20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sym typeface="+mn-ea"/>
              </a:rPr>
              <a:t>Contribution from S4</a:t>
            </a:r>
            <a:endParaRPr lang="en-US" altLang="en-US" b="1"/>
          </a:p>
          <a:p>
            <a:pPr marL="0" indent="0">
              <a:buNone/>
            </a:pPr>
            <a:r>
              <a:rPr lang="en-US" altLang="en-US">
                <a:sym typeface="+mn-ea"/>
              </a:rPr>
              <a:t>Similarity between S4 and S1: w</a:t>
            </a:r>
            <a:r>
              <a:rPr lang="en-US" altLang="en-US" baseline="-25000">
                <a:sym typeface="+mn-ea"/>
              </a:rPr>
              <a:t>41</a:t>
            </a:r>
            <a:r>
              <a:rPr lang="en-US" altLang="en-US">
                <a:sym typeface="+mn-ea"/>
              </a:rPr>
              <a:t>​=0.50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Row sum of S4:.90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Current score of S3: TR(S3)=1 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sym typeface="+mn-ea"/>
              </a:rPr>
              <a:t>Therefore:(0.50/0.90) X1 =0.556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Add the contributions: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r>
              <a:rPr lang="en-US" altLang="en-US">
                <a:sym typeface="+mn-ea"/>
              </a:rPr>
              <a:t>TR(S1)=0.15+0.85[0.375+0.20+0.556] </a:t>
            </a:r>
            <a:endParaRPr lang="en-US" altLang="en-US">
              <a:sym typeface="+mn-ea"/>
            </a:endParaRPr>
          </a:p>
          <a:p>
            <a:pPr marL="0" indent="457200">
              <a:buNone/>
            </a:pPr>
            <a:r>
              <a:rPr lang="en-US" altLang="en-US">
                <a:sym typeface="+mn-ea"/>
              </a:rPr>
              <a:t>     =1.11</a:t>
            </a: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 altLang="en-US">
              <a:sym typeface="+mn-ea"/>
            </a:endParaRPr>
          </a:p>
          <a:p>
            <a:pPr marL="0" indent="0">
              <a:buNone/>
            </a:pPr>
            <a:endParaRPr lang="en-US"/>
          </a:p>
        </p:txBody>
      </p:sp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Results after Iteration 1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914400"/>
        </p:xfrm>
        <a:graphic>
          <a:graphicData uri="http://schemas.openxmlformats.org/drawingml/2006/table">
            <a:tbl>
              <a:tblPr/>
              <a:tblGrid>
                <a:gridCol w="3122930"/>
                <a:gridCol w="7846060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TextRank Score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1.111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1.421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0.748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S4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0.722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08330" y="3738245"/>
            <a:ext cx="10968990" cy="20300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Therefore, if two sentences are required: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S2: Machine learning helps doctors analyze medical data.</a:t>
            </a:r>
            <a:endParaRPr lang="en-US" altLang="en-US"/>
          </a:p>
          <a:p>
            <a:r>
              <a:rPr lang="en-US" altLang="en-US"/>
              <a:t>S3: Doctors use medical data to diagnose diseases. 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TextRank is not simply counting words. It determines sentence importance based on the importance of neighboring sentences.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5. LexRank</a:t>
            </a:r>
            <a:endParaRPr lang="en-US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half" idx="1"/>
                <p:custDataLst>
                  <p:tags r:id="rId2"/>
                </p:custDataLst>
              </p:nvPr>
            </p:nvSpPr>
            <p:spPr/>
            <p:txBody>
              <a:bodyPr>
                <a:normAutofit lnSpcReduction="20000"/>
              </a:bodyPr>
              <a:p>
                <a:pPr marL="0" indent="0">
                  <a:buNone/>
                </a:pPr>
                <a:r>
                  <a:rPr lang="en-US" altLang="en-US"/>
                  <a:t>LexRank is another graph-based statistical method.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The main idea is similar to TextRank:</a:t>
                </a:r>
                <a:endParaRPr lang="en-US" altLang="en-US"/>
              </a:p>
              <a:p>
                <a:pPr marL="342900" indent="-342900">
                  <a:buAutoNum type="arabicPeriod"/>
                </a:pPr>
                <a:r>
                  <a:rPr lang="en-US" altLang="en-US"/>
                  <a:t>Represent each sentence as a vector.</a:t>
                </a:r>
                <a:endParaRPr lang="en-US" altLang="en-US"/>
              </a:p>
              <a:p>
                <a:pPr marL="342900" indent="-342900">
                  <a:buAutoNum type="arabicPeriod"/>
                </a:pPr>
                <a:r>
                  <a:rPr lang="en-US" altLang="en-US"/>
                  <a:t>Calculate sentence similarity.</a:t>
                </a:r>
                <a:endParaRPr lang="en-US" altLang="en-US"/>
              </a:p>
              <a:p>
                <a:pPr marL="342900" indent="-342900">
                  <a:buAutoNum type="arabicPeriod"/>
                </a:pPr>
                <a:r>
                  <a:rPr lang="en-US" altLang="en-US"/>
                  <a:t>Construct a graph.</a:t>
                </a:r>
                <a:endParaRPr lang="en-US" altLang="en-US"/>
              </a:p>
              <a:p>
                <a:pPr marL="342900" indent="-342900">
                  <a:buAutoNum type="arabicPeriod"/>
                </a:pPr>
                <a:r>
                  <a:rPr lang="en-US" altLang="en-US"/>
                  <a:t>Calculate centrality.</a:t>
                </a:r>
                <a:endParaRPr lang="en-US" altLang="en-US"/>
              </a:p>
              <a:p>
                <a:pPr marL="342900" indent="-342900">
                  <a:buAutoNum type="arabicPeriod"/>
                </a:pPr>
                <a:r>
                  <a:rPr lang="en-US" altLang="en-US"/>
                  <a:t>Select the most central sentences.</a:t>
                </a:r>
                <a:endParaRPr lang="en-US" altLang="en-US"/>
              </a:p>
              <a:p>
                <a:pPr marL="0" indent="0">
                  <a:buNone/>
                </a:pPr>
                <a:r>
                  <a:rPr lang="en-US" altLang="en-US"/>
                  <a:t>A common similarity measure is cosine similarity: Cosine(A,B)=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.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||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𝐴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|| ||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  <m:r>
                          <a:rPr lang="en-US" altLang="en-US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||</m:t>
                        </m:r>
                      </m:den>
                    </m:f>
                  </m:oMath>
                </a14:m>
                <a:r>
                  <a:rPr lang="en-US" altLang="en-US"/>
                  <a:t>​</a:t>
                </a:r>
                <a:endParaRPr lang="en-US" alt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sz="half" idx="1"/>
                <p:custDataLst>
                  <p:tags r:id="rId3"/>
                </p:custDataLst>
              </p:nvPr>
            </p:nvSpPr>
            <p:spPr>
              <a:blipFill rotWithShape="1">
                <a:blip r:embed="rId4"/>
                <a:stretch>
                  <a:fillRect l="-1" t="-1" r="7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hlinkClick r:id="" action="ppaction://ole?verb="/>
          </p:cNvPr>
          <p:cNvGraphicFramePr>
            <a:graphicFrameLocks noChangeAspect="1"/>
          </p:cNvGraphicFramePr>
          <p:nvPr>
            <p:ph sz="half" idx="2"/>
            <p:custDataLst>
              <p:tags r:id="rId5"/>
            </p:custDataLst>
          </p:nvPr>
        </p:nvGraphicFramePr>
        <p:xfrm>
          <a:off x="8542800" y="37674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6" imgW="914400" imgH="215900" progId="Equation.KSEE3">
                  <p:embed/>
                </p:oleObj>
              </mc:Choice>
              <mc:Fallback>
                <p:oleObj name="" r:id="rId6" imgW="914400" imgH="215900" progId="Equation.KSEE3">
                  <p:embed/>
                  <p:pic>
                    <p:nvPicPr>
                      <p:cNvPr id="0" name="Picture 2048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542800" y="37674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6631305" y="1501140"/>
            <a:ext cx="4839335" cy="24822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Cosine(S1,S2)=0.85</a:t>
            </a:r>
            <a:endParaRPr lang="en-US" altLang="en-US"/>
          </a:p>
          <a:p>
            <a:r>
              <a:rPr lang="en-US" altLang="en-US"/>
              <a:t>Cosine(S1,S3)=0.10</a:t>
            </a:r>
            <a:endParaRPr lang="en-US" altLang="en-US"/>
          </a:p>
          <a:p>
            <a:r>
              <a:rPr lang="en-US" altLang="en-US"/>
              <a:t>they are very different.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LexRank identifies sentences that are central to the overall document.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8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6. Feature-Based Statistical Summarization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Another statistical approach combines several sentence-level features.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Score(S)=w</a:t>
            </a:r>
            <a:r>
              <a:rPr lang="en-US" altLang="en-US" baseline="-25000"/>
              <a:t>1</a:t>
            </a:r>
            <a:r>
              <a:rPr lang="en-US" altLang="en-US"/>
              <a:t>​F</a:t>
            </a:r>
            <a:r>
              <a:rPr lang="en-US" altLang="en-US" baseline="-25000"/>
              <a:t>position</a:t>
            </a:r>
            <a:r>
              <a:rPr lang="en-US" altLang="en-US"/>
              <a:t>​+w</a:t>
            </a:r>
            <a:r>
              <a:rPr lang="en-US" altLang="en-US" baseline="-25000"/>
              <a:t>2</a:t>
            </a:r>
            <a:r>
              <a:rPr lang="en-US" altLang="en-US"/>
              <a:t>​F</a:t>
            </a:r>
            <a:r>
              <a:rPr lang="en-US" altLang="en-US" baseline="-25000"/>
              <a:t>length</a:t>
            </a:r>
            <a:r>
              <a:rPr lang="en-US" altLang="en-US"/>
              <a:t>​+w</a:t>
            </a:r>
            <a:r>
              <a:rPr lang="en-US" altLang="en-US" baseline="-25000"/>
              <a:t>3</a:t>
            </a:r>
            <a:r>
              <a:rPr lang="en-US" altLang="en-US"/>
              <a:t>​F</a:t>
            </a:r>
            <a:r>
              <a:rPr lang="en-US" altLang="en-US" baseline="-25000"/>
              <a:t>frequency</a:t>
            </a:r>
            <a:r>
              <a:rPr lang="en-US" altLang="en-US"/>
              <a:t>​+w</a:t>
            </a:r>
            <a:r>
              <a:rPr lang="en-US" altLang="en-US" baseline="-25000"/>
              <a:t>4</a:t>
            </a:r>
            <a:r>
              <a:rPr lang="en-US" altLang="en-US"/>
              <a:t>​F</a:t>
            </a:r>
            <a:r>
              <a:rPr lang="en-US" altLang="en-US" baseline="-25000"/>
              <a:t>TFIDF</a:t>
            </a:r>
            <a:r>
              <a:rPr lang="en-US" altLang="en-US"/>
              <a:t>​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5" name="Content Placeholder 4"/>
          <p:cNvGraphicFramePr/>
          <p:nvPr>
            <p:ph sz="half" idx="2"/>
            <p:custDataLst>
              <p:tags r:id="rId3"/>
            </p:custDataLst>
          </p:nvPr>
        </p:nvGraphicFramePr>
        <p:xfrm>
          <a:off x="6411600" y="1501200"/>
          <a:ext cx="5176520" cy="1097280"/>
        </p:xfrm>
        <a:graphic>
          <a:graphicData uri="http://schemas.openxmlformats.org/drawingml/2006/table">
            <a:tbl>
              <a:tblPr/>
              <a:tblGrid>
                <a:gridCol w="1473835"/>
                <a:gridCol w="3702685"/>
              </a:tblGrid>
              <a:tr h="18288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Feature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Weight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Position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 frequency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0.25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TF-IDF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0.3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Length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0.15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For sentence S1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330" y="1501140"/>
            <a:ext cx="10969625" cy="4748530"/>
          </a:xfrm>
        </p:spPr>
        <p:txBody>
          <a:bodyPr/>
          <a:p>
            <a:pPr marL="0" indent="0">
              <a:buNone/>
            </a:pPr>
            <a:r>
              <a:rPr lang="en-US" altLang="en-US"/>
              <a:t>F</a:t>
            </a:r>
            <a:r>
              <a:rPr lang="en-US" altLang="en-US" baseline="-25000"/>
              <a:t>position</a:t>
            </a:r>
            <a:r>
              <a:rPr lang="en-US" altLang="en-US"/>
              <a:t>​=0.90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</a:t>
            </a:r>
            <a:r>
              <a:rPr lang="en-US" altLang="en-US" baseline="-25000"/>
              <a:t>frequency​</a:t>
            </a:r>
            <a:r>
              <a:rPr lang="en-US" altLang="en-US"/>
              <a:t>=0.70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</a:t>
            </a:r>
            <a:r>
              <a:rPr lang="en-US" altLang="en-US" baseline="-25000"/>
              <a:t>TFIDF</a:t>
            </a:r>
            <a:r>
              <a:rPr lang="en-US" altLang="en-US"/>
              <a:t>​=0.80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F</a:t>
            </a:r>
            <a:r>
              <a:rPr lang="en-US" altLang="en-US" baseline="-25000"/>
              <a:t>length</a:t>
            </a:r>
            <a:r>
              <a:rPr lang="en-US" altLang="en-US"/>
              <a:t>​=0.60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Score(S1)=(0.30)(0.90)+(0.25)(0.70)+(0.30)(0.80)+(0.15)(0.60) </a:t>
            </a:r>
            <a:endParaRPr lang="en-US" altLang="en-US"/>
          </a:p>
          <a:p>
            <a:pPr marL="457200" lvl="1" indent="457200">
              <a:buNone/>
            </a:pPr>
            <a:r>
              <a:rPr lang="en-US" altLang="en-US"/>
              <a:t>    =0.27+0.175+0.24+0.09 </a:t>
            </a:r>
            <a:endParaRPr lang="en-US" altLang="en-US"/>
          </a:p>
          <a:p>
            <a:pPr marL="457200" lvl="1" indent="457200">
              <a:buNone/>
            </a:pPr>
            <a:r>
              <a:rPr lang="en-US" altLang="en-US"/>
              <a:t>    =0.775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Comparison of Statistical Models</a:t>
            </a:r>
            <a:endParaRPr lang="en-US" altLang="en-US"/>
          </a:p>
        </p:txBody>
      </p:sp>
      <p:graphicFrame>
        <p:nvGraphicFramePr>
          <p:cNvPr id="7" name="Content Placeholder 6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2743200"/>
        </p:xfrm>
        <a:graphic>
          <a:graphicData uri="http://schemas.openxmlformats.org/drawingml/2006/table">
            <a:tbl>
              <a:tblPr/>
              <a:tblGrid>
                <a:gridCol w="1990090"/>
                <a:gridCol w="4999355"/>
                <a:gridCol w="1989455"/>
                <a:gridCol w="1990090"/>
              </a:tblGrid>
              <a:tr h="731520"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Model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Main principle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Type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24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Important calculation</a:t>
                      </a:r>
                      <a:endParaRPr sz="24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Frequency-based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Frequent words indicate importance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Extractive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Word frequency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TF-IDF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Important/discriminative words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Extractive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TF × IDF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TextRank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 graph centrality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Extractive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PageRank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LexRank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Sentence centrality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Extractive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Cosine + eigenvector/PageRank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Feature-based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Combine multiple features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Extractive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24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Weighted score</a:t>
                      </a:r>
                      <a:endParaRPr sz="24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6993</Words>
  <Application>WPS Presentation</Application>
  <PresentationFormat>Widescreen</PresentationFormat>
  <Paragraphs>625</Paragraphs>
  <Slides>24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MS PGothic</vt:lpstr>
      <vt:lpstr>Cambria Math</vt:lpstr>
      <vt:lpstr>WPS</vt:lpstr>
      <vt:lpstr>Equation.KSEE3</vt:lpstr>
      <vt:lpstr>Equation.KSEE3</vt:lpstr>
      <vt:lpstr>Equation.KSEE3</vt:lpstr>
      <vt:lpstr>Equation.KSEE3</vt:lpstr>
      <vt:lpstr>Equation.KSEE3</vt:lpstr>
      <vt:lpstr>Text Summarization </vt:lpstr>
      <vt:lpstr>Major Statistical Approaches</vt:lpstr>
      <vt:lpstr>1. Frequency-Based Summarization</vt:lpstr>
      <vt:lpstr>PowerPoint 演示文稿</vt:lpstr>
      <vt:lpstr>Step 2: Word frequency</vt:lpstr>
      <vt:lpstr>Step 3: Sentence score</vt:lpstr>
      <vt:lpstr>2. TF-IDF-Based Text Summarization</vt:lpstr>
      <vt:lpstr>Step 1: Calculate Term Frequency</vt:lpstr>
      <vt:lpstr>Step 2: Calculate IDF</vt:lpstr>
      <vt:lpstr>Step 3: Calculate TF-IDF</vt:lpstr>
      <vt:lpstr>3. TF-IDF Sentence Scoring </vt:lpstr>
      <vt:lpstr>PowerPoint 演示文稿</vt:lpstr>
      <vt:lpstr>Sentence Scores</vt:lpstr>
      <vt:lpstr>Final ranking and summary</vt:lpstr>
      <vt:lpstr>4. TextRank</vt:lpstr>
      <vt:lpstr>Example : TextRank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 Summarization </dc:title>
  <dc:creator>priya</dc:creator>
  <cp:lastModifiedBy>vinodha priya</cp:lastModifiedBy>
  <cp:revision>6</cp:revision>
  <dcterms:created xsi:type="dcterms:W3CDTF">2026-08-26T10:53:00Z</dcterms:created>
  <dcterms:modified xsi:type="dcterms:W3CDTF">2026-08-28T08:52:34Z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56EFB28F37DD47C6A5B97470A85F8660_11</vt:lpwstr>
  </property>
</Properties>
</file>