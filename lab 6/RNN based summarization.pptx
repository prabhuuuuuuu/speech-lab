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1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81.xml"/><Relationship Id="rId5" Type="http://schemas.openxmlformats.org/officeDocument/2006/relationships/image" Target="../media/image1.png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image" Target="../media/image2.png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90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RNN-Based Text Summarization </a:t>
            </a: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Worked Example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Encoder Decoder RNN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The encoder RNN reads and understands the document, while the decoder RNN generates the summary word-by-word.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Step 1 — Tokenize the Input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Input: The university organized a technology conference.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For simplicity, consider a smaller sentence: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Students attended the technology conference</a:t>
            </a:r>
            <a:endParaRPr lang="en-US" altLang="en-US"/>
          </a:p>
        </p:txBody>
      </p:sp>
      <p:graphicFrame>
        <p:nvGraphicFramePr>
          <p:cNvPr id="5" name="Content Placeholder 4"/>
          <p:cNvGraphicFramePr/>
          <p:nvPr>
            <p:ph sz="half" idx="2"/>
            <p:custDataLst>
              <p:tags r:id="rId3"/>
            </p:custDataLst>
          </p:nvPr>
        </p:nvGraphicFramePr>
        <p:xfrm>
          <a:off x="6411600" y="1501200"/>
          <a:ext cx="5176520" cy="1463040"/>
        </p:xfrm>
        <a:graphic>
          <a:graphicData uri="http://schemas.openxmlformats.org/drawingml/2006/table">
            <a:tbl>
              <a:tblPr/>
              <a:tblGrid>
                <a:gridCol w="2588260"/>
                <a:gridCol w="2588260"/>
              </a:tblGrid>
              <a:tr h="182880"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Position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Students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attended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the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technology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conference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Step 2 — Convert Words to Vectors</a:t>
            </a:r>
            <a:endParaRPr lang="en-US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x1 = [0.5,0.2]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x2 = [0.1,0.6]</a:t>
            </a:r>
            <a:endParaRPr lang="en-US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  <p:custDataLst>
              <p:tags r:id="rId3"/>
            </p:custDataLst>
          </p:nvPr>
        </p:nvGraphicFramePr>
        <p:xfrm>
          <a:off x="608400" y="1501200"/>
          <a:ext cx="5176520" cy="1645920"/>
        </p:xfrm>
        <a:graphic>
          <a:graphicData uri="http://schemas.openxmlformats.org/drawingml/2006/table">
            <a:tbl>
              <a:tblPr/>
              <a:tblGrid>
                <a:gridCol w="2588260"/>
                <a:gridCol w="2588260"/>
              </a:tblGrid>
              <a:tr h="365760"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Embedding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Students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[0.5, 0.2]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attended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[0.1, 0.6]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the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[0.2, 0.1]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technology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[0.7, 0.8]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conference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[0.6, 0.5]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Step 3 — Encoder RNN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/>
              <a:t>The encoder processes one word at a time.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</a:t>
            </a:r>
            <a:r>
              <a:rPr lang="en-US" altLang="en-US" baseline="-25000"/>
              <a:t>t​</a:t>
            </a:r>
            <a:r>
              <a:rPr lang="en-US" altLang="en-US"/>
              <a:t>=tanh(W</a:t>
            </a:r>
            <a:r>
              <a:rPr lang="en-US" altLang="en-US" baseline="-25000"/>
              <a:t>x</a:t>
            </a:r>
            <a:r>
              <a:rPr lang="en-US" altLang="en-US"/>
              <a:t>​x</a:t>
            </a:r>
            <a:r>
              <a:rPr lang="en-US" altLang="en-US" baseline="-25000"/>
              <a:t>t​</a:t>
            </a:r>
            <a:r>
              <a:rPr lang="en-US" altLang="en-US"/>
              <a:t>+W</a:t>
            </a:r>
            <a:r>
              <a:rPr lang="en-US" altLang="en-US" baseline="-25000"/>
              <a:t>h</a:t>
            </a:r>
            <a:r>
              <a:rPr lang="en-US" altLang="en-US"/>
              <a:t>​h</a:t>
            </a:r>
            <a:r>
              <a:rPr lang="en-US" altLang="en-US" baseline="-25000"/>
              <a:t>t−1</a:t>
            </a:r>
            <a:r>
              <a:rPr lang="en-US" altLang="en-US"/>
              <a:t>​+b)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where: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x</a:t>
            </a:r>
            <a:r>
              <a:rPr lang="en-US" altLang="en-US" baseline="-25000"/>
              <a:t>t</a:t>
            </a:r>
            <a:r>
              <a:rPr lang="en-US" altLang="en-US"/>
              <a:t> = current word vector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</a:t>
            </a:r>
            <a:r>
              <a:rPr lang="en-US" altLang="en-US" baseline="-25000"/>
              <a:t>t</a:t>
            </a:r>
            <a:r>
              <a:rPr lang="en-US" altLang="en-US"/>
              <a:t> = current hidden state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</a:t>
            </a:r>
            <a:r>
              <a:rPr lang="en-US" altLang="en-US" baseline="-25000"/>
              <a:t>t-1</a:t>
            </a:r>
            <a:r>
              <a:rPr lang="en-US" altLang="en-US"/>
              <a:t> = previous hidden state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</a:t>
            </a:r>
            <a:r>
              <a:rPr lang="en-US" altLang="en-US" baseline="-25000"/>
              <a:t>x</a:t>
            </a:r>
            <a:r>
              <a:rPr lang="en-US" altLang="en-US"/>
              <a:t> = input weight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</a:t>
            </a:r>
            <a:r>
              <a:rPr lang="en-US" altLang="en-US" baseline="-25000"/>
              <a:t>h</a:t>
            </a:r>
            <a:r>
              <a:rPr lang="en-US" altLang="en-US"/>
              <a:t> = recurrent weight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b = bias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  <p:custDataLst>
                  <p:tags r:id="rId3"/>
                </p:custDataLst>
              </p:nvPr>
            </p:nvSpPr>
            <p:spPr/>
            <p:txBody>
              <a:bodyPr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𝑤</m:t>
                      </m:r>
                      <m:r>
                        <a:rPr lang="en-US" altLang="en-US" i="1" baseline="-25000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 =</m:t>
                      </m:r>
                      <m:d>
                        <m:dPr>
                          <m:ctrlP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.</m:t>
                                </m:r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.</m:t>
                                </m:r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.</m:t>
                                </m:r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.</m:t>
                                </m:r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𝑤</m:t>
                      </m:r>
                      <m:r>
                        <a:rPr lang="en-US" altLang="en-US" i="1" baseline="-25000">
                          <a:latin typeface="Cambria Math" panose="02040503050406030204" charset="0"/>
                          <a:cs typeface="Cambria Math" panose="02040503050406030204" charset="0"/>
                        </a:rPr>
                        <m:t>ℎ</m:t>
                      </m:r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ctrlP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.</m:t>
                                </m:r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.</m:t>
                                </m:r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.</m:t>
                                </m:r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.</m:t>
                                </m:r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ℎ</m:t>
                      </m:r>
                      <m:r>
                        <a:rPr lang="en-US" altLang="en-US" i="1" baseline="-25000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ctrlP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  <p:custDataLst>
                  <p:tags r:id="rId4"/>
                </p:custDataLst>
              </p:nvPr>
            </p:nvSpPr>
            <p:spPr>
              <a:blipFill rotWithShape="1">
                <a:blip r:embed="rId5"/>
                <a:stretch>
                  <a:fillRect t="-1" r="6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Step 4 — Calculate First Hidden State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  <p:custDataLst>
                  <p:tags r:id="rId2"/>
                </p:custDataLst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en-US"/>
                  <a:t>x1=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 </a:t>
                </a:r>
                <a:endParaRPr lang="en-US"/>
              </a:p>
              <a:p>
                <a:pPr marL="0" indent="0">
                  <a:buNone/>
                </a:pPr>
                <a:r>
                  <a:rPr lang="en-US"/>
                  <a:t>h</a:t>
                </a:r>
                <a:r>
                  <a:rPr lang="en-US" baseline="-25000"/>
                  <a:t>0</a:t>
                </a:r>
                <a:r>
                  <a:rPr lang="en-US"/>
                  <a:t>= [0,0]</a:t>
                </a:r>
                <a:endParaRPr lang="en-US"/>
              </a:p>
              <a:p>
                <a:pPr marL="0" indent="0">
                  <a:buNone/>
                </a:pPr>
                <a:r>
                  <a:rPr lang="en-US" altLang="en-US"/>
                  <a:t>h</a:t>
                </a:r>
                <a:r>
                  <a:rPr lang="en-US" altLang="en-US" baseline="-25000"/>
                  <a:t>1</a:t>
                </a:r>
                <a:r>
                  <a:rPr lang="en-US" altLang="en-US"/>
                  <a:t>​=tanh(W</a:t>
                </a:r>
                <a:r>
                  <a:rPr lang="en-US" altLang="en-US" baseline="-25000"/>
                  <a:t>x</a:t>
                </a:r>
                <a:r>
                  <a:rPr lang="en-US" altLang="en-US"/>
                  <a:t>​x</a:t>
                </a:r>
                <a:r>
                  <a:rPr lang="en-US" altLang="en-US" baseline="-25000"/>
                  <a:t>1</a:t>
                </a:r>
                <a:r>
                  <a:rPr lang="en-US" altLang="en-US"/>
                  <a:t>​)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w</a:t>
                </a:r>
                <a:r>
                  <a:rPr lang="en-US" altLang="en-US" baseline="-25000"/>
                  <a:t>x</a:t>
                </a:r>
                <a:r>
                  <a:rPr lang="en-US" altLang="en-US"/>
                  <a:t>x</a:t>
                </a:r>
                <a:r>
                  <a:rPr lang="en-US" altLang="en-US" baseline="-25000"/>
                  <a:t>1</a:t>
                </a:r>
                <a:r>
                  <a:rPr lang="en-US" altLang="en-US"/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/>
                  <a:t>  </a:t>
                </a:r>
                <a:endParaRPr lang="en-US" altLang="en-US"/>
              </a:p>
              <a:p>
                <a:pPr marL="0" indent="0">
                  <a:buNone/>
                </a:pP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1st: (0.5)(0.5)+(0.1)(0.2)=0.25+0.02=0.27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2nd:(0.2)(0.5)+(0.4)(0.2)=0.10+0.08=0.18</a:t>
                </a:r>
                <a:endParaRPr lang="en-US" altLang="en-US"/>
              </a:p>
              <a:p>
                <a:pPr marL="0" indent="0">
                  <a:buNone/>
                </a:pPr>
                <a:endParaRPr lang="en-US" alt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  <p:custDataLst>
                  <p:tags r:id="rId3"/>
                </p:custDataLst>
              </p:nvPr>
            </p:nvSpPr>
            <p:spPr>
              <a:blipFill rotWithShape="1">
                <a:blip r:embed="rId4"/>
                <a:stretch>
                  <a:fillRect l="-1" t="-1" r="7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tanh(0.27)≈0.263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tanh(0.18)≈0.178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h1​=[0.263,0.178]</a:t>
            </a:r>
            <a:endParaRPr lang="en-US" altLang="en-US"/>
          </a:p>
        </p:txBody>
      </p:sp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Step 5 — Process the Second Word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en-US" altLang="en-US"/>
                  <a:t>The second word is: attended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x2​=[0.1,0.6]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W</a:t>
                </a:r>
                <a:r>
                  <a:rPr lang="en-US" altLang="en-US" baseline="-25000"/>
                  <a:t>x​</a:t>
                </a:r>
                <a:r>
                  <a:rPr lang="en-US" altLang="en-US"/>
                  <a:t>x</a:t>
                </a:r>
                <a:r>
                  <a:rPr lang="en-US" altLang="en-US" baseline="-25000"/>
                  <a:t>2​</a:t>
                </a:r>
                <a:r>
                  <a:rPr lang="en-US" altLang="en-US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/>
                  <a:t> = </a:t>
                </a:r>
                <a:endParaRPr lang="en-US" altLang="en-US"/>
              </a:p>
              <a:p>
                <a:pPr marL="0" indent="0">
                  <a:buNone/>
                </a:pPr>
                <a:endParaRPr lang="en-US" altLang="en-US"/>
              </a:p>
              <a:p>
                <a:pPr marL="0" indent="0">
                  <a:buNone/>
                </a:pP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W</a:t>
                </a:r>
                <a:r>
                  <a:rPr lang="en-US" altLang="en-US" baseline="-25000"/>
                  <a:t>x</a:t>
                </a:r>
                <a:r>
                  <a:rPr lang="en-US" altLang="en-US"/>
                  <a:t>​x</a:t>
                </a:r>
                <a:r>
                  <a:rPr lang="en-US" altLang="en-US" baseline="-25000"/>
                  <a:t>2</a:t>
                </a:r>
                <a:r>
                  <a:rPr lang="en-US" altLang="en-US"/>
                  <a:t>​+W</a:t>
                </a:r>
                <a:r>
                  <a:rPr lang="en-US" altLang="en-US" baseline="-25000"/>
                  <a:t>h</a:t>
                </a:r>
                <a:r>
                  <a:rPr lang="en-US" altLang="en-US"/>
                  <a:t>​h</a:t>
                </a:r>
                <a:r>
                  <a:rPr lang="en-US" altLang="en-US" baseline="-25000"/>
                  <a:t>1</a:t>
                </a:r>
                <a:r>
                  <a:rPr lang="en-US" altLang="en-US"/>
                  <a:t>​=</a:t>
                </a: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.</m:t>
                                </m:r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221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.</m:t>
                                </m:r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3397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r>
                  <a:rPr lang="en-US" altLang="en-US">
                    <a:sym typeface="+mn-ea"/>
                  </a:rPr>
                  <a:t> </a:t>
                </a:r>
                <a:endParaRPr lang="en-US" alt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3"/>
                </p:custDataLst>
              </p:nvPr>
            </p:nvSpPr>
            <p:spPr>
              <a:blipFill rotWithShape="1">
                <a:blip r:embed="rId4"/>
                <a:stretch>
                  <a:fillRect l="-1" t="-1" r="3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4"/>
              <p:cNvSpPr txBox="1"/>
              <p:nvPr/>
            </p:nvSpPr>
            <p:spPr>
              <a:xfrm>
                <a:off x="3540379" y="2645981"/>
                <a:ext cx="775335" cy="54800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379" y="2645981"/>
                <a:ext cx="775335" cy="548005"/>
              </a:xfrm>
              <a:prstGeom prst="rect">
                <a:avLst/>
              </a:prstGeom>
              <a:blipFill rotWithShape="1">
                <a:blip r:embed="rId5"/>
                <a:stretch>
                  <a:fillRect l="-33" t="-104" r="33" b="10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Box 5"/>
              <p:cNvSpPr txBox="1"/>
              <p:nvPr/>
            </p:nvSpPr>
            <p:spPr>
              <a:xfrm>
                <a:off x="765175" y="3301365"/>
                <a:ext cx="4196080" cy="62293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en-US"/>
                  <a:t>W</a:t>
                </a:r>
                <a:r>
                  <a:rPr lang="en-US" altLang="en-US" baseline="-25000"/>
                  <a:t>h​</a:t>
                </a:r>
                <a:r>
                  <a:rPr lang="en-US" altLang="en-US"/>
                  <a:t>h</a:t>
                </a:r>
                <a:r>
                  <a:rPr lang="en-US" altLang="en-US" baseline="-25000"/>
                  <a:t>1​</a:t>
                </a:r>
                <a:r>
                  <a:rPr lang="en-US" altLang="en-US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263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178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>
                    <a:sym typeface="+mn-ea"/>
                  </a:rPr>
                  <a:t> = </a:t>
                </a:r>
                <a:endParaRPr lang="en-US" altLang="en-US"/>
              </a:p>
              <a:p>
                <a:endParaRPr lang="en-US"/>
              </a:p>
            </p:txBody>
          </p:sp>
        </mc:Choice>
        <mc:Fallback>
          <p:sp>
            <p:nvSpPr>
              <p:cNvPr id="6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175" y="3301365"/>
                <a:ext cx="4196080" cy="622935"/>
              </a:xfrm>
              <a:prstGeom prst="rect">
                <a:avLst/>
              </a:prstGeom>
              <a:blipFill rotWithShape="1">
                <a:blip r:embed="rId6"/>
                <a:stretch>
                  <a:fillRect b="-2405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Box 6"/>
              <p:cNvSpPr txBox="1"/>
              <p:nvPr/>
            </p:nvSpPr>
            <p:spPr>
              <a:xfrm>
                <a:off x="3667379" y="3301301"/>
                <a:ext cx="1028065" cy="54800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1144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0797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379" y="3301301"/>
                <a:ext cx="1028065" cy="548005"/>
              </a:xfrm>
              <a:prstGeom prst="rect">
                <a:avLst/>
              </a:prstGeom>
              <a:blipFill rotWithShape="1">
                <a:blip r:embed="rId7"/>
                <a:stretch>
                  <a:fillRect l="-25" t="-104" r="25" b="10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8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Encoder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Entire document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x</a:t>
            </a:r>
            <a:r>
              <a:rPr lang="en-US" altLang="en-US" baseline="-25000"/>
              <a:t>1</a:t>
            </a:r>
            <a:r>
              <a:rPr lang="en-US" altLang="en-US"/>
              <a:t>→h</a:t>
            </a:r>
            <a:r>
              <a:rPr lang="en-US" altLang="en-US" baseline="-25000"/>
              <a:t>1	​</a:t>
            </a:r>
            <a:endParaRPr lang="en-US" altLang="en-US" baseline="-250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x</a:t>
            </a:r>
            <a:r>
              <a:rPr lang="en-US" altLang="en-US" baseline="-25000">
                <a:sym typeface="+mn-ea"/>
              </a:rPr>
              <a:t>2</a:t>
            </a:r>
            <a:r>
              <a:rPr lang="en-US" altLang="en-US">
                <a:sym typeface="+mn-ea"/>
              </a:rPr>
              <a:t>→h</a:t>
            </a:r>
            <a:r>
              <a:rPr lang="en-US" altLang="en-US" baseline="-25000">
                <a:sym typeface="+mn-ea"/>
              </a:rPr>
              <a:t>2	​</a:t>
            </a:r>
            <a:endParaRPr lang="en-US" altLang="en-US" baseline="-250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x</a:t>
            </a:r>
            <a:r>
              <a:rPr lang="en-US" altLang="en-US" baseline="-25000">
                <a:sym typeface="+mn-ea"/>
              </a:rPr>
              <a:t>3</a:t>
            </a:r>
            <a:r>
              <a:rPr lang="en-US" altLang="en-US">
                <a:sym typeface="+mn-ea"/>
              </a:rPr>
              <a:t>→h</a:t>
            </a:r>
            <a:r>
              <a:rPr lang="en-US" altLang="en-US" baseline="-25000">
                <a:sym typeface="+mn-ea"/>
              </a:rPr>
              <a:t>3	​</a:t>
            </a:r>
            <a:endParaRPr lang="en-US" altLang="en-US" baseline="-250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x</a:t>
            </a:r>
            <a:r>
              <a:rPr lang="en-US" altLang="en-US" baseline="-25000">
                <a:sym typeface="+mn-ea"/>
              </a:rPr>
              <a:t>4</a:t>
            </a:r>
            <a:r>
              <a:rPr lang="en-US" altLang="en-US">
                <a:sym typeface="+mn-ea"/>
              </a:rPr>
              <a:t>→h</a:t>
            </a:r>
            <a:r>
              <a:rPr lang="en-US" altLang="en-US" baseline="-25000">
                <a:sym typeface="+mn-ea"/>
              </a:rPr>
              <a:t>4	​</a:t>
            </a:r>
            <a:endParaRPr lang="en-US" altLang="en-US" baseline="-250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x</a:t>
            </a:r>
            <a:r>
              <a:rPr lang="en-US" altLang="en-US" baseline="-25000">
                <a:sym typeface="+mn-ea"/>
              </a:rPr>
              <a:t>5</a:t>
            </a:r>
            <a:r>
              <a:rPr lang="en-US" altLang="en-US">
                <a:sym typeface="+mn-ea"/>
              </a:rPr>
              <a:t>→h</a:t>
            </a:r>
            <a:r>
              <a:rPr lang="en-US" altLang="en-US" baseline="-25000">
                <a:sym typeface="+mn-ea"/>
              </a:rPr>
              <a:t>5	​</a:t>
            </a:r>
            <a:endParaRPr lang="en-US" altLang="en-US" baseline="-25000"/>
          </a:p>
          <a:p>
            <a:pPr marL="0" indent="0">
              <a:buNone/>
            </a:pPr>
            <a:endParaRPr lang="en-US" altLang="en-US" baseline="-2500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en-US"/>
              <a:t>Conceptually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Students attended the technology conference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↓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Encoder RNN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↓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</a:t>
            </a:r>
            <a:r>
              <a:rPr lang="en-US" altLang="en-US" baseline="-25000"/>
              <a:t>5 </a:t>
            </a:r>
            <a:r>
              <a:rPr lang="en-US" altLang="en-US"/>
              <a:t>=meaning/context of the sentence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	​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Decoder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generates the summary one word at a time</a:t>
            </a:r>
            <a:endParaRPr lang="en-US" altLang="en-US"/>
          </a:p>
          <a:p>
            <a:r>
              <a:rPr lang="en-US" altLang="en-US"/>
              <a:t>Special tokens: &lt;START&gt; Students learned about technology &lt;END&gt;</a:t>
            </a:r>
            <a:endParaRPr lang="en-US" altLang="en-US"/>
          </a:p>
          <a:p>
            <a:r>
              <a:rPr lang="en-US" altLang="en-US"/>
              <a:t>The decoder receives: &lt;START&gt;  and predicts: Students</a:t>
            </a:r>
            <a:endParaRPr lang="en-US" altLang="en-US"/>
          </a:p>
          <a:p>
            <a:r>
              <a:rPr lang="en-US" altLang="en-US"/>
              <a:t>Then it receives Students and predicts: learned</a:t>
            </a:r>
            <a:endParaRPr lang="en-US" altLang="en-US"/>
          </a:p>
          <a:p>
            <a:r>
              <a:rPr lang="en-US" altLang="en-US"/>
              <a:t>Then: learned -&gt; about and so on.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Predicting the First Summary Word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Decoder starts with: &lt;START&gt;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decoder uses the encoder's context vector.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Suppose the output vocabulary is: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V={Students,attended,technology,conference,learned,about,new}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Assume the decoder produces the following probability distribution:</a:t>
            </a:r>
            <a:endParaRPr lang="en-US" altLang="en-US"/>
          </a:p>
        </p:txBody>
      </p:sp>
      <p:graphicFrame>
        <p:nvGraphicFramePr>
          <p:cNvPr id="5" name="Content Placeholder 4"/>
          <p:cNvGraphicFramePr/>
          <p:nvPr>
            <p:ph sz="half" idx="2"/>
            <p:custDataLst>
              <p:tags r:id="rId3"/>
            </p:custDataLst>
          </p:nvPr>
        </p:nvGraphicFramePr>
        <p:xfrm>
          <a:off x="6411600" y="1501200"/>
          <a:ext cx="5176520" cy="2011680"/>
        </p:xfrm>
        <a:graphic>
          <a:graphicData uri="http://schemas.openxmlformats.org/drawingml/2006/table">
            <a:tbl>
              <a:tblPr/>
              <a:tblGrid>
                <a:gridCol w="2588260"/>
                <a:gridCol w="2588260"/>
              </a:tblGrid>
              <a:tr h="365760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Probability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Students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0.72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attended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0.08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technology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0.06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conference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0.04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learned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0.05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about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0.03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new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0.02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6618605" y="4537075"/>
            <a:ext cx="4784725" cy="836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The highest probability is: Students</a:t>
            </a:r>
            <a:endParaRPr lang="en-US" altLang="en-US"/>
          </a:p>
          <a:p>
            <a:r>
              <a:rPr lang="en-US" altLang="en-US"/>
              <a:t>Therefore: &lt;START&gt;→Students</a:t>
            </a:r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Predicting the Second and third Word</a:t>
            </a:r>
            <a:endParaRPr lang="en-US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  <p:custDataLst>
              <p:tags r:id="rId2"/>
            </p:custDataLst>
          </p:nvPr>
        </p:nvGraphicFramePr>
        <p:xfrm>
          <a:off x="608400" y="1501200"/>
          <a:ext cx="5176520" cy="2453640"/>
        </p:xfrm>
        <a:graphic>
          <a:graphicData uri="http://schemas.openxmlformats.org/drawingml/2006/table">
            <a:tbl>
              <a:tblPr/>
              <a:tblGrid>
                <a:gridCol w="2588260"/>
                <a:gridCol w="2588260"/>
              </a:tblGrid>
              <a:tr h="365760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Probability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attended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technology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0.05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learned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0.65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about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0.12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new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0.05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conference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0.03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641350" y="437959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Therefore: learned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Summary so far:  Students learned</a:t>
            </a:r>
            <a:endParaRPr lang="en-US" altLang="en-US"/>
          </a:p>
        </p:txBody>
      </p:sp>
      <p:graphicFrame>
        <p:nvGraphicFramePr>
          <p:cNvPr id="8" name="Content Placeholder 7"/>
          <p:cNvGraphicFramePr/>
          <p:nvPr>
            <p:ph sz="half" idx="2"/>
            <p:custDataLst>
              <p:tags r:id="rId3"/>
            </p:custDataLst>
          </p:nvPr>
        </p:nvGraphicFramePr>
        <p:xfrm>
          <a:off x="6411600" y="1501200"/>
          <a:ext cx="5176520" cy="2194560"/>
        </p:xfrm>
        <a:graphic>
          <a:graphicData uri="http://schemas.openxmlformats.org/drawingml/2006/table">
            <a:tbl>
              <a:tblPr/>
              <a:tblGrid>
                <a:gridCol w="2588260"/>
                <a:gridCol w="2588260"/>
              </a:tblGrid>
              <a:tr h="365760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Probability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Students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0.02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attended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0.03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technology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0.08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conference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0.02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learned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0.03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about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0.72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new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6731635" y="477393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Therefore: about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Summary:  Students learned about</a:t>
            </a:r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Predicting the Fourth Word and End token </a:t>
            </a:r>
            <a:endParaRPr lang="en-US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  <p:custDataLst>
              <p:tags r:id="rId2"/>
            </p:custDataLst>
          </p:nvPr>
        </p:nvGraphicFramePr>
        <p:xfrm>
          <a:off x="608400" y="1501200"/>
          <a:ext cx="5176520" cy="2613660"/>
        </p:xfrm>
        <a:graphic>
          <a:graphicData uri="http://schemas.openxmlformats.org/drawingml/2006/table">
            <a:tbl>
              <a:tblPr/>
              <a:tblGrid>
                <a:gridCol w="2588260"/>
                <a:gridCol w="2588260"/>
              </a:tblGrid>
              <a:tr h="365760"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Probability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Students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0.01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technology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0.61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conference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0.04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learned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0.02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about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0.03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new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0.21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832485" y="449262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Therefore: technology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Summary:  Students learned about technology</a:t>
            </a:r>
            <a:endParaRPr lang="en-US" altLang="en-US"/>
          </a:p>
        </p:txBody>
      </p:sp>
      <p:graphicFrame>
        <p:nvGraphicFramePr>
          <p:cNvPr id="8" name="Content Placeholder 7"/>
          <p:cNvGraphicFramePr/>
          <p:nvPr>
            <p:ph sz="half" idx="2"/>
            <p:custDataLst>
              <p:tags r:id="rId3"/>
            </p:custDataLst>
          </p:nvPr>
        </p:nvGraphicFramePr>
        <p:xfrm>
          <a:off x="6411600" y="1501200"/>
          <a:ext cx="5176520" cy="1828800"/>
        </p:xfrm>
        <a:graphic>
          <a:graphicData uri="http://schemas.openxmlformats.org/drawingml/2006/table">
            <a:tbl>
              <a:tblPr/>
              <a:tblGrid>
                <a:gridCol w="2588260"/>
                <a:gridCol w="2588260"/>
              </a:tblGrid>
              <a:tr h="365760"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Token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Probability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Students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0.01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learned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0.02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about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0.01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technology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0.03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&lt;END&gt;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0.93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7058025" y="452628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Since: P(&lt;END&gt;)=0.93 the decoder stops.</a:t>
            </a:r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Final Summary</a:t>
            </a:r>
            <a:endParaRPr lang="en-US" alt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Input : Students attended the technology conference.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Generated summary : Students learned about technology.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This is abstractive summarization because the generated summary does not simply copy a sentence from the input. The model generates a new sequence based on the learned representation.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Back Propagation Through Time (BPTT)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The model's predicted probability distribution is compared with the correct word using cross-entropy loss.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For one word: L=-logP(y</a:t>
            </a:r>
            <a:r>
              <a:rPr lang="en-US" altLang="en-US" baseline="-25000"/>
              <a:t>t</a:t>
            </a:r>
            <a:r>
              <a:rPr lang="en-US" altLang="en-US"/>
              <a:t>)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For example, if the correct word is learned and the model predicts: P(learned)=0.65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then:  L=-log(0.65)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≈ </a:t>
            </a:r>
            <a:r>
              <a:rPr lang="en-US" altLang="en-US"/>
              <a:t>0.431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model uses backpropagation through time (BPTT) to update its weights.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Limitation of Basic RNN Summarization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altLang="en-US" sz="1300"/>
              <a:t>The basic encoder-decoder RNN compresses the entire input into one final hidden state:  h</a:t>
            </a:r>
            <a:r>
              <a:rPr lang="en-US" altLang="en-US" sz="1300" baseline="-25000"/>
              <a:t>T</a:t>
            </a:r>
            <a:r>
              <a:rPr lang="en-US" altLang="en-US" sz="1300"/>
              <a:t> For a long document, this becomes a bottleneck.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For example: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100-word document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       ↓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200-word document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       ↓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1000-word document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       ↓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ONE context vector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Important information may be lost.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This led to the development of: RNN Encoder-Decoder + Attention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With attention, the decoder can look at different encoder hidden states while generating each summary word.</a:t>
            </a:r>
            <a:endParaRPr lang="en-US" altLang="en-US" sz="1300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RNN vs Attention-Based RNN</a:t>
            </a:r>
            <a:endParaRPr lang="en-US" alt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4206240"/>
        </p:xfrm>
        <a:graphic>
          <a:graphicData uri="http://schemas.openxmlformats.org/drawingml/2006/table">
            <a:tbl>
              <a:tblPr/>
              <a:tblGrid>
                <a:gridCol w="5484495"/>
                <a:gridCol w="5484495"/>
              </a:tblGrid>
              <a:tr h="365760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Basic RNN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RNN + Attention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152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Uses one final context vector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Uses all encoder states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152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Information bottleneck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Reduces bottleneck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152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Difficult for long documents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Better for long documents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152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Simpler architecture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More computationally expensive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1440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Earlier summarization approach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Improved sequence-to-sequence approach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4189</Words>
  <Application>WPS Presentation</Application>
  <PresentationFormat>Widescreen</PresentationFormat>
  <Paragraphs>373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Calibri</vt:lpstr>
      <vt:lpstr>Cambria Math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RNN-Based Text Summarization </dc:title>
  <dc:creator/>
  <cp:lastModifiedBy>priya</cp:lastModifiedBy>
  <cp:revision>1</cp:revision>
  <dcterms:created xsi:type="dcterms:W3CDTF">2026-09-04T10:00:24Z</dcterms:created>
  <dcterms:modified xsi:type="dcterms:W3CDTF">2026-09-04T10:00:24Z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791046CC1C6946FBBC89B91502F2E27D_12</vt:lpwstr>
  </property>
</Properties>
</file>