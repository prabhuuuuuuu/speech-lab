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69" r:id="rId15"/>
    <p:sldId id="278" r:id="rId16"/>
    <p:sldId id="279" r:id="rId17"/>
    <p:sldId id="280" r:id="rId18"/>
    <p:sldId id="281" r:id="rId19"/>
    <p:sldId id="282" r:id="rId20"/>
    <p:sldId id="271" r:id="rId21"/>
    <p:sldId id="283" r:id="rId22"/>
    <p:sldId id="284" r:id="rId23"/>
    <p:sldId id="272" r:id="rId24"/>
    <p:sldId id="274" r:id="rId25"/>
    <p:sldId id="275" r:id="rId26"/>
    <p:sldId id="276" r:id="rId27"/>
    <p:sldId id="268" r:id="rId28"/>
    <p:sldId id="286" r:id="rId29"/>
    <p:sldId id="285" r:id="rId30"/>
    <p:sldId id="287" r:id="rId31"/>
    <p:sldId id="288" r:id="rId32"/>
    <p:sldId id="289" r:id="rId33"/>
    <p:sldId id="290" r:id="rId34"/>
    <p:sldId id="29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5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BERT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Classical BERT (Bidirectional Encoder Representations from Transformers) is a transformer-based encoder model introduced by Google AI in 2018.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/>
              <a:t>BERT uses: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Token Embeddings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Segment Embeddings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Positional Embeddings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Multi-head self-attention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Feed-forward layers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Worked Numerical Example (2 tokens, 2D vectors)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Sentence: “good movie”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838200" y="2504440"/>
          <a:ext cx="5181600" cy="914400"/>
        </p:xfrm>
        <a:graphic>
          <a:graphicData uri="http://schemas.openxmlformats.org/drawingml/2006/table">
            <a:tbl>
              <a:tblPr/>
              <a:tblGrid>
                <a:gridCol w="2590800"/>
                <a:gridCol w="2590800"/>
              </a:tblGrid>
              <a:tr h="365760">
                <a:tc>
                  <a:txBody>
                    <a:bodyPr/>
                    <a:p>
                      <a:pPr algn="l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Token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Embedding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good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[1, 0]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movie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[0, 1]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[CLS]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[1, 1]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Content Placeholder 2"/>
          <p:cNvSpPr>
            <a:spLocks noGrp="1"/>
          </p:cNvSpPr>
          <p:nvPr/>
        </p:nvSpPr>
        <p:spPr>
          <a:xfrm>
            <a:off x="6514465" y="1952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7099300" y="1952625"/>
          <a:ext cx="4116070" cy="2966720"/>
        </p:xfrm>
        <a:graphic>
          <a:graphicData uri="http://schemas.openxmlformats.org/drawingml/2006/table">
            <a:tbl>
              <a:tblPr/>
              <a:tblGrid>
                <a:gridCol w="2058035"/>
                <a:gridCol w="2058035"/>
              </a:tblGrid>
              <a:tr h="74168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Position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Vector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16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[0.1, 0.1]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16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[0.1, 0.2]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16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[0.1, 0.3]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1 — Add Positional Embeddings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Final input embeddings: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[CLS]: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[1,1]+[0.1,0.1]=[1.1,1.1]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good: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[1,0]+[0.1,0.2]=[1.1,0.2]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movie: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[0,1]+[0.1,0.3]=[0.1,1.3]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2 — Self-Attention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compute: </a:t>
            </a:r>
            <a:endParaRPr lang="en-US" altLang="en-US"/>
          </a:p>
        </p:txBody>
      </p:sp>
      <p:graphicFrame>
        <p:nvGraphicFramePr>
          <p:cNvPr id="4" name="Content Placeholder 3">
            <a:hlinkClick r:id="" action="ppaction://ole?verb="/>
          </p:cNvPr>
          <p:cNvGraphicFramePr>
            <a:graphicFrameLocks noChangeAspect="1"/>
          </p:cNvGraphicFramePr>
          <p:nvPr>
            <p:ph sz="half" idx="4294967295"/>
          </p:nvPr>
        </p:nvGraphicFramePr>
        <p:xfrm>
          <a:off x="1421765" y="2398395"/>
          <a:ext cx="3288030" cy="77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1765" y="2398395"/>
                        <a:ext cx="3288030" cy="776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838200" y="33489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W</a:t>
            </a:r>
            <a:r>
              <a:rPr lang="en-US" altLang="en-US" baseline="-25000"/>
              <a:t>Q​</a:t>
            </a:r>
            <a:r>
              <a:rPr lang="en-US" altLang="en-US"/>
              <a:t>=W</a:t>
            </a:r>
            <a:r>
              <a:rPr lang="en-US" altLang="en-US" baseline="-25000"/>
              <a:t>K​</a:t>
            </a:r>
            <a:r>
              <a:rPr lang="en-US" altLang="en-US"/>
              <a:t>=W</a:t>
            </a:r>
            <a:r>
              <a:rPr lang="en-US" altLang="en-US" baseline="-25000"/>
              <a:t>V​</a:t>
            </a:r>
            <a:r>
              <a:rPr lang="en-US" altLang="en-US"/>
              <a:t>=Identity</a:t>
            </a:r>
            <a:endParaRPr lang="en-US" altLang="en-US"/>
          </a:p>
        </p:txBody>
      </p:sp>
      <p:graphicFrame>
        <p:nvGraphicFramePr>
          <p:cNvPr id="7" name="Object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4218" y="4113530"/>
          <a:ext cx="160718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965200" imgH="711200" progId="Equation.KSEE3">
                  <p:embed/>
                </p:oleObj>
              </mc:Choice>
              <mc:Fallback>
                <p:oleObj name="" r:id="rId3" imgW="965200" imgH="711200" progId="Equation.KSEE3">
                  <p:embed/>
                  <p:pic>
                    <p:nvPicPr>
                      <p:cNvPr id="0" name="Picture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4218" y="4113530"/>
                        <a:ext cx="1607185" cy="118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3 — Compute Attention Scores for [CLS]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p>
            <a:pPr marL="0" indent="0">
              <a:buNone/>
            </a:pPr>
            <a:r>
              <a:rPr lang="en-US" altLang="en-US"/>
              <a:t>Dot products with all tokens: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[CLS] • [CLS]: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(1.1)(1.1)+(1.1)(1.1)=2.42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[CLS] • good: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(1.1)(1.1)+(1.1)(0.2)=1.43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[CLS] • movie: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(1.1)(0.1)+(1.1)(1.3)=1.54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So attention logits: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[2.42, 1.43, 1.54]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4 — Scale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d</a:t>
            </a:r>
            <a:r>
              <a:rPr lang="en-US" altLang="en-US" baseline="-25000"/>
              <a:t>k</a:t>
            </a:r>
            <a:r>
              <a:rPr lang="en-US" altLang="en-US"/>
              <a:t>=2 =Sqrt(2) = 1.414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Scaled: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[2.42/1.414 , 1.43/1.414, 1.54/1.414]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[1.71, 1.01, 1.09]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5 — Softmax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5000"/>
          </a:bodyPr>
          <a:p>
            <a:pPr marL="0" indent="0">
              <a:buNone/>
            </a:pPr>
            <a:r>
              <a:rPr lang="en-US" altLang="en-US"/>
              <a:t>Exponentiate: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</a:t>
            </a:r>
            <a:r>
              <a:rPr lang="en-US" altLang="en-US" baseline="30000"/>
              <a:t>1.71</a:t>
            </a:r>
            <a:r>
              <a:rPr lang="en-US" altLang="en-US"/>
              <a:t>=5.53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</a:t>
            </a:r>
            <a:r>
              <a:rPr lang="en-US" altLang="en-US" baseline="30000"/>
              <a:t>1.01</a:t>
            </a:r>
            <a:r>
              <a:rPr lang="en-US" altLang="en-US"/>
              <a:t>=2.74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</a:t>
            </a:r>
            <a:r>
              <a:rPr lang="en-US" altLang="en-US" baseline="30000"/>
              <a:t>1.09</a:t>
            </a:r>
            <a:r>
              <a:rPr lang="en-US" altLang="en-US"/>
              <a:t>=2.97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Sum: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11.24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Attention weights: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[0.49, 0.24, 0.26]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6 — Weighted Sum (New CLS)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/>
              <a:t>0.49[1.1,1.1]+0.24[1.1,0.2]+0.26[0.1,1.3]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Compute: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First dimension: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0.539+0.264+0.026=0.829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Second dimension: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0.539+0.048+0.338=0.925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New CLS representation: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[0.829, 0.925]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7 — Classification Layer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/>
              <a:t>Assume binary sentiment classifier: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W=[1,1]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Logit: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0.829+0.925=1.754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Apply sigmoid: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σ(1.754)=0.852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So probability of Positive = 85.2%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>
                <a:sym typeface="+mn-ea"/>
              </a:rPr>
              <a:t>Sentence-BERT (SBERT)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Sentence-BERT (SBERT)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SBERT was introduced by Nils Reimers and Iryna Gurevych (2019).</a:t>
            </a:r>
            <a:endParaRPr lang="en-US" altLang="en-US"/>
          </a:p>
          <a:p>
            <a:r>
              <a:rPr lang="en-US" altLang="en-US"/>
              <a:t>modification of the pretrained BERT network that use siamese and triplet network structures to derive semantically meaningful sentence embeddings that can be compared using cosine-similarity.</a:t>
            </a:r>
            <a:endParaRPr lang="en-US" altLang="en-US"/>
          </a:p>
          <a:p>
            <a:r>
              <a:rPr lang="en-US" altLang="en-US"/>
              <a:t>Originally, with BERT, finding the most similar pair in a collection of 10,000 sentences requires about 50 million inference computations (~65 hours).</a:t>
            </a:r>
            <a:endParaRPr lang="en-US" altLang="en-US"/>
          </a:p>
          <a:p>
            <a:r>
              <a:rPr lang="en-US" altLang="en-US"/>
              <a:t>SBERT reduces the similarity search time to about 5 seconds.</a:t>
            </a:r>
            <a:endParaRPr lang="en-US" altLang="en-US"/>
          </a:p>
          <a:p>
            <a:r>
              <a:rPr lang="en-US" altLang="en-US"/>
              <a:t>SBERT adds a pooling operation to the output of BERT / RoBERT  to derive a fixed sized sentence embedding.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Non- siamese Vs Siamese 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2880" y="2015490"/>
            <a:ext cx="9592945" cy="41033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Working of SBERT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after passing a sentence through BERT, a pooling layer is applied to BERT embeddings to get their lower dimensionality representation: </a:t>
            </a:r>
            <a:endParaRPr lang="en-US" altLang="en-US"/>
          </a:p>
          <a:p>
            <a:r>
              <a:rPr lang="en-US" altLang="en-US"/>
              <a:t>initial 512 768-dimensional vectors are transformed to a single 768-dimensional vector.</a:t>
            </a:r>
            <a:endParaRPr lang="en-US" altLang="en-US"/>
          </a:p>
          <a:p>
            <a:r>
              <a:rPr lang="en-US" altLang="en-US"/>
              <a:t> For the pooling layer, SBERT authors propose choosing a mean-pooling layer as a default one, though they also mention that is possible to use the max-pooling strategy or simply to take the output of the [CLS] token instead.</a:t>
            </a:r>
            <a:endParaRPr lang="en-US" altLang="en-US"/>
          </a:p>
          <a:p>
            <a:r>
              <a:rPr lang="en-US" altLang="en-US"/>
              <a:t>When both sentences are passed through pooling layers, we have two 768-dimensional vectors u and v. 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17625" y="55880"/>
            <a:ext cx="9342755" cy="68014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SBERT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originally trained on two datasets SNLI and MultiNLI which contain a million sentence pairs with corresponding labels entailment, contradiction or neutral.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fine-tune SBERT with a 3-way softmax-classifier objective function for one epoch. uses a batch-size of 16, Adam optimizer with learning rate 2e−5, and a linear learning rate warm-up over 10% of the training data. The default pooling strategy is mean.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Similarity Score : </a:t>
            </a:r>
            <a:r>
              <a:rPr lang="en-US" altLang="en-US"/>
              <a:t>Regression objective function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92145" y="1898015"/>
            <a:ext cx="5806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>
            <a:hlinkClick r:id="" action="ppaction://ole?verb="/>
          </p:cNvPr>
          <p:cNvGraphicFramePr>
            <a:graphicFrameLocks noChangeAspect="1"/>
          </p:cNvGraphicFramePr>
          <p:nvPr>
            <p:ph sz="half" idx="4294967295"/>
          </p:nvPr>
        </p:nvGraphicFramePr>
        <p:xfrm>
          <a:off x="1602740" y="2259330"/>
          <a:ext cx="2936240" cy="693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2740" y="2259330"/>
                        <a:ext cx="2936240" cy="693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/>
              <a:t>CosineSimilarity(u,v)=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	​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Pooling methods: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Mean pooling (most common)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CLS pooling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Max pooling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Triplet objective function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42615" y="1958975"/>
            <a:ext cx="5905500" cy="4084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Triplet objective function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triplet loss which is calculated on three sentences usually named anchor, positive and negative.</a:t>
            </a:r>
            <a:endParaRPr lang="en-US" altLang="en-US"/>
          </a:p>
          <a:p>
            <a:r>
              <a:rPr lang="en-US" altLang="en-US"/>
              <a:t>It is assumed that anchor and positive sentences are very close to each other while anchor and negative are very different. </a:t>
            </a:r>
            <a:endParaRPr lang="en-US" altLang="en-US"/>
          </a:p>
          <a:p>
            <a:r>
              <a:rPr lang="en-US" altLang="en-US"/>
              <a:t>During the training process, the model evaluates how closer the pair (anchor, positive) is, compared to the pair (anchor, negative).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Variables sₐ, sₚ, sₙ represent anchor, positive and negative embeddings respectively. Symbol ||s|| is the norm of the vector s. Parameter ε is called margin.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1060" y="4257675"/>
            <a:ext cx="4046220" cy="4648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>
                <a:sym typeface="+mn-ea"/>
              </a:rPr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S1: “I love machine learning”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S2: “I enjoy studying AI”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Step 1: Tokenization (Simplified)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ym typeface="+mn-ea"/>
              </a:rPr>
              <a:t>S1 tokens: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[I, love, machine, learning]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S2 tokens: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[I, enjoy, studying, AI]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2: BERT Embeddings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Sentence 1 Token Embeddings:</a:t>
            </a:r>
            <a:endParaRPr lang="en-US" altLang="en-US"/>
          </a:p>
        </p:txBody>
      </p:sp>
      <p:graphicFrame>
        <p:nvGraphicFramePr>
          <p:cNvPr id="7" name="Content Placeholder 6"/>
          <p:cNvGraphicFramePr/>
          <p:nvPr>
            <p:ph sz="half" idx="2"/>
          </p:nvPr>
        </p:nvGraphicFramePr>
        <p:xfrm>
          <a:off x="839788" y="2505075"/>
          <a:ext cx="5157470" cy="1866900"/>
        </p:xfrm>
        <a:graphic>
          <a:graphicData uri="http://schemas.openxmlformats.org/drawingml/2006/table">
            <a:tbl>
              <a:tblPr/>
              <a:tblGrid>
                <a:gridCol w="2578735"/>
                <a:gridCol w="257873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Token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Vector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(1, 0, 1)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love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(2, 1, 0)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(1, 1, 1)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(2, 2, 1)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Sentence 2 Token Embeddings:</a:t>
            </a:r>
            <a:endParaRPr lang="en-US" altLang="en-US"/>
          </a:p>
        </p:txBody>
      </p:sp>
      <p:graphicFrame>
        <p:nvGraphicFramePr>
          <p:cNvPr id="10" name="Content Placeholder 9"/>
          <p:cNvGraphicFramePr/>
          <p:nvPr>
            <p:ph sz="quarter" idx="4"/>
          </p:nvPr>
        </p:nvGraphicFramePr>
        <p:xfrm>
          <a:off x="6172200" y="2505075"/>
          <a:ext cx="5182870" cy="914400"/>
        </p:xfrm>
        <a:graphic>
          <a:graphicData uri="http://schemas.openxmlformats.org/drawingml/2006/table">
            <a:tbl>
              <a:tblPr/>
              <a:tblGrid>
                <a:gridCol w="2591435"/>
                <a:gridCol w="259143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Token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Vector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(1, 0, 1)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enjoy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(2, 1, 0)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studying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(1, 2, 1)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AI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(2, 1, 2)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3: Mean Pooling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Sentence 1 embedding: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[(1,0,1)+(2,1,0)+(1,1,1)+(2,2,1)​]/4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Sum: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(6, 4, 3)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Mean: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S1 = (6/4, 4/4, 3/4)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S1 = (1.5, 1, 0.75)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Sentence 2 embedding: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Sum: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(1+2+1+2, 0+1+2+1, 1+0+1+2)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(6, 4, 4)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Mean: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S2 = (6/4, 4/4, 4/4)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S2 = (1.5, 1, 1)</a:t>
            </a: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4: Cosine Similarity</a:t>
            </a:r>
            <a:endParaRPr lang="en-US" altLang="en-US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/>
              <a:t>Dot product: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(1.5×1.5)+(1×1)+(0.75×1)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2.25 + 1 + 0.75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Magnitude: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||S1|| = √(1.5² + 1² + 0.75²)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√(2.25 + 1 + 0.5625)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√3.8125 ≈ 1.95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||S2|| = √(1.5² + 1² + 1²)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√(2.25 + 1 + 1)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√4.25 ≈ 2.06</a:t>
            </a:r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Cosine similarity: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4 / 4.017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≈ 0.996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Interpretation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Similarity ≈ 0.996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→ Very high similarity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→ Sentences are semantically similar.</a:t>
            </a:r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Key Difference: Classical BERT vs Sentence-BERT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310896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Classical BERT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Sentence-BERT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Designed for token-level tasks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Designed for sentence embeddings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Needs pair input for similarity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Encodes independently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Slow for retrieval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Fast for retrieval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Uses CLS for classification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Uses mean pooling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SBERT Natural Language Interface 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/>
              <a:t>Sentence A: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"A man is playing guitar"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Sentence B: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"A person is performing music"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Label: Entailment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We assume 3 classes: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0 → Contradiction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 → Neutral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 → Entailment</a:t>
            </a:r>
            <a:endParaRPr lang="en-US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Step 1: Siamese SBERT Encoder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Both sentences pass through SBERT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Assume output embeddings are 3-dimensional (real = 768).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Let: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u=(1,2,3)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v=(1,1,2)</a:t>
            </a:r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Step 2: Feature Construction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65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SBERT for classification typically uses: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h=[u;v;∣u−v∣]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Compute |u − v|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u−v=(1−1,2−1,3−2)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=(0,1,1)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So: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h=(1,2,3,1,1,2,0,1,1)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Final feature vector dimension = 9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Step 3: Linear Classification Layer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Apply : z=Wh+b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Assume: W is 3×9 matrix (3 classes)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Let: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Assume bias b = (0,0,0)</a:t>
            </a:r>
            <a:endParaRPr lang="en-US" altLang="en-US"/>
          </a:p>
        </p:txBody>
      </p:sp>
      <p:graphicFrame>
        <p:nvGraphicFramePr>
          <p:cNvPr id="7" name="Object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69050" y="4336415"/>
          <a:ext cx="3592195" cy="1143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2234565" imgH="711200" progId="Equation.KSEE3">
                  <p:embed/>
                </p:oleObj>
              </mc:Choice>
              <mc:Fallback>
                <p:oleObj name="" r:id="rId1" imgW="2234565" imgH="7112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69050" y="4336415"/>
                        <a:ext cx="3592195" cy="1143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4: Compute Logits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Class 0: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Multiply first row with h: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= (1×1) + (0×2) + (1×3)+ (0×1) + (1×1) + (0×2) + (1×0) + (0×1) + (1×1)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= 1 + 0 + 3 + 0 + 1 + 0 + 0 + 0 + 1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= 6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/>
              <a:t>Class 1: 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= (0×1) + (1×2) + (0×3) + (1×1) + (0×1) + (1×2) + (0×0) + (1×1) + (0×1)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= 0 + 2 + 0 + 1 + 0 + 2 + 0 + 1 + 0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= 6</a:t>
            </a: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4: </a:t>
            </a:r>
            <a:r>
              <a:rPr lang="en-US" altLang="en-US"/>
              <a:t>Compute Logits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Class 2: 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= (1×1) + (1×2) + (0×3) + (0×1) + (1×1) + (1×2) + (0×0) + (0×1) + (1×1)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= 1 + 2 + 0 + 0 + 1 + 2 + 0 + 0 + 1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= 7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logits: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z=(6,6,7)</a:t>
            </a:r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5: Softmax</a:t>
            </a:r>
            <a:endParaRPr lang="en-US" altLang="en-US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Compute exponentials: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e</a:t>
            </a:r>
            <a:r>
              <a:rPr lang="en-US" altLang="en-US" baseline="30000"/>
              <a:t>6</a:t>
            </a:r>
            <a:r>
              <a:rPr lang="en-US" altLang="en-US"/>
              <a:t>≈403.4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</a:t>
            </a:r>
            <a:r>
              <a:rPr lang="en-US" altLang="en-US" baseline="30000"/>
              <a:t>7</a:t>
            </a:r>
            <a:r>
              <a:rPr lang="en-US" altLang="en-US"/>
              <a:t>≈1096.6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Sum: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403.4+403.4+1096.6=1903.4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/>
              <a:t>Class 0: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403.4/1903.4≈0.21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Class 1: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403.4/1903.4≈0.21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Class 2: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1096.6/1903.4≈0.58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9" name="Object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35710" y="1941830"/>
          <a:ext cx="2016125" cy="769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1231265" imgH="469900" progId="Equation.KSEE3">
                  <p:embed/>
                </p:oleObj>
              </mc:Choice>
              <mc:Fallback>
                <p:oleObj name="" r:id="rId1" imgW="1231265" imgH="469900" progId="Equation.KSEE3">
                  <p:embed/>
                  <p:pic>
                    <p:nvPicPr>
                      <p:cNvPr id="0" name="Picture 30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35710" y="1941830"/>
                        <a:ext cx="2016125" cy="769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Step 6: Prediction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Highest probability = Class 2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→ Entailment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Correct prediction.</a:t>
            </a:r>
            <a:endParaRPr lang="en-US" alt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Step 7: Cross-Entropy Loss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True label = 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Loss=−log(0.58)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≈0.54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That loss is backpropagated through: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Linear layer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Feature combination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Both BERT encoders (shared weights)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24*233"/>
  <p:tag name="TABLE_ENDDRAG_RECT" val="559*153*324*23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6432</Words>
  <Application>WPS Presentation</Application>
  <PresentationFormat>Widescreen</PresentationFormat>
  <Paragraphs>438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33</vt:i4>
      </vt:variant>
    </vt:vector>
  </HeadingPairs>
  <TitlesOfParts>
    <vt:vector size="48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MS PGothic</vt:lpstr>
      <vt:lpstr>Calibri</vt:lpstr>
      <vt:lpstr>Office Theme</vt:lpstr>
      <vt:lpstr>Equation.KSEE3</vt:lpstr>
      <vt:lpstr>Equation.KSEE3</vt:lpstr>
      <vt:lpstr>Equation.KSEE3</vt:lpstr>
      <vt:lpstr>Equation.KSEE3</vt:lpstr>
      <vt:lpstr>Equation.KSEE3</vt:lpstr>
      <vt:lpstr>BERT</vt:lpstr>
      <vt:lpstr>PowerPoint 演示文稿</vt:lpstr>
      <vt:lpstr>Architecture</vt:lpstr>
      <vt:lpstr>Worked Numerical Example (2 tokens, 2D vectors)</vt:lpstr>
      <vt:lpstr>Step 1 — Add Positional Embeddings</vt:lpstr>
      <vt:lpstr>Step 2 — Self-Attention</vt:lpstr>
      <vt:lpstr>Step 3 — Compute Attention Scores for [CLS]</vt:lpstr>
      <vt:lpstr>Step 4 — Scale</vt:lpstr>
      <vt:lpstr>Step 5 — Softmax</vt:lpstr>
      <vt:lpstr>Step 6 — Weighted Sum (New CLS)</vt:lpstr>
      <vt:lpstr>Step 7 — Classification Layer</vt:lpstr>
      <vt:lpstr>Sentence-BERT (SBERT)</vt:lpstr>
      <vt:lpstr>Sentence-BERT (SBERT)</vt:lpstr>
      <vt:lpstr>Non- siamese Vs Siamese </vt:lpstr>
      <vt:lpstr>Working of SBERT</vt:lpstr>
      <vt:lpstr>PowerPoint 演示文稿</vt:lpstr>
      <vt:lpstr>SBERT model</vt:lpstr>
      <vt:lpstr>Similarity Score : Regression objective function</vt:lpstr>
      <vt:lpstr>PowerPoint 演示文稿</vt:lpstr>
      <vt:lpstr>Triplet objective function</vt:lpstr>
      <vt:lpstr>Triplet objective function</vt:lpstr>
      <vt:lpstr>Example</vt:lpstr>
      <vt:lpstr>Step 2: BERT Embeddings</vt:lpstr>
      <vt:lpstr>Step 3: Mean Pooling</vt:lpstr>
      <vt:lpstr>Step 4: Cosine Similarity</vt:lpstr>
      <vt:lpstr>Key Difference: Classical BERT vs Sentence-BERT</vt:lpstr>
      <vt:lpstr>SBERT Natural Language Interface </vt:lpstr>
      <vt:lpstr>Example</vt:lpstr>
      <vt:lpstr>PowerPoint 演示文稿</vt:lpstr>
      <vt:lpstr>Step 4: Compute Logits</vt:lpstr>
      <vt:lpstr>Step 4: Compute Logits</vt:lpstr>
      <vt:lpstr>Step 5: Softmax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vinodha priya</cp:lastModifiedBy>
  <cp:revision>7</cp:revision>
  <dcterms:created xsi:type="dcterms:W3CDTF">2025-07-23T00:59:00Z</dcterms:created>
  <dcterms:modified xsi:type="dcterms:W3CDTF">2026-09-08T06:21:45Z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9C542AD84C244605AD7785D2B9E1827D_11</vt:lpwstr>
  </property>
  <property fmtid="{D5CDD505-2E9C-101B-9397-08002B2CF9AE}" pid="3" name="KSOProductBuildVer">
    <vt:lpwstr>1033-12.1.0.28485</vt:lpwstr>
  </property>
</Properties>
</file>