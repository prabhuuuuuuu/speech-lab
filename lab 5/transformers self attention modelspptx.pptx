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9"/>
  </p:notesMasterIdLst>
  <p:sldIdLst>
    <p:sldId id="256" r:id="rId3"/>
    <p:sldId id="266" r:id="rId4"/>
    <p:sldId id="267" r:id="rId5"/>
    <p:sldId id="268" r:id="rId6"/>
    <p:sldId id="269" r:id="rId7"/>
    <p:sldId id="270" r:id="rId8"/>
    <p:sldId id="271" r:id="rId9"/>
    <p:sldId id="273" r:id="rId10"/>
    <p:sldId id="274" r:id="rId11"/>
    <p:sldId id="311" r:id="rId12"/>
    <p:sldId id="312" r:id="rId13"/>
    <p:sldId id="31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314" r:id="rId23"/>
    <p:sldId id="315" r:id="rId24"/>
    <p:sldId id="316" r:id="rId25"/>
    <p:sldId id="317" r:id="rId26"/>
    <p:sldId id="318" r:id="rId27"/>
    <p:sldId id="285" r:id="rId28"/>
    <p:sldId id="286" r:id="rId29"/>
    <p:sldId id="287" r:id="rId30"/>
    <p:sldId id="323" r:id="rId31"/>
    <p:sldId id="319" r:id="rId32"/>
    <p:sldId id="320" r:id="rId33"/>
    <p:sldId id="321" r:id="rId34"/>
    <p:sldId id="322" r:id="rId35"/>
    <p:sldId id="326" r:id="rId36"/>
    <p:sldId id="341" r:id="rId37"/>
    <p:sldId id="288" r:id="rId38"/>
    <p:sldId id="337" r:id="rId39"/>
    <p:sldId id="338" r:id="rId40"/>
    <p:sldId id="340" r:id="rId41"/>
    <p:sldId id="289" r:id="rId42"/>
    <p:sldId id="290" r:id="rId43"/>
    <p:sldId id="342" r:id="rId44"/>
    <p:sldId id="343" r:id="rId45"/>
    <p:sldId id="344" r:id="rId46"/>
    <p:sldId id="345" r:id="rId47"/>
    <p:sldId id="346" r:id="rId48"/>
    <p:sldId id="347" r:id="rId49"/>
    <p:sldId id="327" r:id="rId50"/>
    <p:sldId id="328" r:id="rId51"/>
    <p:sldId id="352" r:id="rId52"/>
    <p:sldId id="329" r:id="rId53"/>
    <p:sldId id="330" r:id="rId54"/>
    <p:sldId id="331" r:id="rId55"/>
    <p:sldId id="354" r:id="rId56"/>
    <p:sldId id="291" r:id="rId57"/>
    <p:sldId id="353" r:id="rId58"/>
    <p:sldId id="355" r:id="rId59"/>
    <p:sldId id="356" r:id="rId60"/>
    <p:sldId id="357" r:id="rId61"/>
    <p:sldId id="358" r:id="rId62"/>
    <p:sldId id="332" r:id="rId63"/>
    <p:sldId id="333" r:id="rId64"/>
    <p:sldId id="334" r:id="rId65"/>
    <p:sldId id="335" r:id="rId66"/>
    <p:sldId id="292" r:id="rId67"/>
    <p:sldId id="293" r:id="rId68"/>
    <p:sldId id="359" r:id="rId69"/>
    <p:sldId id="360" r:id="rId70"/>
    <p:sldId id="361" r:id="rId71"/>
    <p:sldId id="362" r:id="rId72"/>
    <p:sldId id="363" r:id="rId73"/>
    <p:sldId id="294" r:id="rId74"/>
    <p:sldId id="295" r:id="rId75"/>
    <p:sldId id="296" r:id="rId76"/>
    <p:sldId id="297" r:id="rId77"/>
    <p:sldId id="298" r:id="rId78"/>
    <p:sldId id="299" r:id="rId79"/>
    <p:sldId id="300" r:id="rId80"/>
    <p:sldId id="301" r:id="rId81"/>
    <p:sldId id="302" r:id="rId82"/>
    <p:sldId id="303" r:id="rId83"/>
    <p:sldId id="304" r:id="rId84"/>
    <p:sldId id="305" r:id="rId85"/>
    <p:sldId id="307" r:id="rId86"/>
    <p:sldId id="308" r:id="rId87"/>
    <p:sldId id="309" r:id="rId8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9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" Target="slides/slide7.xml"/><Relationship Id="rId89" Type="http://schemas.openxmlformats.org/officeDocument/2006/relationships/notesMaster" Target="notesMasters/notesMaster1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8.wmf"/><Relationship Id="rId1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4" Type="http://schemas.openxmlformats.org/officeDocument/2006/relationships/image" Target="../media/image54.wmf"/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01341" y="1974926"/>
            <a:ext cx="8295131" cy="21032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6FC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471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00000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0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5.wmf"/><Relationship Id="rId7" Type="http://schemas.openxmlformats.org/officeDocument/2006/relationships/oleObject" Target="../embeddings/oleObject15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2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6.wmf"/><Relationship Id="rId1" Type="http://schemas.openxmlformats.org/officeDocument/2006/relationships/oleObject" Target="../embeddings/oleObject16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3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4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6.wmf"/><Relationship Id="rId2" Type="http://schemas.openxmlformats.org/officeDocument/2006/relationships/oleObject" Target="../embeddings/oleObject17.bin"/><Relationship Id="rId1" Type="http://schemas.openxmlformats.org/officeDocument/2006/relationships/tags" Target="../tags/tag2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49.wmf"/><Relationship Id="rId1" Type="http://schemas.openxmlformats.org/officeDocument/2006/relationships/oleObject" Target="../embeddings/oleObject20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54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53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52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51.wmf"/><Relationship Id="rId10" Type="http://schemas.openxmlformats.org/officeDocument/2006/relationships/vmlDrawing" Target="../drawings/vmlDrawing11.vml"/><Relationship Id="rId1" Type="http://schemas.openxmlformats.org/officeDocument/2006/relationships/oleObject" Target="../embeddings/oleObject23.bin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6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55.wmf"/><Relationship Id="rId1" Type="http://schemas.openxmlformats.org/officeDocument/2006/relationships/oleObject" Target="../embeddings/oleObject27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1706.03762" TargetMode="External"/><Relationship Id="rId1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0.wmf"/><Relationship Id="rId4" Type="http://schemas.openxmlformats.org/officeDocument/2006/relationships/oleObject" Target="../embeddings/oleObject30.bin"/><Relationship Id="rId3" Type="http://schemas.openxmlformats.org/officeDocument/2006/relationships/image" Target="../media/image59.png"/><Relationship Id="rId2" Type="http://schemas.openxmlformats.org/officeDocument/2006/relationships/image" Target="../media/image58.wmf"/><Relationship Id="rId1" Type="http://schemas.openxmlformats.org/officeDocument/2006/relationships/oleObject" Target="../embeddings/oleObject29.bin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2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61.wmf"/><Relationship Id="rId1" Type="http://schemas.openxmlformats.org/officeDocument/2006/relationships/oleObject" Target="../embeddings/oleObject31.bin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3.wmf"/><Relationship Id="rId1" Type="http://schemas.openxmlformats.org/officeDocument/2006/relationships/oleObject" Target="../embeddings/oleObject33.bin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nlp.seas.harvard.edu/annotated-transformer/" TargetMode="Externa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5.wmf"/><Relationship Id="rId1" Type="http://schemas.openxmlformats.org/officeDocument/2006/relationships/oleObject" Target="../embeddings/oleObject34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66.wmf"/><Relationship Id="rId1" Type="http://schemas.openxmlformats.org/officeDocument/2006/relationships/oleObject" Target="../embeddings/oleObject35.bin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70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69.wmf"/><Relationship Id="rId1" Type="http://schemas.openxmlformats.org/officeDocument/2006/relationships/oleObject" Target="../embeddings/oleObject38.bin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1.wmf"/><Relationship Id="rId1" Type="http://schemas.openxmlformats.org/officeDocument/2006/relationships/oleObject" Target="../embeddings/oleObject40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arxiv.org/abs/1811.12231" TargetMode="External"/><Relationship Id="rId1" Type="http://schemas.openxmlformats.org/officeDocument/2006/relationships/image" Target="../media/image73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1811.12231" TargetMode="External"/><Relationship Id="rId1" Type="http://schemas.openxmlformats.org/officeDocument/2006/relationships/hyperlink" Target="https://psycnet.apa.org/doi/10.1016/0885-2014(88)90014-7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1811.12231" TargetMode="External"/><Relationship Id="rId1" Type="http://schemas.openxmlformats.org/officeDocument/2006/relationships/image" Target="../media/image74.jpe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2106.01548" TargetMode="External"/><Relationship Id="rId1" Type="http://schemas.openxmlformats.org/officeDocument/2006/relationships/image" Target="../media/image76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2104.14294" TargetMode="External"/><Relationship Id="rId1" Type="http://schemas.openxmlformats.org/officeDocument/2006/relationships/image" Target="../media/image77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2103.14586" TargetMode="External"/><Relationship Id="rId1" Type="http://schemas.openxmlformats.org/officeDocument/2006/relationships/image" Target="../media/image78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2010.11929" TargetMode="External"/><Relationship Id="rId1" Type="http://schemas.openxmlformats.org/officeDocument/2006/relationships/image" Target="../media/image79.jpe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github.com/hichemfelouat/my-codes-of-machine-learning/blob/master/Vision_Transformer_(ViT)_for_Image_Classification_(cifar10_dataset).ipynb" TargetMode="External"/><Relationship Id="rId1" Type="http://schemas.openxmlformats.org/officeDocument/2006/relationships/image" Target="../media/image80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arxiv.org/abs/2303.18223" TargetMode="External"/><Relationship Id="rId1" Type="http://schemas.openxmlformats.org/officeDocument/2006/relationships/image" Target="../media/image81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minigpt-4.github.io/" TargetMode="External"/><Relationship Id="rId1" Type="http://schemas.openxmlformats.org/officeDocument/2006/relationships/image" Target="../media/image82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hyperlink" Target="https://github.com/Vision-CAIR/MiniGPT-4" TargetMode="External"/><Relationship Id="rId1" Type="http://schemas.openxmlformats.org/officeDocument/2006/relationships/image" Target="../media/image8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748792" rIns="0" bIns="0" rtlCol="0">
            <a:spAutoFit/>
          </a:bodyPr>
          <a:lstStyle/>
          <a:p>
            <a:pPr marL="2193925">
              <a:lnSpc>
                <a:spcPct val="100000"/>
              </a:lnSpc>
              <a:spcBef>
                <a:spcPts val="95"/>
              </a:spcBef>
            </a:pPr>
            <a:r>
              <a:rPr sz="8800" spc="-85" dirty="0"/>
              <a:t>Transformers</a:t>
            </a:r>
            <a:endParaRPr sz="8800"/>
          </a:p>
        </p:txBody>
      </p:sp>
      <p:grpSp>
        <p:nvGrpSpPr>
          <p:cNvPr id="4" name="object 4"/>
          <p:cNvGrpSpPr/>
          <p:nvPr/>
        </p:nvGrpSpPr>
        <p:grpSpPr>
          <a:xfrm>
            <a:off x="67056" y="51815"/>
            <a:ext cx="4803140" cy="6806565"/>
            <a:chOff x="67056" y="51815"/>
            <a:chExt cx="4803140" cy="6806565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7056" y="4326636"/>
              <a:ext cx="4802886" cy="253136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96" y="51815"/>
              <a:ext cx="4774692" cy="42854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Deep</a:t>
            </a:r>
            <a:r>
              <a:rPr spc="-70" dirty="0"/>
              <a:t> </a:t>
            </a:r>
            <a:r>
              <a:rPr spc="-25" dirty="0"/>
              <a:t>Learning-</a:t>
            </a:r>
            <a:r>
              <a:rPr dirty="0"/>
              <a:t>Based</a:t>
            </a:r>
            <a:r>
              <a:rPr spc="-50" dirty="0"/>
              <a:t> </a:t>
            </a:r>
            <a:r>
              <a:rPr spc="-25" dirty="0"/>
              <a:t>NLP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3247" y="1427988"/>
            <a:ext cx="9174480" cy="4876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2501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Word</a:t>
            </a:r>
            <a:r>
              <a:rPr b="0" spc="24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embedding</a:t>
            </a:r>
            <a:r>
              <a:rPr b="0" spc="2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b="0" spc="254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b="0" spc="2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technique</a:t>
            </a:r>
            <a:r>
              <a:rPr b="0" spc="23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used</a:t>
            </a:r>
            <a:r>
              <a:rPr b="0" spc="2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b="0" spc="254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NLP</a:t>
            </a:r>
            <a:r>
              <a:rPr b="0" spc="2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b="0" spc="2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represent</a:t>
            </a:r>
            <a:r>
              <a:rPr b="0" spc="27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words</a:t>
            </a:r>
            <a:r>
              <a:rPr b="0" spc="23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as</a:t>
            </a:r>
            <a:endParaRPr b="0" spc="-25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dirty="0"/>
              <a:t>numerical</a:t>
            </a:r>
            <a:r>
              <a:rPr spc="-95" dirty="0"/>
              <a:t> </a:t>
            </a:r>
            <a:r>
              <a:rPr dirty="0"/>
              <a:t>vectors</a:t>
            </a:r>
            <a:r>
              <a:rPr spc="-65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b="0" spc="-8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b="0" spc="-9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high-</a:t>
            </a:r>
            <a:r>
              <a:rPr dirty="0"/>
              <a:t>dimensional</a:t>
            </a:r>
            <a:r>
              <a:rPr spc="-55" dirty="0"/>
              <a:t> </a:t>
            </a:r>
            <a:r>
              <a:rPr spc="-10" dirty="0"/>
              <a:t>space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7360" marR="6350" indent="-455295" algn="just">
              <a:lnSpc>
                <a:spcPct val="100000"/>
              </a:lnSpc>
              <a:spcBef>
                <a:spcPts val="3360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Word</a:t>
            </a:r>
            <a:r>
              <a:rPr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embedding</a:t>
            </a:r>
            <a:r>
              <a:rPr b="0" spc="-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aims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capture</a:t>
            </a:r>
            <a:r>
              <a:rPr spc="-15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meaning</a:t>
            </a:r>
            <a:r>
              <a:rPr spc="-20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context</a:t>
            </a:r>
            <a:r>
              <a:rPr spc="-10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b="0" spc="-1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words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b="0" spc="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b="0" spc="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way</a:t>
            </a:r>
            <a:r>
              <a:rPr b="0" spc="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b="0" spc="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b="0" spc="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useful</a:t>
            </a:r>
            <a:r>
              <a:rPr b="0" spc="4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b="0" spc="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downstream</a:t>
            </a:r>
            <a:r>
              <a:rPr b="0" spc="6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NLP</a:t>
            </a:r>
            <a:r>
              <a:rPr b="0" spc="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tasks,</a:t>
            </a:r>
            <a:r>
              <a:rPr b="0" spc="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such</a:t>
            </a:r>
            <a:r>
              <a:rPr b="0" spc="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b="0" spc="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text 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classification,</a:t>
            </a:r>
            <a:r>
              <a:rPr b="0" spc="-6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sentiment</a:t>
            </a:r>
            <a:r>
              <a:rPr b="0" spc="-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analysis,</a:t>
            </a:r>
            <a:r>
              <a:rPr b="0" spc="-6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b="0" spc="-6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b="0" spc="-8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translation.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7360" marR="8255" indent="-455295" algn="just">
              <a:lnSpc>
                <a:spcPct val="100000"/>
              </a:lnSpc>
              <a:spcBef>
                <a:spcPts val="3360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There</a:t>
            </a:r>
            <a:r>
              <a:rPr b="0" spc="13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b="0" spc="1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several</a:t>
            </a:r>
            <a:r>
              <a:rPr b="0" spc="13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popular</a:t>
            </a:r>
            <a:r>
              <a:rPr b="0" spc="1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algorithms</a:t>
            </a:r>
            <a:r>
              <a:rPr b="0" spc="14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b="0" spc="1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creating</a:t>
            </a:r>
            <a:r>
              <a:rPr b="0" spc="1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word</a:t>
            </a:r>
            <a:r>
              <a:rPr b="0" spc="13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embeddings,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such</a:t>
            </a:r>
            <a:r>
              <a:rPr b="0" spc="-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b="0" spc="-8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30" dirty="0"/>
              <a:t>Word2Vec</a:t>
            </a:r>
            <a:r>
              <a:rPr b="0" spc="-3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b="0" spc="-6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GloVe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b="0" spc="-6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b="0" spc="-7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fastText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Word</a:t>
            </a:r>
            <a:r>
              <a:rPr spc="-190" dirty="0"/>
              <a:t> </a:t>
            </a:r>
            <a:r>
              <a:rPr spc="-10" dirty="0"/>
              <a:t>Embedding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Word</a:t>
            </a:r>
            <a:r>
              <a:rPr spc="-190" dirty="0"/>
              <a:t> </a:t>
            </a:r>
            <a:r>
              <a:rPr spc="-10" dirty="0"/>
              <a:t>Embedding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78297" y="1280826"/>
            <a:ext cx="7084529" cy="506530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Recurrent</a:t>
            </a:r>
            <a:r>
              <a:rPr spc="-165" dirty="0"/>
              <a:t> </a:t>
            </a:r>
            <a:r>
              <a:rPr dirty="0"/>
              <a:t>Neural</a:t>
            </a:r>
            <a:r>
              <a:rPr spc="-175" dirty="0"/>
              <a:t> </a:t>
            </a:r>
            <a:r>
              <a:rPr spc="-10" dirty="0"/>
              <a:t>Network(RNN)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264158"/>
            <a:ext cx="1051115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715" indent="-28702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simplest</a:t>
            </a:r>
            <a:r>
              <a:rPr sz="2400" b="1" spc="1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possible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RNN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composed</a:t>
            </a:r>
            <a:r>
              <a:rPr sz="24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one</a:t>
            </a:r>
            <a:r>
              <a:rPr sz="2400" b="1" spc="1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neuron</a:t>
            </a:r>
            <a:r>
              <a:rPr sz="2400" b="1" spc="1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receiving</a:t>
            </a:r>
            <a:r>
              <a:rPr sz="24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inputs,</a:t>
            </a:r>
            <a:r>
              <a:rPr sz="24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producing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output,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sending</a:t>
            </a:r>
            <a:r>
              <a:rPr sz="2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24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2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back</a:t>
            </a:r>
            <a:r>
              <a:rPr sz="2400" b="1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4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itself</a:t>
            </a:r>
            <a:r>
              <a:rPr sz="2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(figure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-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left).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299085" marR="5080" indent="-287020">
              <a:lnSpc>
                <a:spcPct val="100000"/>
              </a:lnSpc>
              <a:spcBef>
                <a:spcPts val="288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We</a:t>
            </a:r>
            <a:r>
              <a:rPr sz="24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represent</a:t>
            </a:r>
            <a:r>
              <a:rPr sz="24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tiny</a:t>
            </a:r>
            <a:r>
              <a:rPr sz="2400" spc="2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network</a:t>
            </a:r>
            <a:r>
              <a:rPr sz="24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against</a:t>
            </a:r>
            <a:r>
              <a:rPr sz="24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400" spc="2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axis,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shown</a:t>
            </a:r>
            <a:r>
              <a:rPr sz="24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2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(figure</a:t>
            </a:r>
            <a:r>
              <a:rPr sz="2400" spc="2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- </a:t>
            </a:r>
            <a:r>
              <a:rPr sz="2400" dirty="0">
                <a:latin typeface="Calibri" panose="020F0502020204030204"/>
                <a:cs typeface="Calibri" panose="020F0502020204030204"/>
              </a:rPr>
              <a:t>right).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This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called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unrolling</a:t>
            </a:r>
            <a:r>
              <a:rPr sz="2400" b="1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4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network</a:t>
            </a:r>
            <a:r>
              <a:rPr sz="24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2400" b="1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79192" y="3302508"/>
            <a:ext cx="6778752" cy="302361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Recurrent</a:t>
            </a:r>
            <a:r>
              <a:rPr spc="-165" dirty="0"/>
              <a:t> </a:t>
            </a:r>
            <a:r>
              <a:rPr dirty="0"/>
              <a:t>Neural</a:t>
            </a:r>
            <a:r>
              <a:rPr spc="-175" dirty="0"/>
              <a:t> </a:t>
            </a:r>
            <a:r>
              <a:rPr spc="-10" dirty="0"/>
              <a:t>Network(RNN)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555750"/>
            <a:ext cx="105092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marR="5080" indent="-285115" algn="just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You</a:t>
            </a:r>
            <a:r>
              <a:rPr sz="24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easily</a:t>
            </a:r>
            <a:r>
              <a:rPr sz="24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create</a:t>
            </a:r>
            <a:r>
              <a:rPr sz="2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layer</a:t>
            </a:r>
            <a:r>
              <a:rPr sz="2400" b="1" spc="3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recurrent</a:t>
            </a:r>
            <a:r>
              <a:rPr sz="2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neurons.</a:t>
            </a:r>
            <a:r>
              <a:rPr sz="24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At</a:t>
            </a:r>
            <a:r>
              <a:rPr sz="24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4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4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step</a:t>
            </a:r>
            <a:r>
              <a:rPr sz="2400" spc="3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400" dirty="0">
                <a:latin typeface="Calibri" panose="020F0502020204030204"/>
                <a:cs typeface="Calibri" panose="020F0502020204030204"/>
              </a:rPr>
              <a:t>,</a:t>
            </a:r>
            <a:r>
              <a:rPr sz="2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every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neuron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receives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both</a:t>
            </a:r>
            <a:r>
              <a:rPr sz="2400" spc="4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input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vector</a:t>
            </a:r>
            <a:r>
              <a:rPr sz="2400" spc="4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x(t)</a:t>
            </a:r>
            <a:r>
              <a:rPr sz="2400" b="1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output</a:t>
            </a:r>
            <a:r>
              <a:rPr sz="2400" b="1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24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vector</a:t>
            </a:r>
            <a:r>
              <a:rPr sz="2400" b="1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from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previous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step</a:t>
            </a:r>
            <a:r>
              <a:rPr sz="24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y(t–1)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86711" y="2913888"/>
            <a:ext cx="7754112" cy="29748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24022" y="5925413"/>
            <a:ext cx="55899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00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recurrent</a:t>
            </a:r>
            <a:r>
              <a:rPr sz="20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neuron</a:t>
            </a:r>
            <a:r>
              <a:rPr sz="200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(left)</a:t>
            </a:r>
            <a:r>
              <a:rPr sz="200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unrolled</a:t>
            </a:r>
            <a:r>
              <a:rPr sz="200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through</a:t>
            </a:r>
            <a:r>
              <a:rPr sz="200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20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(right)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Recurrent</a:t>
            </a:r>
            <a:r>
              <a:rPr spc="-165" dirty="0"/>
              <a:t> </a:t>
            </a:r>
            <a:r>
              <a:rPr dirty="0"/>
              <a:t>Neural</a:t>
            </a:r>
            <a:r>
              <a:rPr spc="-175" dirty="0"/>
              <a:t> </a:t>
            </a:r>
            <a:r>
              <a:rPr spc="-10" dirty="0"/>
              <a:t>Network(RNN)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23744" y="1112519"/>
            <a:ext cx="7144511" cy="47914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5922061"/>
            <a:ext cx="105111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Seq-to-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seq</a:t>
            </a:r>
            <a:r>
              <a:rPr sz="2000" spc="1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(top</a:t>
            </a:r>
            <a:r>
              <a:rPr sz="2000" spc="1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left),</a:t>
            </a:r>
            <a:r>
              <a:rPr sz="2000" spc="1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seq-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to-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vector</a:t>
            </a:r>
            <a:r>
              <a:rPr sz="2000" spc="1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(top</a:t>
            </a:r>
            <a:r>
              <a:rPr sz="2000" spc="1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right),</a:t>
            </a:r>
            <a:r>
              <a:rPr sz="2000" spc="1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vector-to-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seq</a:t>
            </a:r>
            <a:r>
              <a:rPr sz="2000" spc="1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(bottom</a:t>
            </a:r>
            <a:r>
              <a:rPr sz="2000" spc="1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left),</a:t>
            </a:r>
            <a:r>
              <a:rPr sz="2000" spc="1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000" spc="1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Encoder–Decoder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(bottom</a:t>
            </a:r>
            <a:r>
              <a:rPr sz="2000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right)</a:t>
            </a:r>
            <a:r>
              <a:rPr sz="200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networks.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Long</a:t>
            </a:r>
            <a:r>
              <a:rPr spc="-130" dirty="0"/>
              <a:t> </a:t>
            </a:r>
            <a:r>
              <a:rPr spc="-25" dirty="0"/>
              <a:t>Short-</a:t>
            </a:r>
            <a:r>
              <a:rPr spc="-65" dirty="0"/>
              <a:t>Term</a:t>
            </a:r>
            <a:r>
              <a:rPr spc="-105" dirty="0"/>
              <a:t> </a:t>
            </a:r>
            <a:r>
              <a:rPr dirty="0"/>
              <a:t>Memory</a:t>
            </a:r>
            <a:r>
              <a:rPr spc="-110" dirty="0"/>
              <a:t> </a:t>
            </a:r>
            <a:r>
              <a:rPr spc="-10" dirty="0"/>
              <a:t>(LSTM)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08317" y="1729739"/>
            <a:ext cx="8716792" cy="47304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1377188"/>
            <a:ext cx="105086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1800" dirty="0">
                <a:latin typeface="Calibri" panose="020F0502020204030204"/>
                <a:cs typeface="Calibri" panose="020F0502020204030204"/>
              </a:rPr>
              <a:t>When</a:t>
            </a:r>
            <a:r>
              <a:rPr sz="1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data</a:t>
            </a:r>
            <a:r>
              <a:rPr sz="1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traversing</a:t>
            </a:r>
            <a:r>
              <a:rPr sz="1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</a:t>
            </a:r>
            <a:r>
              <a:rPr sz="1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RNN</a:t>
            </a:r>
            <a:r>
              <a:rPr sz="1800" dirty="0">
                <a:latin typeface="Calibri" panose="020F0502020204030204"/>
                <a:cs typeface="Calibri" panose="020F0502020204030204"/>
              </a:rPr>
              <a:t>,</a:t>
            </a:r>
            <a:r>
              <a:rPr sz="1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some</a:t>
            </a:r>
            <a:r>
              <a:rPr sz="1800" b="1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information</a:t>
            </a:r>
            <a:r>
              <a:rPr sz="1800" b="1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800" b="1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lost</a:t>
            </a:r>
            <a:r>
              <a:rPr sz="1800" b="1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1800" b="1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1800" b="1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time</a:t>
            </a:r>
            <a:r>
              <a:rPr sz="1800" b="1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step</a:t>
            </a:r>
            <a:r>
              <a:rPr sz="1800" dirty="0">
                <a:latin typeface="Calibri" panose="020F0502020204030204"/>
                <a:cs typeface="Calibri" panose="020F0502020204030204"/>
              </a:rPr>
              <a:t>.</a:t>
            </a:r>
            <a:r>
              <a:rPr sz="1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After</a:t>
            </a:r>
            <a:r>
              <a:rPr sz="1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while,</a:t>
            </a:r>
            <a:r>
              <a:rPr sz="1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RNN’s</a:t>
            </a:r>
            <a:r>
              <a:rPr sz="180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state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contains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virtually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trace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first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inputs.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Gated</a:t>
            </a:r>
            <a:r>
              <a:rPr spc="-160" dirty="0"/>
              <a:t> </a:t>
            </a:r>
            <a:r>
              <a:rPr spc="-10" dirty="0"/>
              <a:t>Recurrent</a:t>
            </a:r>
            <a:r>
              <a:rPr spc="-140" dirty="0"/>
              <a:t> </a:t>
            </a:r>
            <a:r>
              <a:rPr dirty="0"/>
              <a:t>Unit</a:t>
            </a:r>
            <a:r>
              <a:rPr spc="-170" dirty="0"/>
              <a:t> </a:t>
            </a:r>
            <a:r>
              <a:rPr spc="-10" dirty="0"/>
              <a:t>(GRU)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96311" y="1333500"/>
            <a:ext cx="7217663" cy="49194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6368" y="511555"/>
            <a:ext cx="825373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Gated</a:t>
            </a:r>
            <a:r>
              <a:rPr spc="-160" dirty="0"/>
              <a:t> </a:t>
            </a:r>
            <a:r>
              <a:rPr spc="-10" dirty="0"/>
              <a:t>Recurrent</a:t>
            </a:r>
            <a:r>
              <a:rPr spc="-140" dirty="0"/>
              <a:t> </a:t>
            </a:r>
            <a:r>
              <a:rPr dirty="0"/>
              <a:t>Unit</a:t>
            </a:r>
            <a:r>
              <a:rPr spc="-170" dirty="0"/>
              <a:t> </a:t>
            </a:r>
            <a:r>
              <a:rPr spc="-10" dirty="0"/>
              <a:t>(GRU)</a:t>
            </a:r>
            <a:endParaRPr spc="-1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3446780"/>
          </a:xfrm>
        </p:spPr>
        <p:txBody>
          <a:bodyPr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/>
              <a:t>uses LSTM architecture by merging its gating mechanisms offering a more efficient solution for many sequential tasks 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/>
              <a:t>use gating mechanisms to selectively update the hidden state at each time step allowing them to remember important information while discarding irrelevant details. </a:t>
            </a:r>
            <a:endParaRPr lang="en-US" altLang="en-US"/>
          </a:p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/>
              <a:t>focus on just two main gates: the update gate and the reset gate.</a:t>
            </a:r>
            <a:endParaRPr lang="en-US" altLang="en-US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44475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2585085"/>
          </a:xfrm>
        </p:spPr>
        <p:txBody>
          <a:bodyPr/>
          <a:p>
            <a:r>
              <a:rPr lang="en-US" altLang="en-US"/>
              <a:t>    Update Gate (z</a:t>
            </a:r>
            <a:r>
              <a:rPr lang="en-US" altLang="en-US" baseline="-25000"/>
              <a:t>t</a:t>
            </a:r>
            <a:r>
              <a:rPr lang="en-US" altLang="en-US"/>
              <a:t>): This gate decides how much information from previous hidden state should be retained for the next time step.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Reset Gate (r</a:t>
            </a:r>
            <a:r>
              <a:rPr lang="en-US" altLang="en-US" baseline="-25000"/>
              <a:t>t</a:t>
            </a:r>
            <a:r>
              <a:rPr lang="en-US" altLang="en-US"/>
              <a:t>​​): This gate determines how much of the past hidden state should be forgotten.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LSTM Vs GRU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90" y="1402080"/>
            <a:ext cx="10377170" cy="46151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Bidirectional</a:t>
            </a:r>
            <a:r>
              <a:rPr spc="-120" dirty="0"/>
              <a:t> </a:t>
            </a:r>
            <a:r>
              <a:rPr spc="-20" dirty="0"/>
              <a:t>RNNs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453641"/>
            <a:ext cx="1051115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sz="3600" b="1" spc="1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example</a:t>
            </a:r>
            <a:r>
              <a:rPr sz="3600" dirty="0">
                <a:latin typeface="Calibri" panose="020F0502020204030204"/>
                <a:cs typeface="Calibri" panose="020F0502020204030204"/>
              </a:rPr>
              <a:t>: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in</a:t>
            </a:r>
            <a:r>
              <a:rPr sz="36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Neural</a:t>
            </a:r>
            <a:r>
              <a:rPr sz="3600" b="1" spc="1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Machine</a:t>
            </a:r>
            <a:r>
              <a:rPr sz="3600" b="1" spc="1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Translation</a:t>
            </a:r>
            <a:r>
              <a:rPr sz="3600" dirty="0">
                <a:latin typeface="Calibri" panose="020F0502020204030204"/>
                <a:cs typeface="Calibri" panose="020F0502020204030204"/>
              </a:rPr>
              <a:t>,</a:t>
            </a:r>
            <a:r>
              <a:rPr sz="3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it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is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often </a:t>
            </a:r>
            <a:r>
              <a:rPr sz="3600" dirty="0">
                <a:latin typeface="Calibri" panose="020F0502020204030204"/>
                <a:cs typeface="Calibri" panose="020F0502020204030204"/>
              </a:rPr>
              <a:t>preferable</a:t>
            </a:r>
            <a:r>
              <a:rPr sz="3600" spc="17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to</a:t>
            </a:r>
            <a:r>
              <a:rPr sz="3600" spc="17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look</a:t>
            </a:r>
            <a:r>
              <a:rPr sz="3600" spc="17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ahead</a:t>
            </a:r>
            <a:r>
              <a:rPr sz="3600" spc="19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at</a:t>
            </a:r>
            <a:r>
              <a:rPr sz="3600" spc="17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17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next</a:t>
            </a:r>
            <a:r>
              <a:rPr sz="3600" spc="18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words</a:t>
            </a:r>
            <a:r>
              <a:rPr sz="3600" spc="17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before </a:t>
            </a:r>
            <a:r>
              <a:rPr sz="3600" dirty="0">
                <a:latin typeface="Calibri" panose="020F0502020204030204"/>
                <a:cs typeface="Calibri" panose="020F0502020204030204"/>
              </a:rPr>
              <a:t>encoding</a:t>
            </a:r>
            <a:r>
              <a:rPr sz="36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a</a:t>
            </a:r>
            <a:r>
              <a:rPr sz="36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given</a:t>
            </a:r>
            <a:r>
              <a:rPr sz="36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word.</a:t>
            </a:r>
            <a:endParaRPr sz="3600">
              <a:latin typeface="Calibri" panose="020F0502020204030204"/>
              <a:cs typeface="Calibri" panose="020F0502020204030204"/>
            </a:endParaRPr>
          </a:p>
          <a:p>
            <a:pPr marL="297815" marR="5080" indent="-285750" algn="just">
              <a:lnSpc>
                <a:spcPct val="100000"/>
              </a:lnSpc>
              <a:spcBef>
                <a:spcPts val="4320"/>
              </a:spcBef>
              <a:buFont typeface="Arial" panose="020B0604020202020204"/>
              <a:buChar char="•"/>
              <a:tabLst>
                <a:tab pos="299085" algn="l"/>
              </a:tabLst>
            </a:pPr>
            <a:r>
              <a:rPr sz="3600" dirty="0">
                <a:latin typeface="Calibri" panose="020F0502020204030204"/>
                <a:cs typeface="Calibri" panose="020F0502020204030204"/>
              </a:rPr>
              <a:t>Consider</a:t>
            </a:r>
            <a:r>
              <a:rPr sz="3600" spc="44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44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phrases</a:t>
            </a:r>
            <a:r>
              <a:rPr sz="3600" spc="45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"the</a:t>
            </a:r>
            <a:r>
              <a:rPr sz="3600" spc="4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queen</a:t>
            </a:r>
            <a:r>
              <a:rPr sz="3600" spc="44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600" spc="4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3600" spc="4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United </a:t>
            </a:r>
            <a:r>
              <a:rPr sz="3600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Kingdom"</a:t>
            </a:r>
            <a:r>
              <a:rPr sz="3600" dirty="0">
                <a:latin typeface="Calibri" panose="020F0502020204030204"/>
                <a:cs typeface="Calibri" panose="020F0502020204030204"/>
              </a:rPr>
              <a:t>,</a:t>
            </a:r>
            <a:r>
              <a:rPr sz="3600" spc="15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"the</a:t>
            </a:r>
            <a:r>
              <a:rPr sz="3600" spc="1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queen</a:t>
            </a:r>
            <a:r>
              <a:rPr sz="3600" spc="1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3600" spc="1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hearts"</a:t>
            </a:r>
            <a:r>
              <a:rPr sz="3600" dirty="0">
                <a:latin typeface="Calibri" panose="020F0502020204030204"/>
                <a:cs typeface="Calibri" panose="020F0502020204030204"/>
              </a:rPr>
              <a:t>,</a:t>
            </a:r>
            <a:r>
              <a:rPr sz="3600" spc="150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latin typeface="Calibri" panose="020F0502020204030204"/>
                <a:cs typeface="Calibri" panose="020F0502020204030204"/>
              </a:rPr>
              <a:t>and</a:t>
            </a:r>
            <a:r>
              <a:rPr sz="3600" spc="155" dirty="0">
                <a:latin typeface="Calibri" panose="020F0502020204030204"/>
                <a:cs typeface="Calibri" panose="020F0502020204030204"/>
              </a:rPr>
              <a:t>  </a:t>
            </a:r>
            <a:r>
              <a:rPr sz="3600" dirty="0">
                <a:solidFill>
                  <a:srgbClr val="538235"/>
                </a:solidFill>
                <a:latin typeface="Calibri" panose="020F0502020204030204"/>
                <a:cs typeface="Calibri" panose="020F0502020204030204"/>
              </a:rPr>
              <a:t>"the</a:t>
            </a:r>
            <a:r>
              <a:rPr sz="3600" spc="155" dirty="0">
                <a:solidFill>
                  <a:srgbClr val="538235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3600" spc="-10" dirty="0">
                <a:solidFill>
                  <a:srgbClr val="538235"/>
                </a:solidFill>
                <a:latin typeface="Calibri" panose="020F0502020204030204"/>
                <a:cs typeface="Calibri" panose="020F0502020204030204"/>
              </a:rPr>
              <a:t>queen </a:t>
            </a:r>
            <a:r>
              <a:rPr sz="3600" spc="-10" dirty="0">
                <a:solidFill>
                  <a:srgbClr val="538235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600" dirty="0">
                <a:solidFill>
                  <a:srgbClr val="538235"/>
                </a:solidFill>
                <a:latin typeface="Calibri" panose="020F0502020204030204"/>
                <a:cs typeface="Calibri" panose="020F0502020204030204"/>
              </a:rPr>
              <a:t>bee"</a:t>
            </a:r>
            <a:r>
              <a:rPr sz="3600" dirty="0">
                <a:latin typeface="Calibri" panose="020F0502020204030204"/>
                <a:cs typeface="Calibri" panose="020F0502020204030204"/>
              </a:rPr>
              <a:t>:</a:t>
            </a:r>
            <a:r>
              <a:rPr sz="36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to</a:t>
            </a:r>
            <a:r>
              <a:rPr sz="3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properly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encode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the</a:t>
            </a:r>
            <a:r>
              <a:rPr sz="36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word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“</a:t>
            </a:r>
            <a:r>
              <a:rPr sz="36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queen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”,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you</a:t>
            </a:r>
            <a:r>
              <a:rPr sz="36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need </a:t>
            </a:r>
            <a:r>
              <a:rPr sz="36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3600" dirty="0">
                <a:latin typeface="Calibri" panose="020F0502020204030204"/>
                <a:cs typeface="Calibri" panose="020F0502020204030204"/>
              </a:rPr>
              <a:t>to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dirty="0">
                <a:latin typeface="Calibri" panose="020F0502020204030204"/>
                <a:cs typeface="Calibri" panose="020F0502020204030204"/>
              </a:rPr>
              <a:t>look</a:t>
            </a:r>
            <a:r>
              <a:rPr sz="3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600" spc="-10" dirty="0">
                <a:latin typeface="Calibri" panose="020F0502020204030204"/>
                <a:cs typeface="Calibri" panose="020F0502020204030204"/>
              </a:rPr>
              <a:t>ahead.</a:t>
            </a:r>
            <a:endParaRPr sz="3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Bidirectional</a:t>
            </a:r>
            <a:r>
              <a:rPr spc="-120" dirty="0"/>
              <a:t> </a:t>
            </a:r>
            <a:r>
              <a:rPr spc="-20" dirty="0"/>
              <a:t>RNNs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485646"/>
            <a:ext cx="1050798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360" marR="5080" indent="-455295" algn="just">
              <a:lnSpc>
                <a:spcPct val="100000"/>
              </a:lnSpc>
              <a:spcBef>
                <a:spcPts val="95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sz="2800" spc="-3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implement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this,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run</a:t>
            </a:r>
            <a:r>
              <a:rPr sz="28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280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recurrent layers</a:t>
            </a:r>
            <a:r>
              <a:rPr sz="280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on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same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inputs,</a:t>
            </a:r>
            <a:r>
              <a:rPr sz="2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one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800" dirty="0">
                <a:latin typeface="Calibri" panose="020F0502020204030204"/>
                <a:cs typeface="Calibri" panose="020F0502020204030204"/>
              </a:rPr>
              <a:t>reading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words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2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left</a:t>
            </a:r>
            <a:r>
              <a:rPr sz="2800" b="1" spc="-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8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right</a:t>
            </a:r>
            <a:r>
              <a:rPr sz="2800" b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and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reading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them</a:t>
            </a:r>
            <a:r>
              <a:rPr sz="2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from </a:t>
            </a:r>
            <a:r>
              <a:rPr sz="28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right</a:t>
            </a:r>
            <a:r>
              <a:rPr sz="2800" b="1" spc="-7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800" b="1" spc="-9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left</a:t>
            </a:r>
            <a:r>
              <a:rPr sz="2800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Then</a:t>
            </a:r>
            <a:r>
              <a:rPr sz="28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simply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concatenating</a:t>
            </a:r>
            <a:r>
              <a:rPr sz="2800" b="1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them.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27954" y="3163823"/>
            <a:ext cx="5804720" cy="30723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9850" y="2299842"/>
            <a:ext cx="44354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35" dirty="0"/>
              <a:t>Self-</a:t>
            </a:r>
            <a:r>
              <a:rPr sz="6000" spc="-30" dirty="0"/>
              <a:t>Attention</a:t>
            </a:r>
            <a:endParaRPr sz="6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Self-Attention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335405"/>
            <a:ext cx="10509885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7995" marR="5080" indent="-455930" algn="just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68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following</a:t>
            </a:r>
            <a:r>
              <a:rPr sz="3200" spc="69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sentence</a:t>
            </a:r>
            <a:r>
              <a:rPr sz="3200" spc="7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is</a:t>
            </a:r>
            <a:r>
              <a:rPr sz="3200" spc="7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an</a:t>
            </a:r>
            <a:r>
              <a:rPr sz="3200" spc="70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input</a:t>
            </a:r>
            <a:r>
              <a:rPr sz="3200" spc="6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sentence</a:t>
            </a:r>
            <a:r>
              <a:rPr sz="3200" spc="6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we</a:t>
            </a:r>
            <a:r>
              <a:rPr sz="3200" spc="69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want</a:t>
            </a:r>
            <a:r>
              <a:rPr sz="3200" spc="70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translate: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"The</a:t>
            </a:r>
            <a:r>
              <a:rPr sz="32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animal</a:t>
            </a:r>
            <a:r>
              <a:rPr sz="32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didn't</a:t>
            </a:r>
            <a:r>
              <a:rPr sz="32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cross</a:t>
            </a:r>
            <a:r>
              <a:rPr sz="32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3200" b="1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street</a:t>
            </a:r>
            <a:r>
              <a:rPr sz="32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because</a:t>
            </a:r>
            <a:r>
              <a:rPr sz="32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32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was </a:t>
            </a:r>
            <a:r>
              <a:rPr sz="320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too</a:t>
            </a:r>
            <a:r>
              <a:rPr sz="3200" b="1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tired“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3840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What</a:t>
            </a:r>
            <a:r>
              <a:rPr sz="3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does</a:t>
            </a:r>
            <a:r>
              <a:rPr sz="32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"it"</a:t>
            </a:r>
            <a:r>
              <a:rPr sz="3200" b="1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in</a:t>
            </a:r>
            <a:r>
              <a:rPr sz="32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this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sentence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refer</a:t>
            </a:r>
            <a:r>
              <a:rPr sz="32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25" dirty="0">
                <a:latin typeface="Calibri" panose="020F0502020204030204"/>
                <a:cs typeface="Calibri" panose="020F0502020204030204"/>
              </a:rPr>
              <a:t>to?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69265" marR="6350" indent="-457200" algn="just">
              <a:lnSpc>
                <a:spcPct val="100000"/>
              </a:lnSpc>
              <a:buFont typeface="Arial" panose="020B0604020202020204"/>
              <a:buChar char="•"/>
              <a:tabLst>
                <a:tab pos="469265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Is</a:t>
            </a:r>
            <a:r>
              <a:rPr sz="3200" spc="4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it</a:t>
            </a:r>
            <a:r>
              <a:rPr sz="32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referring</a:t>
            </a:r>
            <a:r>
              <a:rPr sz="3200" spc="4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44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street</a:t>
            </a:r>
            <a:r>
              <a:rPr sz="3200" b="1" spc="43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or</a:t>
            </a:r>
            <a:r>
              <a:rPr sz="32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42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3200" b="1" spc="41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animal</a:t>
            </a:r>
            <a:r>
              <a:rPr sz="3200" dirty="0">
                <a:latin typeface="Calibri" panose="020F0502020204030204"/>
                <a:cs typeface="Calibri" panose="020F0502020204030204"/>
              </a:rPr>
              <a:t>?</a:t>
            </a:r>
            <a:r>
              <a:rPr sz="3200" spc="4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It’s</a:t>
            </a:r>
            <a:r>
              <a:rPr sz="32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</a:t>
            </a:r>
            <a:r>
              <a:rPr sz="3200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simple </a:t>
            </a:r>
            <a:r>
              <a:rPr sz="3200" dirty="0">
                <a:latin typeface="Calibri" panose="020F0502020204030204"/>
                <a:cs typeface="Calibri" panose="020F0502020204030204"/>
              </a:rPr>
              <a:t>question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human</a:t>
            </a:r>
            <a:r>
              <a:rPr sz="32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but</a:t>
            </a:r>
            <a:r>
              <a:rPr sz="32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not</a:t>
            </a:r>
            <a:r>
              <a:rPr sz="32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as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simple</a:t>
            </a:r>
            <a:r>
              <a:rPr sz="32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an</a:t>
            </a:r>
            <a:r>
              <a:rPr sz="32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algorithm.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469265" marR="7620" indent="-457200" algn="just">
              <a:lnSpc>
                <a:spcPct val="100000"/>
              </a:lnSpc>
              <a:spcBef>
                <a:spcPts val="3845"/>
              </a:spcBef>
              <a:buFont typeface="Arial" panose="020B0604020202020204"/>
              <a:buChar char="•"/>
              <a:tabLst>
                <a:tab pos="469265" algn="l"/>
              </a:tabLst>
            </a:pPr>
            <a:r>
              <a:rPr sz="3200" dirty="0">
                <a:latin typeface="Calibri" panose="020F0502020204030204"/>
                <a:cs typeface="Calibri" panose="020F0502020204030204"/>
              </a:rPr>
              <a:t>When</a:t>
            </a:r>
            <a:r>
              <a:rPr sz="32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model</a:t>
            </a:r>
            <a:r>
              <a:rPr sz="3200" spc="34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is</a:t>
            </a:r>
            <a:r>
              <a:rPr sz="32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processing</a:t>
            </a:r>
            <a:r>
              <a:rPr sz="3200" spc="3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the</a:t>
            </a:r>
            <a:r>
              <a:rPr sz="3200" spc="35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word</a:t>
            </a:r>
            <a:r>
              <a:rPr sz="32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"it",</a:t>
            </a:r>
            <a:r>
              <a:rPr sz="3200" spc="37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spc="-10" dirty="0">
                <a:latin typeface="Calibri" panose="020F0502020204030204"/>
                <a:cs typeface="Calibri" panose="020F0502020204030204"/>
              </a:rPr>
              <a:t>self-attention </a:t>
            </a:r>
            <a:r>
              <a:rPr sz="320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32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it</a:t>
            </a:r>
            <a:r>
              <a:rPr sz="32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to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associate</a:t>
            </a:r>
            <a:r>
              <a:rPr sz="32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"it"</a:t>
            </a:r>
            <a:r>
              <a:rPr sz="3200" b="1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dirty="0">
                <a:latin typeface="Calibri" panose="020F0502020204030204"/>
                <a:cs typeface="Calibri" panose="020F0502020204030204"/>
              </a:rPr>
              <a:t>with</a:t>
            </a:r>
            <a:r>
              <a:rPr sz="32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32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"animal".</a:t>
            </a:r>
            <a:endParaRPr sz="3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Self-Attention</a:t>
            </a:r>
            <a:endParaRPr spc="-2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622547" y="1100327"/>
            <a:ext cx="4946904" cy="46756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5676696"/>
            <a:ext cx="10506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we</a:t>
            </a:r>
            <a:r>
              <a:rPr sz="180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encoding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word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"it"</a:t>
            </a:r>
            <a:r>
              <a:rPr sz="180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encoder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#5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(the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top</a:t>
            </a:r>
            <a:r>
              <a:rPr sz="180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encoder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stack),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</a:t>
            </a:r>
            <a:r>
              <a:rPr sz="180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80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attention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mechanism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was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focusing</a:t>
            </a:r>
            <a:r>
              <a:rPr sz="18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"The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Animal",</a:t>
            </a:r>
            <a:r>
              <a:rPr sz="1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8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baked</a:t>
            </a:r>
            <a:r>
              <a:rPr sz="1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</a:t>
            </a:r>
            <a:r>
              <a:rPr sz="18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representation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sz="18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encoding</a:t>
            </a:r>
            <a:r>
              <a:rPr sz="18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"it".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Self-Attention</a:t>
            </a:r>
            <a:r>
              <a:rPr spc="-7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Detail</a:t>
            </a:r>
            <a:endParaRPr spc="-10" dirty="0"/>
          </a:p>
        </p:txBody>
      </p:sp>
      <p:grpSp>
        <p:nvGrpSpPr>
          <p:cNvPr id="3" name="object 3"/>
          <p:cNvGrpSpPr/>
          <p:nvPr/>
        </p:nvGrpSpPr>
        <p:grpSpPr>
          <a:xfrm>
            <a:off x="2024620" y="1305416"/>
            <a:ext cx="8385809" cy="4512945"/>
            <a:chOff x="2024620" y="1305416"/>
            <a:chExt cx="8385809" cy="451294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024620" y="1305416"/>
              <a:ext cx="8123710" cy="44418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991094" y="1520190"/>
              <a:ext cx="2409825" cy="4288790"/>
            </a:xfrm>
            <a:custGeom>
              <a:avLst/>
              <a:gdLst/>
              <a:ahLst/>
              <a:cxnLst/>
              <a:rect l="l" t="t" r="r" b="b"/>
              <a:pathLst>
                <a:path w="2409825" h="4288790">
                  <a:moveTo>
                    <a:pt x="0" y="4288536"/>
                  </a:moveTo>
                  <a:lnTo>
                    <a:pt x="2409444" y="4288536"/>
                  </a:lnTo>
                  <a:lnTo>
                    <a:pt x="2409444" y="0"/>
                  </a:lnTo>
                  <a:lnTo>
                    <a:pt x="0" y="0"/>
                  </a:lnTo>
                  <a:lnTo>
                    <a:pt x="0" y="4288536"/>
                  </a:lnTo>
                  <a:close/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66368" y="5826658"/>
            <a:ext cx="10509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Multiplying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x1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by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WQ</a:t>
            </a:r>
            <a:r>
              <a:rPr sz="180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weight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matrix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produces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q1,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"query"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vector</a:t>
            </a:r>
            <a:r>
              <a:rPr sz="180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associated</a:t>
            </a:r>
            <a:r>
              <a:rPr sz="180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180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that</a:t>
            </a:r>
            <a:r>
              <a:rPr sz="180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word.</a:t>
            </a:r>
            <a:r>
              <a:rPr sz="180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We</a:t>
            </a:r>
            <a:r>
              <a:rPr sz="180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end</a:t>
            </a:r>
            <a:r>
              <a:rPr sz="180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creating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0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"query",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0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"key",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0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"value"</a:t>
            </a:r>
            <a:r>
              <a:rPr sz="180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projection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word</a:t>
            </a:r>
            <a:r>
              <a:rPr sz="1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8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input</a:t>
            </a:r>
            <a:r>
              <a:rPr sz="180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sentence.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0545826" y="1415922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Weights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Self-Attention</a:t>
            </a:r>
            <a:r>
              <a:rPr spc="-7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spc="-10" dirty="0"/>
              <a:t>Detail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55119" y="1280508"/>
            <a:ext cx="5975890" cy="50615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27032" y="3474466"/>
            <a:ext cx="112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dot</a:t>
            </a:r>
            <a:r>
              <a:rPr sz="180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product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Matrix</a:t>
            </a:r>
            <a:r>
              <a:rPr spc="-110" dirty="0"/>
              <a:t> </a:t>
            </a:r>
            <a:r>
              <a:rPr dirty="0"/>
              <a:t>Calculation</a:t>
            </a:r>
            <a:r>
              <a:rPr spc="-90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20" dirty="0"/>
              <a:t>Self-</a:t>
            </a:r>
            <a:r>
              <a:rPr spc="-10" dirty="0"/>
              <a:t>Attention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28415" y="1115567"/>
            <a:ext cx="5535168" cy="53446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5443220"/>
            <a:ext cx="27006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Every</a:t>
            </a:r>
            <a:r>
              <a:rPr sz="1800" spc="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row</a:t>
            </a:r>
            <a:r>
              <a:rPr sz="1800" spc="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1800" spc="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1800" spc="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matrix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corresponds</a:t>
            </a:r>
            <a:r>
              <a:rPr sz="1800" spc="1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1800" spc="1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00" spc="1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word</a:t>
            </a:r>
            <a:r>
              <a:rPr sz="1800" spc="1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 </a:t>
            </a:r>
            <a:r>
              <a:rPr sz="1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input</a:t>
            </a:r>
            <a:r>
              <a:rPr sz="18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sentence.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worked example 1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585085"/>
          </a:xfrm>
        </p:spPr>
        <p:txBody>
          <a:bodyPr/>
          <a:p>
            <a:r>
              <a:rPr lang="en-US" altLang="en-US"/>
              <a:t>“I love NLP”</a:t>
            </a:r>
            <a:endParaRPr lang="en-US" altLang="en-US"/>
          </a:p>
          <a:p>
            <a:r>
              <a:rPr lang="en-US" altLang="en-US"/>
              <a:t>x</a:t>
            </a:r>
            <a:r>
              <a:rPr lang="en-US" altLang="en-US" baseline="-25000"/>
              <a:t>1​</a:t>
            </a:r>
            <a:r>
              <a:rPr lang="en-US" altLang="en-US"/>
              <a:t>=I, x</a:t>
            </a:r>
            <a:r>
              <a:rPr lang="en-US" altLang="en-US" baseline="-25000"/>
              <a:t>2​</a:t>
            </a:r>
            <a:r>
              <a:rPr lang="en-US" altLang="en-US"/>
              <a:t>=love, x</a:t>
            </a:r>
            <a:r>
              <a:rPr lang="en-US" altLang="en-US" baseline="-25000"/>
              <a:t>3​</a:t>
            </a:r>
            <a:r>
              <a:rPr lang="en-US" altLang="en-US"/>
              <a:t>=NLP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Compute: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self-attention for the word “love”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723390"/>
          </a:xfrm>
        </p:spPr>
        <p:txBody>
          <a:bodyPr/>
          <a:p>
            <a:r>
              <a:rPr lang="en-US" altLang="en-US"/>
              <a:t>Step 1: Token Embeddings (Given)</a:t>
            </a:r>
            <a:endParaRPr lang="en-US" altLang="en-US"/>
          </a:p>
          <a:p>
            <a:r>
              <a:rPr lang="en-US" altLang="en-US"/>
              <a:t>d</a:t>
            </a:r>
            <a:r>
              <a:rPr lang="en-US" altLang="en-US" baseline="-25000"/>
              <a:t>model</a:t>
            </a:r>
            <a:r>
              <a:rPr lang="en-US" altLang="en-US"/>
              <a:t>=2 (dimensionality)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6477000" y="2667000"/>
          <a:ext cx="3662680" cy="1920875"/>
        </p:xfrm>
        <a:graphic>
          <a:graphicData uri="http://schemas.openxmlformats.org/drawingml/2006/table">
            <a:tbl>
              <a:tblPr/>
              <a:tblGrid>
                <a:gridCol w="1831340"/>
                <a:gridCol w="1831340"/>
              </a:tblGrid>
              <a:tr h="763905">
                <a:tc>
                  <a:txBody>
                    <a:bodyPr/>
                    <a:p>
                      <a:pPr algn="ctr" fontAlgn="ctr"/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lang="en-US" altLang="zh-CN"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lang="en-US" altLang="zh-CN"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ctr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0]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080">
                <a:tc>
                  <a:txBody>
                    <a:bodyPr/>
                    <a:p>
                      <a:pPr algn="ctr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love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[0, 1]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445">
                <a:tc>
                  <a:txBody>
                    <a:bodyPr/>
                    <a:p>
                      <a:pPr algn="ctr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NLP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1]</a:t>
                      </a:r>
                      <a:endParaRPr lang="en-US" altLang="zh-CN"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Object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39000" y="4876800"/>
          <a:ext cx="2984500" cy="1781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749300" imgH="711200" progId="Equation.KSEE3">
                  <p:embed/>
                </p:oleObj>
              </mc:Choice>
              <mc:Fallback>
                <p:oleObj name="" r:id="rId2" imgW="7493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39000" y="4876800"/>
                        <a:ext cx="2984500" cy="1781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861695"/>
          </a:xfrm>
        </p:spPr>
        <p:txBody>
          <a:bodyPr/>
          <a:p>
            <a:r>
              <a:rPr lang="en-US" altLang="en-US"/>
              <a:t>Step 2: Weight Matrices (Given)</a:t>
            </a:r>
            <a:endParaRPr lang="en-US" altLang="en-US"/>
          </a:p>
          <a:p>
            <a:endParaRPr lang="en-US" altLang="en-US"/>
          </a:p>
        </p:txBody>
      </p:sp>
      <p:graphicFrame>
        <p:nvGraphicFramePr>
          <p:cNvPr id="5" name="Content Placeholder 4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09600" y="2438400"/>
          <a:ext cx="3933190" cy="1115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612900" imgH="457200" progId="Equation.KSEE3">
                  <p:embed/>
                </p:oleObj>
              </mc:Choice>
              <mc:Fallback>
                <p:oleObj name="" r:id="rId1" imgW="1612900" imgH="4572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438400"/>
                        <a:ext cx="3933190" cy="1115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5913120" y="1577340"/>
            <a:ext cx="5771515" cy="830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0" lang="en-US" altLang="en-US" sz="2800" b="1" i="0" u="none" strike="noStrike" kern="0" cap="none" spc="0" normalizeH="0" baseline="0" noProof="1">
                <a:solidFill>
                  <a:srgbClr val="C00000"/>
                </a:solidFill>
                <a:latin typeface="Calibri" panose="020F0502020204030204"/>
                <a:ea typeface="+mn-ea"/>
                <a:cs typeface="Calibri" panose="020F0502020204030204"/>
              </a:rPr>
              <a:t>Step 3: Compute Query, Key, Value</a:t>
            </a:r>
            <a:endParaRPr kumimoji="0" lang="en-US" altLang="en-US" sz="2800" b="1" i="0" u="none" strike="noStrike" kern="0" cap="none" spc="0" normalizeH="0" baseline="0" noProof="1">
              <a:solidFill>
                <a:srgbClr val="C00000"/>
              </a:solidFill>
              <a:latin typeface="Calibri" panose="020F0502020204030204"/>
              <a:ea typeface="+mn-ea"/>
              <a:cs typeface="Calibri" panose="020F0502020204030204"/>
            </a:endParaRPr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53100" y="2667000"/>
          <a:ext cx="5931535" cy="71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2005965" imgH="241300" progId="Equation.KSEE3">
                  <p:embed/>
                </p:oleObj>
              </mc:Choice>
              <mc:Fallback>
                <p:oleObj name="" r:id="rId3" imgW="2005965" imgH="2413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53100" y="2667000"/>
                        <a:ext cx="5931535" cy="713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17490" y="3429000"/>
          <a:ext cx="5737225" cy="2040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1257300" imgH="711200" progId="Equation.KSEE3">
                  <p:embed/>
                </p:oleObj>
              </mc:Choice>
              <mc:Fallback>
                <p:oleObj name="" r:id="rId5" imgW="12573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17490" y="3429000"/>
                        <a:ext cx="5737225" cy="2040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en-US"/>
              <a:t>Step 4: Compute Attention Scores (QK</a:t>
            </a:r>
            <a:r>
              <a:rPr lang="en-US" altLang="en-US"/>
              <a:t>ᵀ</a:t>
            </a:r>
            <a:r>
              <a:rPr lang="en-US" altLang="en-US"/>
              <a:t>)</a:t>
            </a:r>
            <a:endParaRPr lang="en-US" altLang="en-US"/>
          </a:p>
        </p:txBody>
      </p:sp>
      <p:graphicFrame>
        <p:nvGraphicFramePr>
          <p:cNvPr id="8" name="Content Placeholder 7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380683" y="2743200"/>
          <a:ext cx="4731385" cy="185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43000" imgH="711200" progId="Equation.KSEE3">
                  <p:embed/>
                </p:oleObj>
              </mc:Choice>
              <mc:Fallback>
                <p:oleObj name="" r:id="rId1" imgW="11430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0683" y="2743200"/>
                        <a:ext cx="4731385" cy="1851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652260" y="1600200"/>
            <a:ext cx="5069840" cy="1038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kumimoji="0" lang="en-US" altLang="en-US" sz="2800" b="1" i="0" u="none" strike="noStrike" kern="0" cap="none" spc="0" normalizeH="0" baseline="0" noProof="1">
                <a:solidFill>
                  <a:srgbClr val="C00000"/>
                </a:solidFill>
                <a:latin typeface="Calibri" panose="020F0502020204030204"/>
                <a:ea typeface="+mn-ea"/>
                <a:cs typeface="Calibri" panose="020F0502020204030204"/>
              </a:rPr>
              <a:t>Step 5: Scale the Scores</a:t>
            </a:r>
            <a:endParaRPr kumimoji="0" lang="en-US" altLang="en-US" sz="2800" b="1" i="0" u="none" strike="noStrike" kern="0" cap="none" spc="0" normalizeH="0" baseline="0" noProof="1">
              <a:solidFill>
                <a:srgbClr val="C00000"/>
              </a:solidFill>
              <a:latin typeface="Calibri" panose="020F0502020204030204"/>
              <a:ea typeface="+mn-ea"/>
              <a:cs typeface="Calibri" panose="020F0502020204030204"/>
            </a:endParaRPr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934200" y="2438400"/>
          <a:ext cx="2988310" cy="56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3" imgW="1346200" imgH="254000" progId="Equation.KSEE3">
                  <p:embed/>
                </p:oleObj>
              </mc:Choice>
              <mc:Fallback>
                <p:oleObj name="" r:id="rId3" imgW="1346200" imgH="2540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34200" y="2438400"/>
                        <a:ext cx="2988310" cy="56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53555" y="3352800"/>
          <a:ext cx="306895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5" imgW="1701800" imgH="711200" progId="Equation.KSEE3">
                  <p:embed/>
                </p:oleObj>
              </mc:Choice>
              <mc:Fallback>
                <p:oleObj name="" r:id="rId5" imgW="1701800" imgH="711200" progId="Equation.KSEE3">
                  <p:embed/>
                  <p:pic>
                    <p:nvPicPr>
                      <p:cNvPr id="0" name="Picture 307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3555" y="3352800"/>
                        <a:ext cx="3068955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/>
              <a:t>Step 6: Apply Softmax (Row-wise)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530"/>
          </a:xfrm>
        </p:spPr>
        <p:txBody>
          <a:bodyPr/>
          <a:p>
            <a:r>
              <a:rPr lang="en-US" altLang="en-US"/>
              <a:t>Compute Softmax Weights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85800" y="2165985"/>
            <a:ext cx="4582160" cy="3862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For word “love” (2nd row): 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[0, 0.71, 0.71]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exponentials: e</a:t>
            </a:r>
            <a:r>
              <a:rPr lang="en-US" altLang="en-US" sz="2800" baseline="30000">
                <a:latin typeface="Calibri" panose="020F0502020204030204" charset="0"/>
                <a:cs typeface="Calibri" panose="020F0502020204030204" charset="0"/>
              </a:rPr>
              <a:t>0</a:t>
            </a: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=1,e</a:t>
            </a:r>
            <a:r>
              <a:rPr lang="en-US" altLang="en-US" sz="2800" baseline="30000">
                <a:latin typeface="Calibri" panose="020F0502020204030204" charset="0"/>
                <a:cs typeface="Calibri" panose="020F0502020204030204" charset="0"/>
              </a:rPr>
              <a:t>0.71</a:t>
            </a:r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=2.03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Sums : 1+2.03+2.03=5.06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Softmax weights: 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solidFill>
                  <a:schemeClr val="accent3"/>
                </a:solidFill>
                <a:latin typeface="Calibri" panose="020F0502020204030204" charset="0"/>
                <a:cs typeface="Calibri" panose="020F0502020204030204" charset="0"/>
              </a:rPr>
              <a:t> α=[0.20, 0.40, 0.40]</a:t>
            </a:r>
            <a:endParaRPr lang="en-US" altLang="en-US" sz="2800">
              <a:solidFill>
                <a:schemeClr val="accent3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5"/>
              <p:cNvSpPr txBox="1"/>
              <p:nvPr/>
            </p:nvSpPr>
            <p:spPr>
              <a:xfrm>
                <a:off x="6216015" y="2133600"/>
                <a:ext cx="4526280" cy="34594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en-US" sz="2400">
                    <a:solidFill>
                      <a:schemeClr val="accent3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Compute Softmax Weights</a:t>
                </a:r>
                <a:endParaRPr lang="en-US" altLang="en-US" sz="240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en-US" altLang="en-US" sz="2400">
                    <a:solidFill>
                      <a:schemeClr val="accent3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Weight for I</a:t>
                </a:r>
                <a:endParaRPr lang="en-US" altLang="en-US" sz="240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brk/>
                        </m:rPr>
                        <a:rPr lang="en-US" altLang="en-US" sz="2400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5</m:t>
                          </m:r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6</m:t>
                          </m:r>
                        </m:den>
                      </m:f>
                      <m: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≈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en-US" sz="240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en-US" altLang="en-US" sz="2400">
                    <a:solidFill>
                      <a:schemeClr val="accent3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Weight for love</a:t>
                </a:r>
                <a:endParaRPr lang="en-US" altLang="en-US" sz="240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f>
                        <m:fPr>
                          <m:ctrl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5</m:t>
                          </m:r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.</m:t>
                          </m:r>
                          <m:r>
                            <m:rPr>
                              <m:brk/>
                            </m:rP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en-US" sz="2400" i="1">
                              <a:solidFill>
                                <a:schemeClr val="accent3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6</m:t>
                          </m:r>
                        </m:den>
                      </m:f>
                      <m: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≈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.</m:t>
                      </m:r>
                      <m:r>
                        <m:rPr>
                          <m:brk/>
                        </m:rP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en-US" sz="2400" i="1">
                          <a:solidFill>
                            <a:schemeClr val="accent3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0</m:t>
                      </m:r>
                    </m:oMath>
                  </m:oMathPara>
                </a14:m>
                <a:endParaRPr lang="en-US" altLang="en-US" sz="240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en-US" altLang="en-US" sz="2400">
                    <a:solidFill>
                      <a:schemeClr val="accent3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Weight for NLP</a:t>
                </a:r>
                <a:endParaRPr lang="en-US" altLang="en-US" sz="2400">
                  <a:solidFill>
                    <a:schemeClr val="accent3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just"/>
                <a:r>
                  <a:rPr lang="en-US" altLang="en-US" sz="2400">
                    <a:solidFill>
                      <a:schemeClr val="accent3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𝛼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3</m:t>
                        </m:r>
                      </m:sub>
                    </m:sSub>
                    <m:r>
                      <m:rPr>
                        <m:brk/>
                      </m:rP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 </m:t>
                    </m:r>
                    <m:f>
                      <m:fPr>
                        <m:ctrl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2</m:t>
                        </m:r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3</m:t>
                        </m:r>
                      </m:num>
                      <m:den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5</m:t>
                        </m:r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m:rPr>
                            <m:brk/>
                          </m:rP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en-US" sz="2400" i="1">
                            <a:solidFill>
                              <a:schemeClr val="accent3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6</m:t>
                        </m:r>
                      </m:den>
                    </m:f>
                    <m: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≈</m:t>
                    </m:r>
                    <m:r>
                      <m:rPr>
                        <m:brk/>
                      </m:rP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  <m:r>
                      <m:rPr>
                        <m:brk/>
                      </m:rP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m:rPr>
                        <m:brk/>
                      </m:rP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4</m:t>
                    </m:r>
                    <m:r>
                      <a:rPr lang="en-US" altLang="en-US" sz="2400" i="1">
                        <a:solidFill>
                          <a:schemeClr val="accent3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0</m:t>
                    </m:r>
                  </m:oMath>
                </a14:m>
                <a:endParaRPr lang="en-US" altLang="en-US" sz="2400" i="1">
                  <a:solidFill>
                    <a:schemeClr val="accent3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015" y="2133600"/>
                <a:ext cx="4526280" cy="3459480"/>
              </a:xfrm>
              <a:prstGeom prst="rect">
                <a:avLst/>
              </a:prstGeom>
              <a:blipFill rotWithShape="1">
                <a:blip r:embed="rId1"/>
                <a:stretch>
                  <a:fillRect b="-1923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/>
              <a:t>Step 7: Compute Attention Output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530"/>
          </a:xfrm>
        </p:spPr>
        <p:txBody>
          <a:bodyPr/>
          <a:p>
            <a:r>
              <a:rPr lang="en-US" altLang="en-US"/>
              <a:t>Step 8: Interpretation 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4"/>
              <p:cNvSpPr txBox="1"/>
              <p:nvPr/>
            </p:nvSpPr>
            <p:spPr>
              <a:xfrm>
                <a:off x="743585" y="2205990"/>
                <a:ext cx="4840605" cy="33521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en-US" sz="2000">
                    <a:latin typeface="Calibri" panose="020F0502020204030204" charset="0"/>
                    <a:cs typeface="Calibri" panose="020F0502020204030204" charset="0"/>
                  </a:rPr>
                  <a:t>Attention(love)</a:t>
                </a:r>
                <a:endParaRPr lang="en-US" altLang="en-US" sz="2000">
                  <a:latin typeface="Calibri" panose="020F0502020204030204" charset="0"/>
                  <a:cs typeface="Calibri" panose="020F0502020204030204" charset="0"/>
                </a:endParaRPr>
              </a:p>
              <a:p>
                <a:endParaRPr lang="en-US" altLang="en-US" sz="2000" i="1">
                  <a:latin typeface="Calibri" panose="020F0502020204030204" charset="0"/>
                  <a:cs typeface="Calibri" panose="020F0502020204030204" charset="0"/>
                  <a:sym typeface="+mn-ea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/>
                        </m:rPr>
                        <a:rPr lang="en-US" alt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r>
                        <a:rPr lang="en-US" alt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𝑡𝑡𝑒𝑛𝑡𝑖𝑜𝑛</m:t>
                      </m:r>
                      <m:d>
                        <m:dPr>
                          <m:ctrlPr>
                            <a:rPr lang="en-US" alt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m:rPr>
                              <m:brk/>
                            </m:rPr>
                            <a:rPr lang="en-US" alt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𝑄</m:t>
                          </m:r>
                          <m:r>
                            <m:rPr>
                              <m:brk/>
                            </m:rPr>
                            <a:rPr lang="en-US" altLang="en-US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en-US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m:rPr>
                              <m:brk/>
                            </m:rPr>
                            <a:rPr lang="en-US" alt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  <m:r>
                            <m:rPr>
                              <m:brk/>
                            </m:rPr>
                            <a:rPr lang="en-US" altLang="en-US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en-US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, </m:t>
                          </m:r>
                          <m:r>
                            <m:rPr>
                              <m:brk/>
                            </m:rPr>
                            <a:rPr lang="en-US" alt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𝑉</m:t>
                          </m:r>
                        </m:e>
                      </m:d>
                      <m:r>
                        <m:rPr>
                          <m:brk/>
                        </m:rPr>
                        <a:rPr lang="en-US" altLang="en-US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</m:t>
                      </m:r>
                      <m:r>
                        <a:rPr lang="en-US" altLang="en-US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 </m:t>
                      </m:r>
                      <m:r>
                        <m:rPr>
                          <m:brk/>
                        </m:rPr>
                        <a:rPr lang="en-US" alt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𝑠</m:t>
                      </m:r>
                      <m:r>
                        <a:rPr lang="en-US" alt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𝑜𝑓𝑡𝑚𝑎𝑥</m:t>
                      </m:r>
                      <m:d>
                        <m:dPr>
                          <m:ctrlPr>
                            <a:rPr lang="en-US" altLang="en-US" sz="2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en-US" sz="2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/>
                                    </m:rPr>
                                    <a:rPr lang="en-US" altLang="en-US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𝑄</m:t>
                                  </m:r>
                                  <m:r>
                                    <a:rPr lang="en-US" altLang="en-US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brk/>
                                    </m:rPr>
                                    <a:rPr lang="en-US" altLang="en-US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en-US" sz="2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/>
                                        </m:rPr>
                                        <a:rPr lang="en-US" altLang="en-US" sz="2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m:rPr>
                                          <m:brk/>
                                        </m:rPr>
                                        <a:rPr lang="en-US" altLang="en-US" sz="2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m:rPr>
                          <m:brk/>
                        </m:rPr>
                        <a:rPr lang="en-US" altLang="en-US" sz="2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𝑉</m:t>
                      </m:r>
                    </m:oMath>
                  </m:oMathPara>
                </a14:m>
                <a:endParaRPr lang="en-US" altLang="en-US" sz="2000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 sz="2000">
                    <a:latin typeface="Calibri" panose="020F0502020204030204" charset="0"/>
                    <a:cs typeface="Calibri" panose="020F0502020204030204" charset="0"/>
                  </a:rPr>
                  <a:t>=0.20[1,0]+0.40[0,1]+0.40[1,1]</a:t>
                </a:r>
                <a:endParaRPr lang="en-US" altLang="en-US" sz="2000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 sz="2000">
                    <a:latin typeface="Calibri" panose="020F0502020204030204" charset="0"/>
                    <a:cs typeface="Calibri" panose="020F0502020204030204" charset="0"/>
                  </a:rPr>
                  <a:t>=[0.20,0]+[0,0.40]+[0.40,0.40]</a:t>
                </a:r>
                <a:endParaRPr lang="en-US" altLang="en-US" sz="2000">
                  <a:latin typeface="Calibri" panose="020F0502020204030204" charset="0"/>
                  <a:cs typeface="Calibri" panose="020F0502020204030204" charset="0"/>
                </a:endParaRPr>
              </a:p>
              <a:p>
                <a:r>
                  <a:rPr lang="en-US" altLang="en-US" sz="2000">
                    <a:latin typeface="Calibri" panose="020F0502020204030204" charset="0"/>
                    <a:cs typeface="Calibri" panose="020F0502020204030204" charset="0"/>
                  </a:rPr>
                  <a:t>=[0.60,0.80]</a:t>
                </a:r>
                <a:endParaRPr lang="en-US" altLang="en-US" sz="2000">
                  <a:latin typeface="Calibri" panose="020F0502020204030204" charset="0"/>
                  <a:cs typeface="Calibri" panose="020F0502020204030204" charset="0"/>
                </a:endParaRPr>
              </a:p>
            </p:txBody>
          </p:sp>
        </mc:Choice>
        <mc:Fallback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85" y="2205990"/>
                <a:ext cx="4840605" cy="33521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5"/>
          <p:cNvSpPr txBox="1"/>
          <p:nvPr/>
        </p:nvSpPr>
        <p:spPr>
          <a:xfrm>
            <a:off x="6244590" y="233616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ym typeface="+mn-ea"/>
              </a:rPr>
              <a:t>The word “love” attends: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20% to I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40% to love itself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40% to NLP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Hence, the representation of “love” now contains context from all words.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Multi-</a:t>
            </a:r>
            <a:r>
              <a:rPr dirty="0"/>
              <a:t>Headed</a:t>
            </a:r>
            <a:r>
              <a:rPr spc="-55" dirty="0"/>
              <a:t> </a:t>
            </a:r>
            <a:r>
              <a:rPr spc="-10" dirty="0"/>
              <a:t>Attention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6368" y="1730755"/>
            <a:ext cx="10509250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204085" algn="l"/>
                <a:tab pos="3756025" algn="l"/>
                <a:tab pos="5276850" algn="l"/>
                <a:tab pos="5949315" algn="l"/>
                <a:tab pos="8008620" algn="l"/>
                <a:tab pos="8494395" algn="l"/>
                <a:tab pos="9166860" algn="l"/>
              </a:tabLst>
            </a:pPr>
            <a:r>
              <a:rPr sz="2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Multi-Headed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Attention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improves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performance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8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attention 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layer</a:t>
            </a:r>
            <a:r>
              <a:rPr sz="280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80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two</a:t>
            </a:r>
            <a:r>
              <a:rPr sz="280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ways: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53695" marR="5080" indent="-341630" algn="just">
              <a:lnSpc>
                <a:spcPct val="100000"/>
              </a:lnSpc>
              <a:spcBef>
                <a:spcPts val="3360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expands</a:t>
            </a:r>
            <a:r>
              <a:rPr sz="28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model’s</a:t>
            </a:r>
            <a:r>
              <a:rPr sz="28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ability</a:t>
            </a:r>
            <a:r>
              <a:rPr sz="28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focus</a:t>
            </a:r>
            <a:r>
              <a:rPr sz="28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on</a:t>
            </a:r>
            <a:r>
              <a:rPr sz="280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800" b="1" spc="1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positions</a:t>
            </a:r>
            <a:r>
              <a:rPr sz="2800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Yes,</a:t>
            </a:r>
            <a:r>
              <a:rPr sz="28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in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28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above,</a:t>
            </a:r>
            <a:r>
              <a:rPr sz="2800" spc="3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z1</a:t>
            </a:r>
            <a:r>
              <a:rPr sz="2800" spc="3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contains</a:t>
            </a:r>
            <a:r>
              <a:rPr sz="2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little</a:t>
            </a:r>
            <a:r>
              <a:rPr sz="28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bit</a:t>
            </a:r>
            <a:r>
              <a:rPr sz="2800" spc="3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every</a:t>
            </a:r>
            <a:r>
              <a:rPr sz="2800" spc="3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28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encoding,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2800" dirty="0">
                <a:latin typeface="Calibri" panose="020F0502020204030204"/>
                <a:cs typeface="Calibri" panose="020F0502020204030204"/>
              </a:rPr>
              <a:t>but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could</a:t>
            </a:r>
            <a:r>
              <a:rPr sz="28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be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dominated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by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actual</a:t>
            </a:r>
            <a:r>
              <a:rPr sz="2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word</a:t>
            </a:r>
            <a:r>
              <a:rPr sz="2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itself.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3365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800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-7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gives</a:t>
            </a:r>
            <a:r>
              <a:rPr sz="28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attention</a:t>
            </a:r>
            <a:r>
              <a:rPr sz="28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layer</a:t>
            </a:r>
            <a:r>
              <a:rPr sz="2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multiple</a:t>
            </a:r>
            <a:r>
              <a:rPr sz="2800" b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representation</a:t>
            </a:r>
            <a:r>
              <a:rPr sz="2800" b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subspaces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Multi-</a:t>
            </a:r>
            <a:r>
              <a:rPr dirty="0"/>
              <a:t>Headed</a:t>
            </a:r>
            <a:r>
              <a:rPr spc="-55" dirty="0"/>
              <a:t> </a:t>
            </a:r>
            <a:r>
              <a:rPr spc="-10" dirty="0"/>
              <a:t>Attention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06689" y="1579322"/>
            <a:ext cx="9843172" cy="470838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Multi-</a:t>
            </a:r>
            <a:r>
              <a:rPr dirty="0"/>
              <a:t>Headed</a:t>
            </a:r>
            <a:r>
              <a:rPr spc="-55" dirty="0"/>
              <a:t> </a:t>
            </a:r>
            <a:r>
              <a:rPr spc="-10" dirty="0"/>
              <a:t>Attention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95395" y="1325733"/>
            <a:ext cx="4057389" cy="39630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1875" y="1307939"/>
            <a:ext cx="3911685" cy="38211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6368" y="5360670"/>
            <a:ext cx="586486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As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encode</a:t>
            </a:r>
            <a:r>
              <a:rPr sz="1600" spc="1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word</a:t>
            </a:r>
            <a:r>
              <a:rPr sz="16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1600" dirty="0">
                <a:latin typeface="Calibri" panose="020F0502020204030204"/>
                <a:cs typeface="Calibri" panose="020F0502020204030204"/>
              </a:rPr>
              <a:t>",</a:t>
            </a:r>
            <a:r>
              <a:rPr sz="16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one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attention</a:t>
            </a:r>
            <a:r>
              <a:rPr sz="1600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head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focusing</a:t>
            </a:r>
            <a:r>
              <a:rPr sz="16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most</a:t>
            </a:r>
            <a:r>
              <a:rPr sz="1600" spc="1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on 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600" b="1" spc="2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animal</a:t>
            </a:r>
            <a:r>
              <a:rPr sz="1600" dirty="0">
                <a:latin typeface="Calibri" panose="020F0502020204030204"/>
                <a:cs typeface="Calibri" panose="020F0502020204030204"/>
              </a:rPr>
              <a:t>",</a:t>
            </a:r>
            <a:r>
              <a:rPr sz="1600" spc="2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while</a:t>
            </a:r>
            <a:r>
              <a:rPr sz="1600" spc="254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is</a:t>
            </a:r>
            <a:r>
              <a:rPr sz="16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focusing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on</a:t>
            </a:r>
            <a:r>
              <a:rPr sz="1600" spc="254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tired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spc="254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,</a:t>
            </a:r>
            <a:r>
              <a:rPr sz="1600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</a:t>
            </a:r>
            <a:r>
              <a:rPr sz="1600" spc="254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</a:t>
            </a:r>
            <a:r>
              <a:rPr sz="1600" spc="2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sense,</a:t>
            </a:r>
            <a:r>
              <a:rPr sz="1600" spc="2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600" dirty="0">
                <a:latin typeface="Calibri" panose="020F0502020204030204"/>
                <a:cs typeface="Calibri" panose="020F0502020204030204"/>
              </a:rPr>
              <a:t>model's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representation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120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word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bakes</a:t>
            </a:r>
            <a:r>
              <a:rPr sz="1600" spc="120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in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some</a:t>
            </a:r>
            <a:r>
              <a:rPr sz="1600" spc="120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125" dirty="0">
                <a:latin typeface="Calibri" panose="020F0502020204030204"/>
                <a:cs typeface="Calibri" panose="020F0502020204030204"/>
              </a:rPr>
              <a:t> 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representation</a:t>
            </a:r>
            <a:r>
              <a:rPr sz="16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of</a:t>
            </a:r>
            <a:r>
              <a:rPr sz="16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both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animal</a:t>
            </a:r>
            <a:r>
              <a:rPr sz="160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and</a:t>
            </a:r>
            <a:r>
              <a:rPr sz="16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"</a:t>
            </a:r>
            <a:r>
              <a:rPr sz="16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tired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".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544816" y="5331663"/>
            <a:ext cx="372999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 panose="020F0502020204030204"/>
                <a:cs typeface="Calibri" panose="020F0502020204030204"/>
              </a:rPr>
              <a:t>If</a:t>
            </a:r>
            <a:r>
              <a:rPr sz="1600" spc="45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we</a:t>
            </a:r>
            <a:r>
              <a:rPr sz="1600" spc="4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add</a:t>
            </a:r>
            <a:r>
              <a:rPr sz="1600" spc="45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all</a:t>
            </a:r>
            <a:r>
              <a:rPr sz="1600" spc="45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the</a:t>
            </a:r>
            <a:r>
              <a:rPr sz="1600" spc="45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attention</a:t>
            </a:r>
            <a:r>
              <a:rPr sz="1600" spc="4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heads</a:t>
            </a:r>
            <a:r>
              <a:rPr sz="1600" spc="459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to</a:t>
            </a:r>
            <a:r>
              <a:rPr sz="1600" spc="45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1600" dirty="0">
                <a:latin typeface="Calibri" panose="020F0502020204030204"/>
                <a:cs typeface="Calibri" panose="020F0502020204030204"/>
              </a:rPr>
              <a:t>picture,</a:t>
            </a:r>
            <a:r>
              <a:rPr sz="16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however,</a:t>
            </a:r>
            <a:r>
              <a:rPr sz="16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things</a:t>
            </a:r>
            <a:r>
              <a:rPr sz="16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can</a:t>
            </a:r>
            <a:r>
              <a:rPr sz="1600" spc="34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be</a:t>
            </a:r>
            <a:r>
              <a:rPr sz="1600" spc="345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dirty="0">
                <a:latin typeface="Calibri" panose="020F0502020204030204"/>
                <a:cs typeface="Calibri" panose="020F0502020204030204"/>
              </a:rPr>
              <a:t>harder</a:t>
            </a:r>
            <a:r>
              <a:rPr sz="1600" spc="350" dirty="0">
                <a:latin typeface="Calibri" panose="020F0502020204030204"/>
                <a:cs typeface="Calibri" panose="020F0502020204030204"/>
              </a:rPr>
              <a:t> </a:t>
            </a:r>
            <a:r>
              <a:rPr sz="1600" spc="-25" dirty="0">
                <a:latin typeface="Calibri" panose="020F0502020204030204"/>
                <a:cs typeface="Calibri" panose="020F0502020204030204"/>
              </a:rPr>
              <a:t>to </a:t>
            </a:r>
            <a:r>
              <a:rPr sz="1600" spc="-10" dirty="0">
                <a:latin typeface="Calibri" panose="020F0502020204030204"/>
                <a:cs typeface="Calibri" panose="020F0502020204030204"/>
              </a:rPr>
              <a:t>interpret.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/>
              <a:t>Example (2 Heads)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258508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Word	Embedding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I	[1, 0, 1, 0]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love	[0, 2, 0, 2]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NLP	[1, 1, 1, 1]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Let this be Q = K = V (self-attention).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46780"/>
          </a:xfrm>
        </p:spPr>
        <p:txBody>
          <a:bodyPr/>
          <a:p>
            <a:r>
              <a:rPr lang="en-US" altLang="en-US"/>
              <a:t>2 tokens</a:t>
            </a:r>
            <a:endParaRPr lang="en-US" altLang="en-US"/>
          </a:p>
          <a:p>
            <a:r>
              <a:rPr lang="en-US" altLang="en-US"/>
              <a:t>2 heads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Different key dimensions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Head-1 → d</a:t>
            </a:r>
            <a:r>
              <a:rPr lang="en-US" altLang="en-US" baseline="-25000"/>
              <a:t>k</a:t>
            </a:r>
            <a:r>
              <a:rPr lang="en-US" altLang="en-US"/>
              <a:t>=1</a:t>
            </a:r>
            <a:endParaRPr lang="en-US" altLang="en-US"/>
          </a:p>
          <a:p>
            <a:r>
              <a:rPr lang="en-US" altLang="en-US"/>
              <a:t>Head-2 → d</a:t>
            </a:r>
            <a:r>
              <a:rPr lang="en-US" altLang="en-US" baseline="-25000"/>
              <a:t>k</a:t>
            </a:r>
            <a:r>
              <a:rPr lang="en-US" altLang="en-US"/>
              <a:t>=2</a:t>
            </a:r>
            <a:endParaRPr lang="en-US" altLang="en-US"/>
          </a:p>
          <a:p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861695"/>
          </a:xfrm>
        </p:spPr>
        <p:txBody>
          <a:bodyPr/>
          <a:p>
            <a:r>
              <a:rPr lang="en-US" altLang="en-US"/>
              <a:t>Queries, Keys, Values (1-D)</a:t>
            </a:r>
            <a:endParaRPr lang="en-US" altLang="en-US"/>
          </a:p>
          <a:p>
            <a:endParaRPr lang="en-US" altLang="en-US"/>
          </a:p>
        </p:txBody>
      </p:sp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4600" y="2362200"/>
          <a:ext cx="4345940" cy="88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247900" imgH="457200" progId="Equation.KSEE3">
                  <p:embed/>
                </p:oleObj>
              </mc:Choice>
              <mc:Fallback>
                <p:oleObj name="" r:id="rId1" imgW="2247900" imgH="457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24600" y="2362200"/>
                        <a:ext cx="4345940" cy="88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400800" y="3352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Step 1: Compute QK</a:t>
            </a:r>
            <a:r>
              <a:rPr lang="en-US" altLang="en-US" baseline="30000"/>
              <a:t>T</a:t>
            </a:r>
            <a:endParaRPr lang="en-US"/>
          </a:p>
        </p:txBody>
      </p:sp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477000" y="4038600"/>
          <a:ext cx="419290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765300" imgH="457200" progId="Equation.KSEE3">
                  <p:embed/>
                </p:oleObj>
              </mc:Choice>
              <mc:Fallback>
                <p:oleObj name="" r:id="rId3" imgW="1765300" imgH="457200" progId="Equation.KSEE3">
                  <p:embed/>
                  <p:pic>
                    <p:nvPicPr>
                      <p:cNvPr id="0" name="Picture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000" y="4038600"/>
                        <a:ext cx="4192905" cy="108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3041015" cy="430530"/>
          </a:xfrm>
        </p:spPr>
        <p:txBody>
          <a:bodyPr wrap="square"/>
          <a:p>
            <a:r>
              <a:rPr lang="en-US">
                <a:solidFill>
                  <a:schemeClr val="tx1"/>
                </a:solidFill>
              </a:rPr>
              <a:t>Step2: Scale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43890" y="2265045"/>
          <a:ext cx="209105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066800" imgH="241300" progId="Equation.KSEE3">
                  <p:embed/>
                </p:oleObj>
              </mc:Choice>
              <mc:Fallback>
                <p:oleObj name="" r:id="rId1" imgW="1066800" imgH="2413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3890" y="2265045"/>
                        <a:ext cx="209105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43890" y="2265045"/>
            <a:ext cx="4745355" cy="698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5800" y="3220720"/>
          <a:ext cx="2426970" cy="128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914400" imgH="482600" progId="Equation.KSEE3">
                  <p:embed/>
                </p:oleObj>
              </mc:Choice>
              <mc:Fallback>
                <p:oleObj name="" r:id="rId3" imgW="914400" imgH="4826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3220720"/>
                        <a:ext cx="2426970" cy="1280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3940175" y="1600200"/>
            <a:ext cx="7708900" cy="40925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lang="en-US" altLang="zh-CN" sz="2400" b="1"/>
              <a:t>Step 3: Softmax (row-wise)</a:t>
            </a:r>
            <a:endParaRPr lang="en-US" altLang="zh-CN" sz="2400" b="1"/>
          </a:p>
          <a:p>
            <a:r>
              <a:rPr lang="en-US" altLang="zh-CN" sz="2400"/>
              <a:t>Token-1 softmax(2,4) ≈ (0.12,  0.88)</a:t>
            </a:r>
            <a:endParaRPr lang="en-US" altLang="zh-CN" sz="2400"/>
          </a:p>
          <a:p>
            <a:r>
              <a:rPr lang="en-US" altLang="zh-CN" sz="2400"/>
              <a:t>Token-2 softmax(1,2) ≈ (0.27,  0.73)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en-US" sz="2400"/>
              <a:t>Step 4: Multiply by V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Token-1</a:t>
            </a:r>
            <a:endParaRPr lang="en-US" altLang="en-US" sz="2400"/>
          </a:p>
          <a:p>
            <a:r>
              <a:rPr lang="en-US" altLang="en-US" sz="2400"/>
              <a:t>0.12(3)+0.88(4)=3.88</a:t>
            </a:r>
            <a:endParaRPr lang="en-US" altLang="en-US" sz="2400"/>
          </a:p>
          <a:p>
            <a:r>
              <a:rPr lang="en-US" altLang="en-US" sz="2400"/>
              <a:t>Token-2</a:t>
            </a:r>
            <a:endParaRPr lang="en-US" altLang="en-US" sz="2400"/>
          </a:p>
          <a:p>
            <a:r>
              <a:rPr lang="en-US" altLang="en-US" sz="2400"/>
              <a:t>0.27(3)+0.73(4)=3.73</a:t>
            </a:r>
            <a:endParaRPr lang="en-US" altLang="en-US" sz="2400"/>
          </a:p>
          <a:p>
            <a:endParaRPr lang="en-US" altLang="en-US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861695"/>
          </a:xfrm>
        </p:spPr>
        <p:txBody>
          <a:bodyPr/>
          <a:p>
            <a:r>
              <a:rPr lang="en-US" altLang="en-US" b="0">
                <a:solidFill>
                  <a:schemeClr val="tx1"/>
                </a:solidFill>
              </a:rPr>
              <a:t>Head-2 (dₖ = 2) Queries, Keys, Values (2-D)</a:t>
            </a:r>
            <a:endParaRPr lang="en-US" altLang="en-US" b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09600" y="2869565"/>
          <a:ext cx="5196205" cy="94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2514600" imgH="457200" progId="Equation.KSEE3">
                  <p:embed/>
                </p:oleObj>
              </mc:Choice>
              <mc:Fallback>
                <p:oleObj name="" r:id="rId1" imgW="2514600" imgH="4572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869565"/>
                        <a:ext cx="5196205" cy="944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54050" y="2677795"/>
            <a:ext cx="5212715" cy="561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09600" y="4267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Step 1: QK</a:t>
            </a:r>
            <a:r>
              <a:rPr lang="en-US" altLang="en-US" baseline="30000"/>
              <a:t>T</a:t>
            </a:r>
            <a:endParaRPr lang="en-US" altLang="en-US" baseline="30000"/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9600" y="4876800"/>
          <a:ext cx="386778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3" imgW="1790700" imgH="457200" progId="Equation.KSEE3">
                  <p:embed/>
                </p:oleObj>
              </mc:Choice>
              <mc:Fallback>
                <p:oleObj name="" r:id="rId3" imgW="1790700" imgH="457200" progId="Equation.KSEE3">
                  <p:embed/>
                  <p:pic>
                    <p:nvPicPr>
                      <p:cNvPr id="0" name="Picture 30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4876800"/>
                        <a:ext cx="3867785" cy="98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6620510" y="1810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Step 2: scale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400800" y="2590800"/>
            <a:ext cx="4745355" cy="698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graphicFrame>
        <p:nvGraphicFramePr>
          <p:cNvPr id="13" name="Object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53200" y="2514600"/>
          <a:ext cx="270446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" r:id="rId5" imgW="1130300" imgH="266700" progId="Equation.KSEE3">
                  <p:embed/>
                </p:oleObj>
              </mc:Choice>
              <mc:Fallback>
                <p:oleObj name="" r:id="rId5" imgW="1130300" imgH="266700" progId="Equation.KSEE3">
                  <p:embed/>
                  <p:pic>
                    <p:nvPicPr>
                      <p:cNvPr id="0" name="Picture 30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53200" y="2514600"/>
                        <a:ext cx="2704465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05600" y="3352800"/>
          <a:ext cx="281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1409700" imgH="457200" progId="Equation.KSEE3">
                  <p:embed/>
                </p:oleObj>
              </mc:Choice>
              <mc:Fallback>
                <p:oleObj name="" r:id="rId7" imgW="1409700" imgH="457200" progId="Equation.KSEE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05600" y="3352800"/>
                        <a:ext cx="2819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15392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Step 3: Softmax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Token-1 → [0.5, 0.5]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Token-2 → [0.67, 0.33]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4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Step 4: Multiply with V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Token-1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0.5[2,1]+0.5[1,3]=[1.5,  2]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Token-2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0.67[2,1]+0.33[1,3]=[1.67,  1.66]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Head-2 Output (dₖ = 2)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Object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4600" y="5105400"/>
          <a:ext cx="3387090" cy="1150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1346200" imgH="457200" progId="Equation.KSEE3">
                  <p:embed/>
                </p:oleObj>
              </mc:Choice>
              <mc:Fallback>
                <p:oleObj name="" r:id="rId1" imgW="1346200" imgH="457200" progId="Equation.KSEE3">
                  <p:embed/>
                  <p:pic>
                    <p:nvPicPr>
                      <p:cNvPr id="0" name="Picture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24600" y="5105400"/>
                        <a:ext cx="3387090" cy="1150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08" y="2819145"/>
            <a:ext cx="8253730" cy="615315"/>
          </a:xfrm>
        </p:spPr>
        <p:txBody>
          <a:bodyPr/>
          <a:p>
            <a:pPr algn="ctr"/>
            <a:r>
              <a:rPr lang="en-US"/>
              <a:t>Transformers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Transformers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3"/>
          </p:nvPr>
        </p:nvPicPr>
        <p:blipFill>
          <a:blip r:embed="rId1"/>
          <a:stretch>
            <a:fillRect/>
          </a:stretch>
        </p:blipFill>
        <p:spPr>
          <a:xfrm>
            <a:off x="6257925" y="1722755"/>
            <a:ext cx="4908550" cy="402907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ChangeAspect="1"/>
          </p:cNvPicPr>
          <p:nvPr>
            <p:ph sz="half" idx="2"/>
          </p:nvPr>
        </p:nvPicPr>
        <p:blipFill>
          <a:blip r:embed="rId2"/>
          <a:srcRect t="7789" b="7789"/>
          <a:stretch>
            <a:fillRect/>
          </a:stretch>
        </p:blipFill>
        <p:spPr>
          <a:xfrm>
            <a:off x="609600" y="1577340"/>
            <a:ext cx="53035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Transformer</a:t>
            </a:r>
            <a:endParaRPr spc="-4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753594" y="3425952"/>
            <a:ext cx="6835413" cy="28655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4494" y="1408303"/>
            <a:ext cx="1057148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Positional</a:t>
            </a:r>
            <a:r>
              <a:rPr sz="2800" b="1" spc="-1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Encoding:</a:t>
            </a:r>
            <a:endParaRPr sz="280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transformer</a:t>
            </a:r>
            <a:r>
              <a:rPr sz="28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adds</a:t>
            </a:r>
            <a:r>
              <a:rPr sz="280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12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vector</a:t>
            </a:r>
            <a:r>
              <a:rPr sz="2800" b="1" spc="1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to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800" b="1" spc="114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input</a:t>
            </a:r>
            <a:r>
              <a:rPr sz="2800" b="1" spc="114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embedding</a:t>
            </a:r>
            <a:r>
              <a:rPr sz="2800" dirty="0">
                <a:latin typeface="Calibri" panose="020F0502020204030204"/>
                <a:cs typeface="Calibri" panose="020F0502020204030204"/>
              </a:rPr>
              <a:t>.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These</a:t>
            </a:r>
            <a:r>
              <a:rPr sz="28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vectors </a:t>
            </a:r>
            <a:r>
              <a:rPr sz="2800" dirty="0">
                <a:latin typeface="Calibri" panose="020F0502020204030204"/>
                <a:cs typeface="Calibri" panose="020F0502020204030204"/>
              </a:rPr>
              <a:t>follow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a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specific</a:t>
            </a:r>
            <a:r>
              <a:rPr sz="2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pattern</a:t>
            </a:r>
            <a:r>
              <a:rPr sz="2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model</a:t>
            </a:r>
            <a:r>
              <a:rPr sz="28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learns,</a:t>
            </a:r>
            <a:r>
              <a:rPr sz="280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helps</a:t>
            </a:r>
            <a:r>
              <a:rPr sz="2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it</a:t>
            </a:r>
            <a:r>
              <a:rPr sz="2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determine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800" b="1" spc="3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position</a:t>
            </a:r>
            <a:r>
              <a:rPr sz="2800" b="1" spc="3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of</a:t>
            </a:r>
            <a:r>
              <a:rPr sz="2800" spc="3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8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word</a:t>
            </a:r>
            <a:r>
              <a:rPr sz="2800" spc="3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or</a:t>
            </a:r>
            <a:r>
              <a:rPr sz="28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30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distance</a:t>
            </a:r>
            <a:r>
              <a:rPr sz="2800" b="1" spc="3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between</a:t>
            </a:r>
            <a:r>
              <a:rPr sz="28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2800" spc="310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dirty="0">
                <a:latin typeface="Calibri" panose="020F0502020204030204"/>
                <a:cs typeface="Calibri" panose="020F0502020204030204"/>
              </a:rPr>
              <a:t>words</a:t>
            </a:r>
            <a:r>
              <a:rPr sz="28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25" dirty="0">
                <a:latin typeface="Calibri" panose="020F0502020204030204"/>
                <a:cs typeface="Calibri" panose="020F0502020204030204"/>
              </a:rPr>
              <a:t>in </a:t>
            </a:r>
            <a:r>
              <a:rPr sz="2800" dirty="0">
                <a:latin typeface="Calibri" panose="020F0502020204030204"/>
                <a:cs typeface="Calibri" panose="020F0502020204030204"/>
              </a:rPr>
              <a:t>the</a:t>
            </a:r>
            <a:r>
              <a:rPr sz="2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800" spc="-10" dirty="0">
                <a:latin typeface="Calibri" panose="020F0502020204030204"/>
                <a:cs typeface="Calibri" panose="020F0502020204030204"/>
              </a:rPr>
              <a:t>sequence.</a:t>
            </a:r>
            <a:endParaRPr sz="2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38200" y="1447800"/>
            <a:ext cx="9784715" cy="467169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calculation of positional encoding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585085"/>
          </a:xfrm>
        </p:spPr>
        <p:txBody>
          <a:bodyPr/>
          <a:p>
            <a:pPr algn="just"/>
            <a:r>
              <a:rPr lang="en-US" altLang="en-US">
                <a:solidFill>
                  <a:schemeClr val="tx1"/>
                </a:solidFill>
              </a:rPr>
              <a:t>using sine and cosine functions provide a smooth, periodic encoding of positions that allows for easy interpolation and generalization across sequences of varying lengths.</a:t>
            </a:r>
            <a:endParaRPr lang="en-US" altLang="en-US">
              <a:solidFill>
                <a:schemeClr val="tx1"/>
              </a:solidFill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3"/>
          </p:nvPr>
        </p:nvPicPr>
        <p:blipFill>
          <a:blip r:embed="rId1"/>
          <a:stretch>
            <a:fillRect/>
          </a:stretch>
        </p:blipFill>
        <p:spPr>
          <a:xfrm>
            <a:off x="6012815" y="1366520"/>
            <a:ext cx="5569585" cy="51784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/>
              <a:t>Example with Dimensionality</a:t>
            </a:r>
            <a:endParaRPr lang="en-US" altLang="en-US"/>
          </a:p>
        </p:txBody>
      </p:sp>
      <p:pic>
        <p:nvPicPr>
          <p:cNvPr id="9" name="Content Placeholder 8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38200" y="1447800"/>
            <a:ext cx="10770870" cy="385191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89616" y="1111092"/>
            <a:ext cx="5611637" cy="5123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Transformer</a:t>
            </a:r>
            <a:endParaRPr spc="-4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Transformer</a:t>
            </a:r>
            <a:endParaRPr spc="-4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31053" y="1364685"/>
            <a:ext cx="9154678" cy="498552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" y="1577340"/>
                <a:ext cx="5303520" cy="4856480"/>
              </a:xfrm>
            </p:spPr>
            <p:txBody>
              <a:bodyPr/>
              <a:p>
                <a:r>
                  <a:rPr lang="en-US" altLang="en-US" sz="2000">
                    <a:solidFill>
                      <a:schemeClr val="tx1"/>
                    </a:solidFill>
                  </a:rPr>
                  <a:t>1. Self Attention Mechanism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transformers to determine which words in a sentence are most relevant to each other. This is done using a scaled dot-product attention approach: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Each word in a sequence is mapped to three vectors: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    Query (Q)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    Key (K)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    Value (V)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Attention scores are computed as: Attention(Q,K,V)=softmax(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sz="2000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𝑸</m:t>
                        </m:r>
                        <m:sSup>
                          <m:sSupPr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𝑲</m:t>
                            </m:r>
                          </m:e>
                          <m:sup>
                            <m: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𝑻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US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altLang="en-US" sz="2000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en-US" sz="2000">
                    <a:solidFill>
                      <a:schemeClr val="tx1"/>
                    </a:solidFill>
                  </a:rPr>
                  <a:t>V</a:t>
                </a:r>
                <a:endParaRPr lang="en-US" altLang="en-US" sz="2000">
                  <a:solidFill>
                    <a:schemeClr val="tx1"/>
                  </a:solidFill>
                </a:endParaRPr>
              </a:p>
              <a:p>
                <a:r>
                  <a:rPr lang="en-US" altLang="en-US" sz="2000">
                    <a:solidFill>
                      <a:schemeClr val="tx1"/>
                    </a:solidFill>
                  </a:rPr>
                  <a:t>These scores determine how much attention each word should pay to others.</a:t>
                </a:r>
                <a:endParaRPr lang="en-US" alt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" y="1577340"/>
                <a:ext cx="5303520" cy="4856480"/>
              </a:xfrm>
              <a:blipFill rotWithShape="1">
                <a:blip r:embed="rId1"/>
                <a:stretch>
                  <a:fillRect t="-5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4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2.Multi-Head Attention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Instead of one attention mechanism, transformers use multiple attention heads running in parallel. Each head captures different relationships or patterns in the data, enriching the model’s understanding.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73964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 3. Positional Encoding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Unlike RNNs, transformers lack an inherent understanding of word order since they process data in parallel. 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To solve this problem Positional Encodings are added to token embeddings providing information about the position of each token within a sequence.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47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4. Position-wise Feed-Forward Networks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 Feed-Forward Networks consist of two linear transformations with a ReLU activation.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Mathematically: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FFN(x)=max(0,xW</a:t>
            </a:r>
            <a:r>
              <a:rPr lang="en-US" altLang="en-US" baseline="-25000">
                <a:solidFill>
                  <a:schemeClr val="tx1"/>
                </a:solidFill>
              </a:rPr>
              <a:t>1</a:t>
            </a:r>
            <a:r>
              <a:rPr lang="en-US" altLang="en-US">
                <a:solidFill>
                  <a:schemeClr val="tx1"/>
                </a:solidFill>
              </a:rPr>
              <a:t>+b</a:t>
            </a:r>
            <a:r>
              <a:rPr lang="en-US" altLang="en-US" baseline="-25000">
                <a:solidFill>
                  <a:schemeClr val="tx1"/>
                </a:solidFill>
              </a:rPr>
              <a:t>1</a:t>
            </a:r>
            <a:r>
              <a:rPr lang="en-US" altLang="en-US">
                <a:solidFill>
                  <a:schemeClr val="tx1"/>
                </a:solidFill>
              </a:rPr>
              <a:t>)W</a:t>
            </a:r>
            <a:r>
              <a:rPr lang="en-US" altLang="en-US" baseline="-25000">
                <a:solidFill>
                  <a:schemeClr val="tx1"/>
                </a:solidFill>
              </a:rPr>
              <a:t>2</a:t>
            </a:r>
            <a:r>
              <a:rPr lang="en-US" altLang="en-US">
                <a:solidFill>
                  <a:schemeClr val="tx1"/>
                </a:solidFill>
              </a:rPr>
              <a:t>+b</a:t>
            </a:r>
            <a:r>
              <a:rPr lang="en-US" altLang="en-US" baseline="-25000">
                <a:solidFill>
                  <a:schemeClr val="tx1"/>
                </a:solidFill>
              </a:rPr>
              <a:t>2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98670"/>
          </a:xfrm>
        </p:spPr>
        <p:txBody>
          <a:bodyPr>
            <a:noAutofit/>
          </a:bodyPr>
          <a:p>
            <a:r>
              <a:rPr lang="en-US" altLang="en-US" sz="2000">
                <a:solidFill>
                  <a:schemeClr val="tx1"/>
                </a:solidFill>
              </a:rPr>
              <a:t> 5. Embeddings</a:t>
            </a:r>
            <a:endParaRPr lang="en-US" altLang="en-US" sz="2000">
              <a:solidFill>
                <a:schemeClr val="tx1"/>
              </a:solidFill>
            </a:endParaRPr>
          </a:p>
          <a:p>
            <a:pPr indent="457200"/>
            <a:r>
              <a:rPr lang="en-US" altLang="en-US" sz="2000">
                <a:solidFill>
                  <a:schemeClr val="tx1"/>
                </a:solidFill>
              </a:rPr>
              <a:t>each input token (word or subword) is converted into a vector, called an embedding.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    Both encoder input tokens and decoder input tokens are converted into embeddings.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    These embeddings are trainable, meaning the model learns the best numeric representation for each token.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    The same weight matrix is shared for Encoder embeddings, Decoder embeddings and the final linear layer before softmax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    The embeddings are scaled by model to keep values stable before adding positional encoding.</a:t>
            </a:r>
            <a:endParaRPr lang="en-US" altLang="en-US" sz="200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47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6. Encoder-Decoder Architecture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The encoder-decoder structure is key to transformer models. The encoder processes the input sequence into a vector, while the decoder converts this vector back into a sequence. Each encoder and decoder layer includes self-attention and feed-forward layers.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  <a:sym typeface="+mn-ea"/>
              </a:rPr>
              <a:t>Encoder-Decoder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4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 6.1. Encoder Self-Attention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Q, K, V all come from the encoder’s previous layer.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Every word can attend to every other word in the input.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This helps the encoder understand full context (long-range meaning).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73964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 6.2. Decoder Self-Attention (Masked)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Q, K, V all come from the decoder’s previous layer.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Future tokens are masked (blocked), so each position only sees previous tokens.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This keeps decoding auto-regressive i.e the model predicts one word at a time.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  <a:sym typeface="+mn-ea"/>
              </a:rPr>
              <a:t>Encoder-Decoder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4678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6.3.Encoder–Decoder Attention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Queries come from the decoder.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Keys and Values come from the encoder output.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    This lets the decoder look at important parts of the input sentence while generating output.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15392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These three attention types allow the transformer to read the entire input at once and then generate outputs step-by-step with full context.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431665"/>
          </a:xfrm>
        </p:spPr>
        <p:txBody>
          <a:bodyPr/>
          <a:p>
            <a:r>
              <a:rPr lang="en-US" altLang="en-US" sz="2400">
                <a:solidFill>
                  <a:schemeClr val="tx1"/>
                </a:solidFill>
              </a:rPr>
              <a:t>7. Softmax Layer for Output Prediction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After the decoder processes the sequence, it must predict the next token.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    The decoder output is passed through a linear layer (whose weights are shared with embeddings).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    Then the softmax function converts these scores into probabilities.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    The token with the highest probability becomes the predicted next word.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653540"/>
            <a:ext cx="5303520" cy="387794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For instance in the sentence "The cat didn't chase the mouse, because it was not hungry" the word 'it' refers to 'cat'. The self-attention mechanism helps the model correctly associate 'it' with 'cat' ensuring an accurate understanding of sentence structure.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Eaxmple 1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3"/>
          </p:nvPr>
        </p:nvSpPr>
        <p:spPr>
          <a:xfrm>
            <a:off x="6278880" y="2057400"/>
            <a:ext cx="5303520" cy="3828415"/>
          </a:xfrm>
        </p:spPr>
        <p:txBody>
          <a:bodyPr>
            <a:noAutofit/>
          </a:bodyPr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964565" y="1555750"/>
            <a:ext cx="5767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Worked Transformer Example (Encoder Self-Attention)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  <p:custDataLst>
              <p:tags r:id="rId1"/>
            </p:custDataLst>
          </p:nvPr>
        </p:nvGraphicFramePr>
        <p:xfrm>
          <a:off x="6553200" y="2209800"/>
          <a:ext cx="4445000" cy="2623820"/>
        </p:xfrm>
        <a:graphic>
          <a:graphicData uri="http://schemas.openxmlformats.org/drawingml/2006/table">
            <a:tbl>
              <a:tblPr/>
              <a:tblGrid>
                <a:gridCol w="2222500"/>
                <a:gridCol w="2222500"/>
              </a:tblGrid>
              <a:tr h="104965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Embedding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451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2, 0, 1]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5145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cars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[0, 1, 2, 1]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451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evolve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1, 1, 2]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1078230" y="2197735"/>
            <a:ext cx="4918075" cy="3905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eg: </a:t>
            </a:r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“EV cars evolve” 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Assumptions (kept small for clarity):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Sequence length = 3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Model dimension d</a:t>
            </a:r>
            <a:r>
              <a:rPr lang="en-US" altLang="en-US" sz="2800" baseline="-25000">
                <a:latin typeface="Calibri" panose="020F0502020204030204" charset="0"/>
                <a:cs typeface="Calibri" panose="020F0502020204030204" charset="0"/>
                <a:sym typeface="+mn-ea"/>
              </a:rPr>
              <a:t>model</a:t>
            </a:r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=4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Number of heads = 1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Key dimension  d</a:t>
            </a:r>
            <a:r>
              <a:rPr lang="en-US" altLang="en-US" sz="2800" baseline="-25000">
                <a:latin typeface="Calibri" panose="020F0502020204030204" charset="0"/>
                <a:cs typeface="Calibri" panose="020F0502020204030204" charset="0"/>
                <a:sym typeface="+mn-ea"/>
              </a:rPr>
              <a:t>k</a:t>
            </a:r>
            <a:r>
              <a:rPr lang="en-US" altLang="en-US" sz="2800">
                <a:latin typeface="Calibri" panose="020F0502020204030204" charset="0"/>
                <a:cs typeface="Calibri" panose="020F0502020204030204" charset="0"/>
                <a:sym typeface="+mn-ea"/>
              </a:rPr>
              <a:t>=2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endParaRPr lang="en-US" sz="2800"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10" name="Object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81800" y="5105400"/>
          <a:ext cx="2067560" cy="1286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1143000" imgH="711200" progId="Equation.KSEE3">
                  <p:embed/>
                </p:oleObj>
              </mc:Choice>
              <mc:Fallback>
                <p:oleObj name="" r:id="rId2" imgW="11430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81800" y="5105400"/>
                        <a:ext cx="2067560" cy="1286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781800" y="1694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Step 1: word embedding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>
                <a:solidFill>
                  <a:schemeClr val="tx1"/>
                </a:solidFill>
                <a:sym typeface="+mn-ea"/>
              </a:rPr>
              <a:t>Step 2: Positional encoding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sz="half" idx="3"/>
          </p:nvPr>
        </p:nvGraphicFramePr>
        <p:xfrm>
          <a:off x="457200" y="2438400"/>
          <a:ext cx="5303520" cy="128016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Position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0.1, 0.1, 0.1]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[0.2, 0.2, 0.2, 0.2]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[0.3, 0.3, 0.3, 0.3]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200" y="4038600"/>
          <a:ext cx="468376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2286000" imgH="711200" progId="Equation.KSEE3">
                  <p:embed/>
                </p:oleObj>
              </mc:Choice>
              <mc:Fallback>
                <p:oleObj name="" r:id="rId1" imgW="2286000" imgH="7112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" y="4038600"/>
                        <a:ext cx="468376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6477000" y="1524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Step 3: Query, Key, Value Projection</a:t>
            </a:r>
            <a:endParaRPr lang="en-US" altLang="en-US"/>
          </a:p>
        </p:txBody>
      </p:sp>
      <p:graphicFrame>
        <p:nvGraphicFramePr>
          <p:cNvPr id="10" name="Object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53200" y="2286000"/>
          <a:ext cx="4239260" cy="1474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2628900" imgH="914400" progId="Equation.KSEE3">
                  <p:embed/>
                </p:oleObj>
              </mc:Choice>
              <mc:Fallback>
                <p:oleObj name="" r:id="rId3" imgW="2628900" imgH="9144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3200" y="2286000"/>
                        <a:ext cx="4239260" cy="1474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>
                <a:solidFill>
                  <a:schemeClr val="tx1"/>
                </a:solidFill>
                <a:sym typeface="+mn-ea"/>
              </a:rPr>
              <a:t>Step 2: Positional encoding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sz="half" idx="3"/>
          </p:nvPr>
        </p:nvGraphicFramePr>
        <p:xfrm>
          <a:off x="457200" y="2438400"/>
          <a:ext cx="5303520" cy="128016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Position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[0.1, 0.1, 0.1, 0.1]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[0.2, 0.2, 0.2, 0.2]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[0.3, 0.3, 0.3, 0.3]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200" y="4038600"/>
          <a:ext cx="468376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2286000" imgH="711200" progId="Equation.KSEE3">
                  <p:embed/>
                </p:oleObj>
              </mc:Choice>
              <mc:Fallback>
                <p:oleObj name="" r:id="rId1" imgW="2286000" imgH="7112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" y="4038600"/>
                        <a:ext cx="4683760" cy="1457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6477000" y="1524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Step 3: Query, Key, Value Projection</a:t>
            </a:r>
            <a:endParaRPr lang="en-US" altLang="en-US"/>
          </a:p>
        </p:txBody>
      </p:sp>
      <p:graphicFrame>
        <p:nvGraphicFramePr>
          <p:cNvPr id="10" name="Object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553200" y="2286000"/>
          <a:ext cx="4239260" cy="1474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2628900" imgH="914400" progId="Equation.KSEE3">
                  <p:embed/>
                </p:oleObj>
              </mc:Choice>
              <mc:Fallback>
                <p:oleObj name="" r:id="rId3" imgW="2628900" imgH="9144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3200" y="2286000"/>
                        <a:ext cx="4239260" cy="1474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70475" y="4419600"/>
          <a:ext cx="69373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r:id="rId5" imgW="4584700" imgH="711200" progId="Equation.KSEE3">
                  <p:embed/>
                </p:oleObj>
              </mc:Choice>
              <mc:Fallback>
                <p:oleObj name="" r:id="rId5" imgW="4584700" imgH="711200" progId="Equation.KSEE3">
                  <p:embed/>
                  <p:pic>
                    <p:nvPicPr>
                      <p:cNvPr id="0" name="Picture 20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0475" y="4419600"/>
                        <a:ext cx="6937375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  <a:sym typeface="+mn-ea"/>
              </a:rPr>
              <a:t>Step 4: Scaled Dot-Product Attention</a:t>
            </a:r>
            <a:endParaRPr lang="en-US"/>
          </a:p>
        </p:txBody>
      </p:sp>
      <p:graphicFrame>
        <p:nvGraphicFramePr>
          <p:cNvPr id="5" name="Content Placeholder 4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09600" y="2286000"/>
          <a:ext cx="4175760" cy="93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2387600" imgH="533400" progId="Equation.KSEE3">
                  <p:embed/>
                </p:oleObj>
              </mc:Choice>
              <mc:Fallback>
                <p:oleObj name="" r:id="rId1" imgW="2387600" imgH="5334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286000"/>
                        <a:ext cx="4175760" cy="932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85800" y="3276600"/>
          <a:ext cx="2211705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3" imgW="1130300" imgH="266700" progId="Equation.KSEE3">
                  <p:embed/>
                </p:oleObj>
              </mc:Choice>
              <mc:Fallback>
                <p:oleObj name="" r:id="rId3" imgW="1130300" imgH="266700" progId="Equation.KSEE3">
                  <p:embed/>
                  <p:pic>
                    <p:nvPicPr>
                      <p:cNvPr id="0" name="Picture 30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3276600"/>
                        <a:ext cx="2211705" cy="521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5708015" y="2011680"/>
            <a:ext cx="4064000" cy="727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Dot product QK</a:t>
            </a:r>
            <a:r>
              <a:rPr lang="en-US" altLang="en-US" baseline="30000"/>
              <a:t>T</a:t>
            </a:r>
            <a:endParaRPr lang="en-US" altLang="en-US" baseline="30000"/>
          </a:p>
          <a:p>
            <a:endParaRPr lang="en-US" altLang="en-US" baseline="30000"/>
          </a:p>
          <a:p>
            <a:endParaRPr lang="en-US" altLang="en-US" baseline="30000"/>
          </a:p>
        </p:txBody>
      </p:sp>
      <p:graphicFrame>
        <p:nvGraphicFramePr>
          <p:cNvPr id="10" name="Object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791200" y="2503170"/>
          <a:ext cx="344741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" r:id="rId5" imgW="1892300" imgH="711200" progId="Equation.KSEE3">
                  <p:embed/>
                </p:oleObj>
              </mc:Choice>
              <mc:Fallback>
                <p:oleObj name="" r:id="rId5" imgW="1892300" imgH="711200" progId="Equation.KSEE3">
                  <p:embed/>
                  <p:pic>
                    <p:nvPicPr>
                      <p:cNvPr id="0" name="Picture 30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91200" y="2503170"/>
                        <a:ext cx="3447415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5888355" y="4165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Scaling</a:t>
            </a:r>
            <a:endParaRPr lang="en-US"/>
          </a:p>
        </p:txBody>
      </p:sp>
      <p:graphicFrame>
        <p:nvGraphicFramePr>
          <p:cNvPr id="12" name="Object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96000" y="4654550"/>
          <a:ext cx="3275330" cy="1273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7" imgW="1828800" imgH="711200" progId="Equation.KSEE3">
                  <p:embed/>
                </p:oleObj>
              </mc:Choice>
              <mc:Fallback>
                <p:oleObj name="" r:id="rId7" imgW="1828800" imgH="711200" progId="Equation.KSEE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0" y="4654550"/>
                        <a:ext cx="3275330" cy="1273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86169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Softmax (row-wise)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09600" y="2209800"/>
          <a:ext cx="2808605" cy="1321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1511300" imgH="711200" progId="Equation.KSEE3">
                  <p:embed/>
                </p:oleObj>
              </mc:Choice>
              <mc:Fallback>
                <p:oleObj name="" r:id="rId1" imgW="1511300" imgH="711200" progId="Equation.KSEE3">
                  <p:embed/>
                  <p:pic>
                    <p:nvPicPr>
                      <p:cNvPr id="0" name="Picture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209800"/>
                        <a:ext cx="2808605" cy="1321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5304790" y="1937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Step 5: Attention Output</a:t>
            </a:r>
            <a:endParaRPr lang="en-US" altLang="en-US"/>
          </a:p>
        </p:txBody>
      </p:sp>
      <p:graphicFrame>
        <p:nvGraphicFramePr>
          <p:cNvPr id="7" name="Object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105400" y="3810000"/>
          <a:ext cx="2653665" cy="1315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3" imgW="1435100" imgH="711200" progId="Equation.KSEE3">
                  <p:embed/>
                </p:oleObj>
              </mc:Choice>
              <mc:Fallback>
                <p:oleObj name="" r:id="rId3" imgW="1435100" imgH="711200" progId="Equation.KSEE3">
                  <p:embed/>
                  <p:pic>
                    <p:nvPicPr>
                      <p:cNvPr id="0" name="Picture 4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05400" y="3810000"/>
                        <a:ext cx="2653665" cy="1315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5257800" y="2686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Output=A×V</a:t>
            </a:r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10691495" cy="1297305"/>
          </a:xfrm>
        </p:spPr>
        <p:txBody>
          <a:bodyPr wrap="square">
            <a:noAutofit/>
          </a:bodyPr>
          <a:p>
            <a:r>
              <a:rPr lang="en-US" sz="2400" b="0">
                <a:solidFill>
                  <a:schemeClr val="tx1"/>
                </a:solidFill>
              </a:rPr>
              <a:t>Step 6: add and layer normalization </a:t>
            </a:r>
            <a:endParaRPr lang="en-US" sz="2400" b="0">
              <a:solidFill>
                <a:schemeClr val="tx1"/>
              </a:solidFill>
            </a:endParaRPr>
          </a:p>
          <a:p>
            <a:r>
              <a:rPr lang="en-US" altLang="en-US" sz="2400" b="0">
                <a:solidFill>
                  <a:schemeClr val="tx1"/>
                </a:solidFill>
              </a:rPr>
              <a:t>Final=LayerNorm(X′+Output)</a:t>
            </a:r>
            <a:endParaRPr lang="en-US" altLang="en-US" sz="2400" b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457200" y="2971800"/>
            <a:ext cx="11266170" cy="2085975"/>
          </a:xfrm>
        </p:spPr>
        <p:txBody>
          <a:bodyPr wrap="square"/>
          <a:p>
            <a:r>
              <a:rPr lang="en-US" sz="2400" b="0">
                <a:solidFill>
                  <a:schemeClr val="tx1"/>
                </a:solidFill>
              </a:rPr>
              <a:t> Step 7: feed-forward network</a:t>
            </a:r>
            <a:endParaRPr lang="en-US" sz="2400" b="0">
              <a:solidFill>
                <a:schemeClr val="tx1"/>
              </a:solidFill>
            </a:endParaRPr>
          </a:p>
          <a:p>
            <a:r>
              <a:rPr lang="en-US" sz="2400" b="0">
                <a:solidFill>
                  <a:schemeClr val="tx1"/>
                </a:solidFill>
              </a:rPr>
              <a:t>        </a:t>
            </a:r>
            <a:r>
              <a:rPr lang="en-US" altLang="en-US" sz="2400" b="0">
                <a:solidFill>
                  <a:schemeClr val="tx1"/>
                </a:solidFill>
              </a:rPr>
              <a:t>FFN(x)=max(0,xW</a:t>
            </a:r>
            <a:r>
              <a:rPr lang="en-US" altLang="en-US" sz="2400" b="0" baseline="-25000">
                <a:solidFill>
                  <a:schemeClr val="tx1"/>
                </a:solidFill>
              </a:rPr>
              <a:t>1​</a:t>
            </a:r>
            <a:r>
              <a:rPr lang="en-US" altLang="en-US" sz="2400" b="0">
                <a:solidFill>
                  <a:schemeClr val="tx1"/>
                </a:solidFill>
              </a:rPr>
              <a:t>+b</a:t>
            </a:r>
            <a:r>
              <a:rPr lang="en-US" altLang="en-US" sz="2400" b="0" baseline="-25000">
                <a:solidFill>
                  <a:schemeClr val="tx1"/>
                </a:solidFill>
              </a:rPr>
              <a:t>1​</a:t>
            </a:r>
            <a:r>
              <a:rPr lang="en-US" altLang="en-US" sz="2400" b="0">
                <a:solidFill>
                  <a:schemeClr val="tx1"/>
                </a:solidFill>
              </a:rPr>
              <a:t>)W</a:t>
            </a:r>
            <a:r>
              <a:rPr lang="en-US" altLang="en-US" sz="2400" b="0" baseline="-25000">
                <a:solidFill>
                  <a:schemeClr val="tx1"/>
                </a:solidFill>
              </a:rPr>
              <a:t>2​</a:t>
            </a:r>
            <a:r>
              <a:rPr lang="en-US" altLang="en-US" sz="2400" b="0">
                <a:solidFill>
                  <a:schemeClr val="tx1"/>
                </a:solidFill>
              </a:rPr>
              <a:t>+b</a:t>
            </a:r>
            <a:r>
              <a:rPr lang="en-US" altLang="en-US" sz="2400" b="0" baseline="-25000">
                <a:solidFill>
                  <a:schemeClr val="tx1"/>
                </a:solidFill>
              </a:rPr>
              <a:t>2​</a:t>
            </a:r>
            <a:endParaRPr lang="en-US" altLang="en-US" sz="2400" b="0" baseline="-25000">
              <a:solidFill>
                <a:schemeClr val="tx1"/>
              </a:solidFill>
            </a:endParaRPr>
          </a:p>
          <a:p>
            <a:endParaRPr lang="en-US" altLang="en-US" sz="2400" b="0" baseline="-2500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en-US" sz="2400" b="0">
                <a:solidFill>
                  <a:schemeClr val="tx1"/>
                </a:solidFill>
              </a:rPr>
              <a:t>Applied independently to each token</a:t>
            </a:r>
            <a:endParaRPr lang="en-US" sz="2400" b="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endParaRPr lang="en-US" sz="2400" b="0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r>
              <a:rPr lang="en-US" sz="2400" b="0">
                <a:solidFill>
                  <a:schemeClr val="tx1"/>
                </a:solidFill>
              </a:rPr>
              <a:t>Adds non-linearity and expressive power</a:t>
            </a:r>
            <a:endParaRPr lang="en-US" sz="2400" b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53770" y="2743200"/>
            <a:ext cx="10284460" cy="615315"/>
          </a:xfrm>
        </p:spPr>
        <p:txBody>
          <a:bodyPr wrap="square"/>
          <a:p>
            <a:r>
              <a:rPr lang="en-US" altLang="en-US"/>
              <a:t>Masked multi-head attention in transformer</a:t>
            </a:r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Transformer</a:t>
            </a:r>
            <a:endParaRPr spc="-4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817627" y="321068"/>
            <a:ext cx="4805047" cy="58950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1902409"/>
            <a:ext cx="4223385" cy="885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Attention</a:t>
            </a:r>
            <a:r>
              <a:rPr sz="3200" b="1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3200" b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20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3200" b="1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You </a:t>
            </a:r>
            <a:r>
              <a:rPr sz="3200" b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Need</a:t>
            </a:r>
            <a:endParaRPr sz="32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https://arxiv.org/abs/1706.03762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  <a:sym typeface="+mn-ea"/>
              </a:rPr>
              <a:t>Masked multi-head attention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129222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decoder of Transformer models, especially for sequence generation tasks like machine translation, text summarization, and language modeling.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Need 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430847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In autoregressive generation, the model must not look into the future.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When predicting a token at position t, the decoder should only use: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tokens at positions ≤ t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not tokens at positions &gt; t (future words)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Without masking, self-attention would allow every token to attend to all positions, including future tokens → data leakage.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215392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A look-ahead (causal) mask is applied to the attention score matrix before softmax.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-∞ ensures softmax assigns zero probability 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Tokens can attend only to previous and current positions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/>
              <a:t>Multi-Head + Masking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17080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Different Heads Learn Different Dependencies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Each head focuses on different aspects: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Head 1 → short-range syntax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Head 2 → long-range semantics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Head 3 → positional relationships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Masking is applied independently to every head, ensuring: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No head violates causality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Rich representations without cheating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47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Parallel Training With Causality Preserved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RNNs enforce causality sequentially (slow).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Masked attention enforces causality mathematically, allowing: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Parallel computation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Correct autoregressive behavior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Summary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44678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Sentence to generate: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“I love deep learning”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While predicting “love”: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Allowed to see: I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Not allowed to see: deep learning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Masked attention enforces this strict information flow.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5728335" y="1577340"/>
            <a:ext cx="5854065" cy="3877945"/>
          </a:xfrm>
        </p:spPr>
        <p:txBody>
          <a:bodyPr wrap="square"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Masked multi-head attention prevents future information leakage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Used in decoder self-attention only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Enables parallel training with autoregressive constraint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Maintains causal language modeling</a:t>
            </a:r>
            <a:endParaRPr lang="en-US" altLang="en-US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/>
                </a:solidFill>
              </a:rPr>
              <a:t>Each head learns different dependencies without violating causality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p>
            <a:r>
              <a:rPr lang="en-US" altLang="en-US"/>
              <a:t>Masked Self-Attention (Transformer Decoder)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“EV cars evolve”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sz="half" idx="3"/>
          </p:nvPr>
        </p:nvGraphicFramePr>
        <p:xfrm>
          <a:off x="762000" y="3810000"/>
          <a:ext cx="5303520" cy="73152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lang="en-US" altLang="zh-CN"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Vector</a:t>
                      </a:r>
                      <a:endParaRPr lang="en-US" altLang="zh-CN"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0]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cars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[0, 2]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evolve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[1, 1]</a:t>
                      </a:r>
                      <a:endParaRPr lang="en-US" altLang="zh-CN"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766445" y="53336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Q=K=V=X</a:t>
            </a:r>
            <a:endParaRPr lang="en-US" altLang="zh-CN" sz="1600"/>
          </a:p>
        </p:txBody>
      </p:sp>
      <p:sp>
        <p:nvSpPr>
          <p:cNvPr id="8" name="Text Box 7"/>
          <p:cNvSpPr txBox="1"/>
          <p:nvPr/>
        </p:nvSpPr>
        <p:spPr>
          <a:xfrm>
            <a:off x="7543165" y="20008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Step 2; Unmasked attention scores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7681595" y="260604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Dot-product scores  QK</a:t>
            </a:r>
            <a:r>
              <a:rPr lang="en-US" altLang="en-US" baseline="30000"/>
              <a:t>T</a:t>
            </a:r>
            <a:endParaRPr lang="en-US" altLang="en-US"/>
          </a:p>
          <a:p>
            <a:endParaRPr lang="en-US" altLang="en-US"/>
          </a:p>
        </p:txBody>
      </p:sp>
      <p:graphicFrame>
        <p:nvGraphicFramePr>
          <p:cNvPr id="12" name="Object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96200" y="3124200"/>
          <a:ext cx="1697990" cy="1396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1143000" imgH="939800" progId="Equation.KSEE3">
                  <p:embed/>
                </p:oleObj>
              </mc:Choice>
              <mc:Fallback>
                <p:oleObj name="" r:id="rId1" imgW="1143000" imgH="939800" progId="Equation.KSEE3">
                  <p:embed/>
                  <p:pic>
                    <p:nvPicPr>
                      <p:cNvPr id="0" name="Picture 5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96200" y="3124200"/>
                        <a:ext cx="1697990" cy="1396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Box 12"/>
              <p:cNvSpPr txBox="1"/>
              <p:nvPr/>
            </p:nvSpPr>
            <p:spPr>
              <a:xfrm>
                <a:off x="7660005" y="4267200"/>
                <a:ext cx="4064000" cy="384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en-US"/>
                  <a:t>Scaling (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√</m:t>
                    </m:r>
                    <m:r>
                      <m:rPr>
                        <m:brk/>
                      </m:rPr>
                      <a:rPr lang="en-US" altLang="en-US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en-US" altLang="en-US"/>
                  <a:t>≈1.41)</a:t>
                </a:r>
                <a:endParaRPr lang="en-US" altLang="en-US"/>
              </a:p>
            </p:txBody>
          </p:sp>
        </mc:Choice>
        <mc:Fallback>
          <p:sp>
            <p:nvSpPr>
              <p:cNvPr id="13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005" y="4267200"/>
                <a:ext cx="4064000" cy="3848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620000" y="4800600"/>
          <a:ext cx="3100705" cy="1286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" r:id="rId4" imgW="1714500" imgH="711200" progId="Equation.KSEE3">
                  <p:embed/>
                </p:oleObj>
              </mc:Choice>
              <mc:Fallback>
                <p:oleObj name="" r:id="rId4" imgW="1714500" imgH="711200" progId="Equation.KSEE3">
                  <p:embed/>
                  <p:pic>
                    <p:nvPicPr>
                      <p:cNvPr id="0" name="Picture 51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00" y="4800600"/>
                        <a:ext cx="3100705" cy="1286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815975" y="25101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tx1"/>
                </a:solidFill>
                <a:sym typeface="+mn-ea"/>
              </a:rPr>
              <a:t>Step 1: Assume 2-D vectors (after embedding + positional encoding):</a:t>
            </a:r>
            <a:endParaRPr lang="en-US" altLang="en-US">
              <a:solidFill>
                <a:schemeClr val="tx1"/>
              </a:solidFill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01140"/>
            <a:ext cx="5303520" cy="430530"/>
          </a:xfrm>
        </p:spPr>
        <p:txBody>
          <a:bodyPr/>
          <a:p>
            <a:r>
              <a:rPr lang="en-US" altLang="en-US" b="0">
                <a:solidFill>
                  <a:schemeClr val="tx1"/>
                </a:solidFill>
              </a:rPr>
              <a:t>Step 3: Look-ahead (causal) mask</a:t>
            </a:r>
            <a:endParaRPr lang="en-US" altLang="en-US" b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85800" y="4572000"/>
          <a:ext cx="359219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2260600" imgH="711200" progId="Equation.KSEE3">
                  <p:embed/>
                </p:oleObj>
              </mc:Choice>
              <mc:Fallback>
                <p:oleObj name="" r:id="rId1" imgW="2260600" imgH="711200" progId="Equation.KSEE3">
                  <p:embed/>
                  <p:pic>
                    <p:nvPicPr>
                      <p:cNvPr id="0" name="Picture 6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4572000"/>
                        <a:ext cx="3592195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5559425" y="1820545"/>
            <a:ext cx="5739130" cy="2964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Step 5 :Softmax (row-wise)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Row 1 (EV)</a:t>
            </a:r>
            <a:endParaRPr lang="en-US" altLang="en-US"/>
          </a:p>
          <a:p>
            <a:r>
              <a:rPr lang="en-US" altLang="en-US"/>
              <a:t>softmax([0.71,−∞,−∞])=[1,0,0]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Row 2 (cars)</a:t>
            </a:r>
            <a:endParaRPr lang="en-US" altLang="en-US"/>
          </a:p>
          <a:p>
            <a:r>
              <a:rPr lang="en-US" altLang="en-US"/>
              <a:t>softmax([0,2.83,−∞])≈[0.06,0.94,0]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Row 3 (evolve)</a:t>
            </a:r>
            <a:endParaRPr lang="en-US" altLang="en-US"/>
          </a:p>
          <a:p>
            <a:r>
              <a:rPr lang="en-US" altLang="en-US"/>
              <a:t>softmax([0.71,1.41,1.41])≈[0.20,0.40,0.40]</a:t>
            </a:r>
            <a:endParaRPr lang="en-US" altLang="en-US"/>
          </a:p>
          <a:p>
            <a:endParaRPr lang="en-US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773430" y="2181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Apply triangular mask</a:t>
            </a:r>
            <a:endParaRPr lang="en-US"/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07085" y="2743200"/>
          <a:ext cx="241427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" r:id="rId3" imgW="1473200" imgH="711200" progId="Equation.KSEE3">
                  <p:embed/>
                </p:oleObj>
              </mc:Choice>
              <mc:Fallback>
                <p:oleObj name="" r:id="rId3" imgW="1473200" imgH="711200" progId="Equation.KSEE3">
                  <p:embed/>
                  <p:pic>
                    <p:nvPicPr>
                      <p:cNvPr id="0" name="Picture 6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" y="2743200"/>
                        <a:ext cx="2414270" cy="116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609600" y="4101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Step 4: </a:t>
            </a:r>
            <a:r>
              <a:rPr lang="en-US" altLang="en-US"/>
              <a:t>Apply mask to scores</a:t>
            </a:r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 b="0">
                <a:solidFill>
                  <a:schemeClr val="tx1"/>
                </a:solidFill>
              </a:rPr>
              <a:t>Step 6 : Masked attention matrix</a:t>
            </a:r>
            <a:endParaRPr lang="en-US" altLang="en-US" b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85800" y="2286000"/>
          <a:ext cx="2931160" cy="1379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1511300" imgH="711200" progId="Equation.KSEE3">
                  <p:embed/>
                </p:oleObj>
              </mc:Choice>
              <mc:Fallback>
                <p:oleObj name="" r:id="rId1" imgW="1511300" imgH="711200" progId="Equation.KSEE3">
                  <p:embed/>
                  <p:pic>
                    <p:nvPicPr>
                      <p:cNvPr id="0" name="Picture 7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2286000"/>
                        <a:ext cx="2931160" cy="1379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5825490" y="1651000"/>
            <a:ext cx="5832475" cy="3854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Step 7: Final attention output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Output=A×V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EV =[1,0]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cars =0.06[1,0]+0.94[0,2]=[0.06,  1.88]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400">
                <a:latin typeface="Calibri" panose="020F0502020204030204" charset="0"/>
                <a:cs typeface="Calibri" panose="020F0502020204030204" charset="0"/>
              </a:rPr>
              <a:t>evolve =0.20[1,0]+0.40[0,2]+0.40[1,1]=[0.60,  1.20]</a:t>
            </a:r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 sz="24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/>
              <a:t>Difference: Masked vs Unmasked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sz="half" idx="2"/>
            <p:custDataLst>
              <p:tags r:id="rId1"/>
            </p:custDataLst>
          </p:nvPr>
        </p:nvGraphicFramePr>
        <p:xfrm>
          <a:off x="609600" y="1577340"/>
          <a:ext cx="6688455" cy="2536190"/>
        </p:xfrm>
        <a:graphic>
          <a:graphicData uri="http://schemas.openxmlformats.org/drawingml/2006/table">
            <a:tbl>
              <a:tblPr/>
              <a:tblGrid>
                <a:gridCol w="2229485"/>
                <a:gridCol w="2229485"/>
                <a:gridCol w="2229485"/>
              </a:tblGrid>
              <a:tr h="85344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Token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Unmasked can see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Masked can see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0705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EV, cars, evolve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 only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1340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cars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EV, cars, evolve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EV, cars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0705"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evolve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EV, cars, evolve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EV, cars, evolve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610235" y="4563110"/>
            <a:ext cx="10711180" cy="661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Masked self-attention prevents a decoder token from attending to future tokens by assigning −∞ to future positions before softmax.</a:t>
            </a:r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52397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130" dirty="0"/>
              <a:t> </a:t>
            </a:r>
            <a:r>
              <a:rPr sz="3600" spc="-10" dirty="0"/>
              <a:t>Annotated</a:t>
            </a:r>
            <a:r>
              <a:rPr sz="3600" spc="-90" dirty="0"/>
              <a:t> </a:t>
            </a:r>
            <a:r>
              <a:rPr sz="3600" spc="-10" dirty="0"/>
              <a:t>Transformer</a:t>
            </a:r>
            <a:endParaRPr sz="3600"/>
          </a:p>
          <a:p>
            <a:pPr marL="635" algn="ctr">
              <a:lnSpc>
                <a:spcPct val="100000"/>
              </a:lnSpc>
              <a:spcBef>
                <a:spcPts val="40"/>
              </a:spcBef>
            </a:pPr>
            <a:r>
              <a:rPr dirty="0">
                <a:solidFill>
                  <a:srgbClr val="000000"/>
                </a:solidFill>
              </a:rPr>
              <a:t>a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line-</a:t>
            </a:r>
            <a:r>
              <a:rPr spc="-30" dirty="0">
                <a:solidFill>
                  <a:srgbClr val="000000"/>
                </a:solidFill>
              </a:rPr>
              <a:t>by-</a:t>
            </a:r>
            <a:r>
              <a:rPr dirty="0">
                <a:solidFill>
                  <a:srgbClr val="000000"/>
                </a:solidFill>
              </a:rPr>
              <a:t>line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implementation</a:t>
            </a:r>
            <a:endParaRPr spc="-10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  <a:spcBef>
                <a:spcPts val="2190"/>
              </a:spcBef>
            </a:pPr>
            <a:r>
              <a:rPr sz="2400" b="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http://nlp.seas.harvard.edu/annotated-</a:t>
            </a:r>
            <a:r>
              <a:rPr sz="2400" b="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transformer/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Transformer</a:t>
            </a:r>
            <a:endParaRPr spc="-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Transformer</a:t>
            </a:r>
            <a:endParaRPr spc="-4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1480" y="1100327"/>
            <a:ext cx="11218164" cy="54391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  <a:sym typeface="+mn-ea"/>
              </a:rPr>
              <a:t> Annotated Transformer 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66368" y="1376248"/>
            <a:ext cx="10510520" cy="172339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Not a different model, but a step-by-step, labeled (annotated) explanation of the standard Transformer architecture, where each sub-component is explicitly shown, named, and explained with its purpose and computations.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368" y="511555"/>
            <a:ext cx="8253730" cy="615315"/>
          </a:xfrm>
        </p:spPr>
        <p:txBody>
          <a:bodyPr/>
          <a:p>
            <a:r>
              <a:rPr lang="en-US"/>
              <a:t>Example: </a:t>
            </a:r>
            <a:r>
              <a:rPr lang="en-US" altLang="en-US"/>
              <a:t>“Students learn transformers”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/>
              <a:t>Step 1: Input Sentence (Encoder)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861695"/>
          </a:xfrm>
        </p:spPr>
        <p:txBody>
          <a:bodyPr/>
          <a:p>
            <a:r>
              <a:rPr lang="en-US"/>
              <a:t>Step 2: </a:t>
            </a:r>
            <a:r>
              <a:rPr lang="en-US" altLang="en-US"/>
              <a:t>Embedding + Positional Encoding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678815" y="23469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Tokens:</a:t>
            </a:r>
            <a:endParaRPr lang="en-US"/>
          </a:p>
          <a:p>
            <a:r>
              <a:rPr lang="en-US" altLang="en-US"/>
              <a:t>t1 = Students</a:t>
            </a:r>
            <a:endParaRPr lang="en-US" altLang="en-US"/>
          </a:p>
          <a:p>
            <a:r>
              <a:rPr lang="en-US" altLang="en-US"/>
              <a:t>t2 = learn</a:t>
            </a:r>
            <a:endParaRPr lang="en-US" altLang="en-US"/>
          </a:p>
          <a:p>
            <a:r>
              <a:rPr lang="en-US" altLang="en-US"/>
              <a:t>t3 = transformers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278880" y="28194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Assume: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Model dimension: d_model = 4</a:t>
            </a:r>
            <a:endParaRPr lang="en-US" altLang="en-US"/>
          </a:p>
          <a:p>
            <a:r>
              <a:rPr lang="en-US" altLang="en-US"/>
              <a:t>Positional encoding already added</a:t>
            </a:r>
            <a:endParaRPr lang="en-US" altLang="en-US"/>
          </a:p>
          <a:p>
            <a:r>
              <a:rPr lang="en-US" altLang="en-US"/>
              <a:t>Each row = one token</a:t>
            </a:r>
            <a:endParaRPr lang="en-US" altLang="en-US"/>
          </a:p>
        </p:txBody>
      </p:sp>
      <p:graphicFrame>
        <p:nvGraphicFramePr>
          <p:cNvPr id="8" name="Object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4600" y="4572000"/>
          <a:ext cx="2265680" cy="1350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93800" imgH="711200" progId="Equation.KSEE3">
                  <p:embed/>
                </p:oleObj>
              </mc:Choice>
              <mc:Fallback>
                <p:oleObj name="" r:id="rId1" imgW="11938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24600" y="4572000"/>
                        <a:ext cx="2265680" cy="13500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861695"/>
          </a:xfrm>
        </p:spPr>
        <p:txBody>
          <a:bodyPr/>
          <a:p>
            <a:r>
              <a:rPr lang="en-US" altLang="en-US"/>
              <a:t>Step 3: Multi-Head Self-Attention (Encoder)</a:t>
            </a:r>
            <a:endParaRPr lang="en-US" altLang="en-US"/>
          </a:p>
        </p:txBody>
      </p:sp>
      <p:graphicFrame>
        <p:nvGraphicFramePr>
          <p:cNvPr id="6" name="Content Placeholder 5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685800" y="5181600"/>
          <a:ext cx="3726815" cy="1283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2654300" imgH="914400" progId="Equation.KSEE3">
                  <p:embed/>
                </p:oleObj>
              </mc:Choice>
              <mc:Fallback>
                <p:oleObj name="" r:id="rId1" imgW="2654300" imgH="9144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5800" y="5181600"/>
                        <a:ext cx="3726815" cy="1283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78815" y="280352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use: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 heads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</a:t>
            </a:r>
            <a:r>
              <a:rPr lang="en-US" altLang="en-US" baseline="-25000"/>
              <a:t>k</a:t>
            </a:r>
            <a:r>
              <a:rPr lang="en-US" altLang="en-US"/>
              <a:t>=2 per head</a:t>
            </a:r>
            <a:endParaRPr lang="en-US" altLang="en-US"/>
          </a:p>
          <a:p>
            <a:r>
              <a:rPr lang="en-US" altLang="en-US"/>
              <a:t>Total  d</a:t>
            </a:r>
            <a:r>
              <a:rPr lang="en-US" altLang="en-US" baseline="-25000"/>
              <a:t>model</a:t>
            </a:r>
            <a:r>
              <a:rPr lang="en-US" altLang="en-US"/>
              <a:t>=4</a:t>
            </a:r>
            <a:endParaRPr lang="en-US" altLang="en-US"/>
          </a:p>
          <a:p>
            <a:r>
              <a:rPr lang="en-US" altLang="en-US"/>
              <a:t>Head-1 Parameters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609715" y="2319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Compute Q, K, V (Head-1)</a:t>
            </a:r>
            <a:endParaRPr lang="en-US" altLang="en-US"/>
          </a:p>
        </p:txBody>
      </p:sp>
      <p:graphicFrame>
        <p:nvGraphicFramePr>
          <p:cNvPr id="9" name="Object 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09715" y="2895600"/>
          <a:ext cx="362331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2552700" imgH="711200" progId="Equation.KSEE3">
                  <p:embed/>
                </p:oleObj>
              </mc:Choice>
              <mc:Fallback>
                <p:oleObj name="" r:id="rId3" imgW="2552700" imgH="7112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09715" y="2895600"/>
                        <a:ext cx="3623310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6609715" y="4113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Attention Scores (Scaled Dot Product)</a:t>
            </a:r>
            <a:endParaRPr lang="en-US" altLang="en-US"/>
          </a:p>
        </p:txBody>
      </p:sp>
      <p:graphicFrame>
        <p:nvGraphicFramePr>
          <p:cNvPr id="11" name="Object 1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629400" y="4648200"/>
          <a:ext cx="264985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" r:id="rId5" imgW="1777365" imgH="711200" progId="Equation.KSEE3">
                  <p:embed/>
                </p:oleObj>
              </mc:Choice>
              <mc:Fallback>
                <p:oleObj name="" r:id="rId5" imgW="1777365" imgH="711200" progId="Equation.KSEE3">
                  <p:embed/>
                  <p:pic>
                    <p:nvPicPr>
                      <p:cNvPr id="0" name="Picture 20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29400" y="4648200"/>
                        <a:ext cx="2649855" cy="1060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>
                <a:solidFill>
                  <a:schemeClr val="tx1"/>
                </a:solidFill>
              </a:rPr>
              <a:t>Softmax (Row-wise)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4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766445" y="2743200"/>
          <a:ext cx="1927860" cy="1226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117600" imgH="711200" progId="Equation.KSEE3">
                  <p:embed/>
                </p:oleObj>
              </mc:Choice>
              <mc:Fallback>
                <p:oleObj name="" r:id="rId1" imgW="1117600" imgH="711200" progId="Equation.KSEE3">
                  <p:embed/>
                  <p:pic>
                    <p:nvPicPr>
                      <p:cNvPr id="0" name="Picture 307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6445" y="2743200"/>
                        <a:ext cx="1927860" cy="1226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709930" y="2287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Z</a:t>
            </a:r>
            <a:r>
              <a:rPr lang="en-US" altLang="en-US" baseline="30000"/>
              <a:t>(1)</a:t>
            </a:r>
            <a:r>
              <a:rPr lang="en-US" altLang="en-US"/>
              <a:t>=softmax.V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5081905" y="1714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Head-2 (Different Projection)</a:t>
            </a:r>
            <a:endParaRPr lang="en-US" altLang="en-US"/>
          </a:p>
        </p:txBody>
      </p:sp>
      <p:graphicFrame>
        <p:nvGraphicFramePr>
          <p:cNvPr id="8" name="Object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257800" y="2286000"/>
          <a:ext cx="2239645" cy="1363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" r:id="rId3" imgW="1168400" imgH="711200" progId="Equation.KSEE3">
                  <p:embed/>
                </p:oleObj>
              </mc:Choice>
              <mc:Fallback>
                <p:oleObj name="" r:id="rId3" imgW="1168400" imgH="711200" progId="Equation.KSEE3">
                  <p:embed/>
                  <p:pic>
                    <p:nvPicPr>
                      <p:cNvPr id="0" name="Picture 30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2286000"/>
                        <a:ext cx="2239645" cy="13633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530"/>
          </a:xfrm>
        </p:spPr>
        <p:txBody>
          <a:bodyPr/>
          <a:p>
            <a:r>
              <a:rPr lang="en-US" altLang="en-US"/>
              <a:t>Step 4: Concatenate Heads</a:t>
            </a:r>
            <a:endParaRPr lang="en-US" altLang="en-US"/>
          </a:p>
        </p:txBody>
      </p:sp>
      <p:graphicFrame>
        <p:nvGraphicFramePr>
          <p:cNvPr id="6" name="Content Placeholder 5">
            <a:hlinkClick r:id="" action="ppaction://ole?verb="/>
          </p:cNvPr>
          <p:cNvGraphicFramePr>
            <a:graphicFrameLocks noChangeAspect="1"/>
          </p:cNvGraphicFramePr>
          <p:nvPr>
            <p:ph sz="half" idx="3"/>
          </p:nvPr>
        </p:nvGraphicFramePr>
        <p:xfrm>
          <a:off x="592455" y="2971800"/>
          <a:ext cx="2878455" cy="1159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1765300" imgH="711200" progId="Equation.KSEE3">
                  <p:embed/>
                </p:oleObj>
              </mc:Choice>
              <mc:Fallback>
                <p:oleObj name="" r:id="rId1" imgW="1765300" imgH="711200" progId="Equation.KSEE3">
                  <p:embed/>
                  <p:pic>
                    <p:nvPicPr>
                      <p:cNvPr id="0" name="Picture 4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92455" y="2971800"/>
                        <a:ext cx="2878455" cy="11595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67385" y="2346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Z= [Z</a:t>
            </a:r>
            <a:r>
              <a:rPr lang="en-US" baseline="30000"/>
              <a:t>1</a:t>
            </a:r>
            <a:r>
              <a:rPr lang="en-US" baseline="0"/>
              <a:t>||Z</a:t>
            </a:r>
            <a:r>
              <a:rPr lang="en-US" baseline="30000"/>
              <a:t>2</a:t>
            </a:r>
            <a:r>
              <a:rPr lang="en-US" baseline="0"/>
              <a:t>]</a:t>
            </a:r>
            <a:endParaRPr lang="en-US" baseline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6494" y="2269997"/>
            <a:ext cx="600392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7425" marR="5080" indent="-224536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Vision</a:t>
            </a:r>
            <a:r>
              <a:rPr sz="6000" spc="-155" dirty="0"/>
              <a:t> </a:t>
            </a:r>
            <a:r>
              <a:rPr sz="6000" spc="-50" dirty="0"/>
              <a:t>Transformer </a:t>
            </a:r>
            <a:r>
              <a:rPr sz="6000" spc="-10" dirty="0"/>
              <a:t>(ViT)</a:t>
            </a:r>
            <a:endParaRPr sz="6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74508" y="1564241"/>
            <a:ext cx="9402974" cy="41077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5819343"/>
            <a:ext cx="10177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Performance</a:t>
            </a:r>
            <a:r>
              <a:rPr sz="1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benchmark</a:t>
            </a:r>
            <a:r>
              <a:rPr sz="180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comparison</a:t>
            </a:r>
            <a:r>
              <a:rPr sz="18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Vision</a:t>
            </a:r>
            <a:r>
              <a:rPr sz="1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Transformers</a:t>
            </a:r>
            <a:r>
              <a:rPr sz="1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(ViT)</a:t>
            </a:r>
            <a:r>
              <a:rPr sz="18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ResNet</a:t>
            </a:r>
            <a:r>
              <a:rPr sz="1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MobileNet</a:t>
            </a:r>
            <a:r>
              <a:rPr sz="1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when</a:t>
            </a:r>
            <a:r>
              <a:rPr sz="180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trained </a:t>
            </a:r>
            <a:r>
              <a:rPr sz="1800" dirty="0">
                <a:latin typeface="Calibri" panose="020F0502020204030204"/>
                <a:cs typeface="Calibri" panose="020F0502020204030204"/>
              </a:rPr>
              <a:t>from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scratch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ImageNet.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6368" y="1508252"/>
            <a:ext cx="105092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authors</a:t>
            </a:r>
            <a:r>
              <a:rPr sz="24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[1]</a:t>
            </a:r>
            <a:r>
              <a:rPr sz="24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demonstrated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CNNs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trained</a:t>
            </a:r>
            <a:r>
              <a:rPr sz="24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on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ImageNet</a:t>
            </a:r>
            <a:r>
              <a:rPr sz="24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are</a:t>
            </a:r>
            <a:r>
              <a:rPr sz="240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strongly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biased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towards</a:t>
            </a:r>
            <a:r>
              <a:rPr sz="24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recognizing</a:t>
            </a:r>
            <a:r>
              <a:rPr sz="24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textures</a:t>
            </a:r>
            <a:r>
              <a:rPr sz="24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rather</a:t>
            </a:r>
            <a:r>
              <a:rPr sz="24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than</a:t>
            </a:r>
            <a:r>
              <a:rPr sz="24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shapes.</a:t>
            </a:r>
            <a:r>
              <a:rPr sz="24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Below</a:t>
            </a:r>
            <a:r>
              <a:rPr sz="24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</a:t>
            </a:r>
            <a:r>
              <a:rPr sz="24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excellent</a:t>
            </a:r>
            <a:r>
              <a:rPr sz="24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2400" spc="1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such</a:t>
            </a:r>
            <a:r>
              <a:rPr sz="24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case: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303019" y="2723208"/>
            <a:ext cx="9422685" cy="32432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511555"/>
            <a:ext cx="7298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Vision</a:t>
            </a:r>
            <a:r>
              <a:rPr sz="4000" b="1" spc="-1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Transformers</a:t>
            </a:r>
            <a:r>
              <a:rPr sz="4000" b="1" spc="-10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(ViTs)</a:t>
            </a:r>
            <a:r>
              <a:rPr sz="4000" b="1" spc="-114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dirty="0">
                <a:solidFill>
                  <a:srgbClr val="C55A11"/>
                </a:solidFill>
                <a:latin typeface="Calibri" panose="020F0502020204030204"/>
                <a:cs typeface="Calibri" panose="020F0502020204030204"/>
              </a:rPr>
              <a:t>vs</a:t>
            </a:r>
            <a:r>
              <a:rPr sz="4000" b="1" spc="-135" dirty="0">
                <a:solidFill>
                  <a:srgbClr val="C55A1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000" b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CNNs</a:t>
            </a:r>
            <a:endParaRPr sz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6368" y="6163157"/>
            <a:ext cx="91452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[1]:</a:t>
            </a:r>
            <a:r>
              <a:rPr sz="1200" i="1" spc="-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ImageNet-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trained</a:t>
            </a:r>
            <a:r>
              <a:rPr sz="1200" i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CNNs</a:t>
            </a:r>
            <a:r>
              <a:rPr sz="1200" i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are</a:t>
            </a:r>
            <a:r>
              <a:rPr sz="12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biased</a:t>
            </a:r>
            <a:r>
              <a:rPr sz="1200" i="1" spc="-4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towards</a:t>
            </a:r>
            <a:r>
              <a:rPr sz="1200" i="1" spc="-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texture;</a:t>
            </a:r>
            <a:r>
              <a:rPr sz="1200" i="1" spc="-3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increasing</a:t>
            </a:r>
            <a:r>
              <a:rPr sz="1200" i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shape</a:t>
            </a:r>
            <a:r>
              <a:rPr sz="1200" i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bias</a:t>
            </a:r>
            <a:r>
              <a:rPr sz="1200" i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improves</a:t>
            </a:r>
            <a:r>
              <a:rPr sz="1200" i="1" spc="-3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accuracy</a:t>
            </a:r>
            <a:r>
              <a:rPr sz="1200" i="1" spc="-3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200" i="1" spc="-25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robustness.</a:t>
            </a:r>
            <a:r>
              <a:rPr sz="1200" i="1" spc="22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2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  <a:hlinkClick r:id="rId2"/>
              </a:rPr>
              <a:t>https://arxiv.org/abs/1811.12231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1094211" y="6464680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42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6368" y="1678051"/>
            <a:ext cx="1051242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marR="6350" indent="-340360" algn="just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Neuroscience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studies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(The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importance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</a:t>
            </a:r>
            <a:r>
              <a:rPr sz="2400" spc="3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early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lexical</a:t>
            </a:r>
            <a:r>
              <a:rPr sz="2400" spc="4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learning</a:t>
            </a:r>
            <a:r>
              <a:rPr sz="2400" spc="3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[1])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showed</a:t>
            </a:r>
            <a:r>
              <a:rPr sz="2400" spc="4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24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24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4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single</a:t>
            </a:r>
            <a:r>
              <a:rPr sz="2400" spc="4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most</a:t>
            </a:r>
            <a:r>
              <a:rPr sz="2400" spc="4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important</a:t>
            </a:r>
            <a:r>
              <a:rPr sz="24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cue</a:t>
            </a:r>
            <a:r>
              <a:rPr sz="2400" spc="4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409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human</a:t>
            </a:r>
            <a:r>
              <a:rPr sz="2400" spc="4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object 	recognition.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2425" marR="5080" indent="-340360" algn="just">
              <a:lnSpc>
                <a:spcPct val="100000"/>
              </a:lnSpc>
              <a:spcBef>
                <a:spcPts val="2880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By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studying</a:t>
            </a:r>
            <a:r>
              <a:rPr sz="2400" spc="28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27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visual</a:t>
            </a:r>
            <a:r>
              <a:rPr sz="2400" spc="28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pathway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humans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regarding</a:t>
            </a:r>
            <a:r>
              <a:rPr sz="2400" spc="27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image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recognition,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researchers</a:t>
            </a:r>
            <a:r>
              <a:rPr sz="24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identified</a:t>
            </a:r>
            <a:r>
              <a:rPr sz="2400" spc="3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that</a:t>
            </a:r>
            <a:r>
              <a:rPr sz="24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perception</a:t>
            </a:r>
            <a:r>
              <a:rPr sz="24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24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3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invariant</a:t>
            </a:r>
            <a:r>
              <a:rPr sz="2400" spc="3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most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perturbations.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So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far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as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we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know,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most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reliable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cue.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2425" marR="7620" indent="-340360" algn="just">
              <a:lnSpc>
                <a:spcPct val="100000"/>
              </a:lnSpc>
              <a:spcBef>
                <a:spcPts val="2885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Intuitively,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object</a:t>
            </a:r>
            <a:r>
              <a:rPr sz="24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remains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relatively</a:t>
            </a:r>
            <a:r>
              <a:rPr sz="2400" spc="3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stable,</a:t>
            </a:r>
            <a:r>
              <a:rPr sz="2400" spc="3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while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other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cues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31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be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easily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distorted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by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sorts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of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noise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[2].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6368" y="5981191"/>
            <a:ext cx="45866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Calibri" panose="020F0502020204030204"/>
                <a:cs typeface="Calibri" panose="020F0502020204030204"/>
              </a:rPr>
              <a:t>1:</a:t>
            </a:r>
            <a:r>
              <a:rPr sz="1400" i="1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https://psycnet.apa.org/doi/10.1016/0885-2014(88)90014-</a:t>
            </a:r>
            <a:r>
              <a:rPr sz="1400" i="1" u="sng" spc="-5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1"/>
              </a:rPr>
              <a:t>7</a:t>
            </a:r>
            <a:endParaRPr sz="1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latin typeface="Calibri" panose="020F0502020204030204"/>
                <a:cs typeface="Calibri" panose="020F0502020204030204"/>
              </a:rPr>
              <a:t>2:</a:t>
            </a:r>
            <a:r>
              <a:rPr sz="1400" i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400" i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https://arxiv.org/abs/1811.12231</a:t>
            </a:r>
            <a:endParaRPr sz="1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7084" y="1585477"/>
            <a:ext cx="9936234" cy="40577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6368" y="5691022"/>
            <a:ext cx="10179050" cy="67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Accuracies</a:t>
            </a:r>
            <a:r>
              <a:rPr sz="2400" spc="-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example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stimuli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five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experiments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without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cue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conflict.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Source:</a:t>
            </a:r>
            <a:r>
              <a:rPr sz="1800" spc="-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https://arxiv.org/abs/1811.12231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96183" y="2944312"/>
            <a:ext cx="5961550" cy="340924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6368" y="1294003"/>
            <a:ext cx="105079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texture</a:t>
            </a:r>
            <a:r>
              <a:rPr sz="2400" spc="1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not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sufficient</a:t>
            </a:r>
            <a:r>
              <a:rPr sz="2400" spc="1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for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determining</a:t>
            </a:r>
            <a:r>
              <a:rPr sz="24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whether</a:t>
            </a:r>
            <a:r>
              <a:rPr sz="240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1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zebra</a:t>
            </a:r>
            <a:r>
              <a:rPr sz="24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is</a:t>
            </a:r>
            <a:r>
              <a:rPr sz="2400" spc="1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rotated.</a:t>
            </a:r>
            <a:r>
              <a:rPr sz="2400" spc="1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Thus, </a:t>
            </a:r>
            <a:r>
              <a:rPr sz="2400" dirty="0">
                <a:latin typeface="Calibri" panose="020F0502020204030204"/>
                <a:cs typeface="Calibri" panose="020F0502020204030204"/>
              </a:rPr>
              <a:t>predicting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rotation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requires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modeling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shape,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some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extent.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2880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object's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be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invariant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rotations.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38600" y="3005327"/>
            <a:ext cx="7407945" cy="33153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6368" y="1418335"/>
            <a:ext cx="10509250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self-</a:t>
            </a:r>
            <a:r>
              <a:rPr sz="2400" dirty="0">
                <a:latin typeface="Calibri" panose="020F0502020204030204"/>
                <a:cs typeface="Calibri" panose="020F0502020204030204"/>
              </a:rPr>
              <a:t>attention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captures</a:t>
            </a:r>
            <a:r>
              <a:rPr sz="24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long-</a:t>
            </a:r>
            <a:r>
              <a:rPr sz="2400" dirty="0">
                <a:latin typeface="Calibri" panose="020F0502020204030204"/>
                <a:cs typeface="Calibri" panose="020F0502020204030204"/>
              </a:rPr>
              <a:t>range</a:t>
            </a:r>
            <a:r>
              <a:rPr sz="24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dependencies</a:t>
            </a:r>
            <a:r>
              <a:rPr sz="2400" spc="11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and</a:t>
            </a:r>
            <a:r>
              <a:rPr sz="24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contextual</a:t>
            </a:r>
            <a:r>
              <a:rPr sz="2400" spc="1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sz="2400" spc="10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in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input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data.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self-</a:t>
            </a:r>
            <a:r>
              <a:rPr sz="2400" dirty="0">
                <a:latin typeface="Calibri" panose="020F0502020204030204"/>
                <a:cs typeface="Calibri" panose="020F0502020204030204"/>
              </a:rPr>
              <a:t>attention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mechanism</a:t>
            </a:r>
            <a:r>
              <a:rPr sz="2400" spc="2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allows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</a:t>
            </a:r>
            <a:r>
              <a:rPr sz="2400" spc="2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ViT</a:t>
            </a:r>
            <a:r>
              <a:rPr sz="2400" spc="19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model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attend</a:t>
            </a:r>
            <a:r>
              <a:rPr sz="2400" spc="20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2400" spc="2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regions</a:t>
            </a:r>
            <a:r>
              <a:rPr sz="2400" spc="20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of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input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data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based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on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their</a:t>
            </a:r>
            <a:r>
              <a:rPr sz="24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relevance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task</a:t>
            </a:r>
            <a:r>
              <a:rPr sz="24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at</a:t>
            </a:r>
            <a:r>
              <a:rPr sz="24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hand.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2400">
              <a:latin typeface="Calibri" panose="020F0502020204030204"/>
              <a:cs typeface="Calibri" panose="020F0502020204030204"/>
            </a:endParaRPr>
          </a:p>
          <a:p>
            <a:pPr marL="12700" marR="7528560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Raw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images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(Left)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attention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maps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ViT-</a:t>
            </a:r>
            <a:r>
              <a:rPr sz="1800" dirty="0">
                <a:latin typeface="Calibri" panose="020F0502020204030204"/>
                <a:cs typeface="Calibri" panose="020F0502020204030204"/>
              </a:rPr>
              <a:t>S/16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(Right)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without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(Middle).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16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https://arxiv.org/abs/2106.01548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64830" y="1269828"/>
            <a:ext cx="8456079" cy="39114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83514" y="5228971"/>
            <a:ext cx="113112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The authors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 [1]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looked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at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self-attention</a:t>
            </a:r>
            <a:r>
              <a:rPr sz="1800" dirty="0">
                <a:latin typeface="Calibri" panose="020F0502020204030204"/>
                <a:cs typeface="Calibri" panose="020F0502020204030204"/>
              </a:rPr>
              <a:t> of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 CLS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token on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 heads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 last 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layer.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Crucially,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no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labels</a:t>
            </a:r>
            <a:r>
              <a:rPr sz="1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are</a:t>
            </a:r>
            <a:r>
              <a:rPr sz="18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0" dirty="0">
                <a:latin typeface="Calibri" panose="020F0502020204030204"/>
                <a:cs typeface="Calibri" panose="020F0502020204030204"/>
              </a:rPr>
              <a:t>used </a:t>
            </a:r>
            <a:r>
              <a:rPr sz="1800" dirty="0">
                <a:latin typeface="Calibri" panose="020F0502020204030204"/>
                <a:cs typeface="Calibri" panose="020F0502020204030204"/>
              </a:rPr>
              <a:t>during</a:t>
            </a:r>
            <a:r>
              <a:rPr sz="1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self-</a:t>
            </a:r>
            <a:r>
              <a:rPr sz="1800" dirty="0">
                <a:latin typeface="Calibri" panose="020F0502020204030204"/>
                <a:cs typeface="Calibri" panose="020F0502020204030204"/>
              </a:rPr>
              <a:t>supervised</a:t>
            </a:r>
            <a:r>
              <a:rPr sz="1800" spc="8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training.</a:t>
            </a:r>
            <a:r>
              <a:rPr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These</a:t>
            </a:r>
            <a:r>
              <a:rPr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maps</a:t>
            </a:r>
            <a:r>
              <a:rPr sz="18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demonstrate</a:t>
            </a:r>
            <a:r>
              <a:rPr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that</a:t>
            </a:r>
            <a:r>
              <a:rPr sz="1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learned</a:t>
            </a:r>
            <a:r>
              <a:rPr sz="180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class-</a:t>
            </a:r>
            <a:r>
              <a:rPr sz="1800" dirty="0">
                <a:latin typeface="Calibri" panose="020F0502020204030204"/>
                <a:cs typeface="Calibri" panose="020F0502020204030204"/>
              </a:rPr>
              <a:t>specific</a:t>
            </a:r>
            <a:r>
              <a:rPr sz="18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features</a:t>
            </a:r>
            <a:r>
              <a:rPr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lead</a:t>
            </a:r>
            <a:r>
              <a:rPr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sz="1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remarkable </a:t>
            </a:r>
            <a:r>
              <a:rPr sz="1800" dirty="0">
                <a:latin typeface="Calibri" panose="020F0502020204030204"/>
                <a:cs typeface="Calibri" panose="020F0502020204030204"/>
              </a:rPr>
              <a:t>unsupervised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segmentation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masks</a:t>
            </a:r>
            <a:r>
              <a:rPr sz="18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visibly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correlate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shape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semantic</a:t>
            </a:r>
            <a:r>
              <a:rPr sz="18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objects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images.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latin typeface="Calibri" panose="020F0502020204030204"/>
                <a:cs typeface="Calibri" panose="020F0502020204030204"/>
              </a:rPr>
              <a:t>1:</a:t>
            </a:r>
            <a:r>
              <a:rPr sz="1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Self-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Supervised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Vision </a:t>
            </a:r>
            <a:r>
              <a:rPr sz="1800" b="1" spc="-25" dirty="0">
                <a:latin typeface="Calibri" panose="020F0502020204030204"/>
                <a:cs typeface="Calibri" panose="020F0502020204030204"/>
              </a:rPr>
              <a:t>Transformers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with</a:t>
            </a:r>
            <a:r>
              <a:rPr sz="1800" b="1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DINO</a:t>
            </a:r>
            <a:r>
              <a:rPr sz="18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https://arxiv.org/abs/2104.14294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9976" y="2638044"/>
            <a:ext cx="10804779" cy="34907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6368" y="6120485"/>
            <a:ext cx="8136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 panose="020F0502020204030204"/>
                <a:cs typeface="Calibri" panose="020F0502020204030204"/>
              </a:rPr>
              <a:t>ViTs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and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ResNets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process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their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inputs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very</a:t>
            </a:r>
            <a:r>
              <a:rPr sz="18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25" dirty="0">
                <a:latin typeface="Calibri" panose="020F0502020204030204"/>
                <a:cs typeface="Calibri" panose="020F0502020204030204"/>
              </a:rPr>
              <a:t>differently.</a:t>
            </a:r>
            <a:r>
              <a:rPr sz="18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https://arxiv.org/abs/2103.14586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6368" y="1293621"/>
            <a:ext cx="1050671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adversarial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perturbations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computed</a:t>
            </a:r>
            <a:r>
              <a:rPr sz="2000" spc="-5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for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ViT</a:t>
            </a:r>
            <a:r>
              <a:rPr sz="200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and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ResNet</a:t>
            </a:r>
            <a:r>
              <a:rPr sz="20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model.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" panose="020B0604020202020204"/>
              <a:buChar char="•"/>
              <a:tabLst>
                <a:tab pos="354965" algn="l"/>
              </a:tabLst>
            </a:pPr>
            <a:r>
              <a:rPr sz="2000" dirty="0">
                <a:latin typeface="Calibri" panose="020F0502020204030204"/>
                <a:cs typeface="Calibri" panose="020F0502020204030204"/>
              </a:rPr>
              <a:t>The</a:t>
            </a:r>
            <a:r>
              <a:rPr sz="2000" spc="44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adversarial</a:t>
            </a:r>
            <a:r>
              <a:rPr sz="20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perturbations</a:t>
            </a:r>
            <a:r>
              <a:rPr sz="20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are</a:t>
            </a:r>
            <a:r>
              <a:rPr sz="20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qualitatively</a:t>
            </a:r>
            <a:r>
              <a:rPr sz="20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very</a:t>
            </a:r>
            <a:r>
              <a:rPr sz="2000" spc="4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different</a:t>
            </a:r>
            <a:r>
              <a:rPr sz="2000" spc="4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even</a:t>
            </a:r>
            <a:r>
              <a:rPr sz="2000" spc="4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though</a:t>
            </a:r>
            <a:r>
              <a:rPr sz="2000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both</a:t>
            </a:r>
            <a:r>
              <a:rPr sz="2000" spc="43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models</a:t>
            </a:r>
            <a:r>
              <a:rPr sz="2000" spc="434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25" dirty="0">
                <a:latin typeface="Calibri" panose="020F0502020204030204"/>
                <a:cs typeface="Calibri" panose="020F0502020204030204"/>
              </a:rPr>
              <a:t>may</a:t>
            </a:r>
            <a:endParaRPr sz="2000">
              <a:latin typeface="Calibri" panose="020F0502020204030204"/>
              <a:cs typeface="Calibri" panose="020F0502020204030204"/>
            </a:endParaRPr>
          </a:p>
          <a:p>
            <a:pPr marL="354965">
              <a:lnSpc>
                <a:spcPct val="100000"/>
              </a:lnSpc>
            </a:pPr>
            <a:r>
              <a:rPr sz="2000" dirty="0">
                <a:latin typeface="Calibri" panose="020F0502020204030204"/>
                <a:cs typeface="Calibri" panose="020F0502020204030204"/>
              </a:rPr>
              <a:t>perform</a:t>
            </a:r>
            <a:r>
              <a:rPr sz="2000" spc="-6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similarly</a:t>
            </a:r>
            <a:r>
              <a:rPr sz="20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in</a:t>
            </a:r>
            <a:r>
              <a:rPr sz="2000" spc="-5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dirty="0">
                <a:latin typeface="Calibri" panose="020F0502020204030204"/>
                <a:cs typeface="Calibri" panose="020F0502020204030204"/>
              </a:rPr>
              <a:t>image</a:t>
            </a:r>
            <a:r>
              <a:rPr sz="20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spc="-10" dirty="0">
                <a:latin typeface="Calibri" panose="020F0502020204030204"/>
                <a:cs typeface="Calibri" panose="020F0502020204030204"/>
              </a:rPr>
              <a:t>recognition.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334760" y="1393825"/>
            <a:ext cx="5151120" cy="47936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2256" y="1628394"/>
            <a:ext cx="527875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" panose="020B0604020202020204"/>
              <a:buChar char="•"/>
              <a:tabLst>
                <a:tab pos="355600" algn="l"/>
              </a:tabLst>
            </a:pP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transformer</a:t>
            </a:r>
            <a:r>
              <a:rPr sz="2400" spc="3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can</a:t>
            </a:r>
            <a:r>
              <a:rPr sz="2400" spc="3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attend</a:t>
            </a:r>
            <a:r>
              <a:rPr sz="2400" spc="3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3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all</a:t>
            </a:r>
            <a:r>
              <a:rPr sz="2400" spc="3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the </a:t>
            </a:r>
            <a:r>
              <a:rPr sz="2400" spc="-25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tokens</a:t>
            </a:r>
            <a:r>
              <a:rPr sz="2400" spc="4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(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image</a:t>
            </a:r>
            <a:r>
              <a:rPr sz="2400" spc="484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patches</a:t>
            </a:r>
            <a:r>
              <a:rPr sz="2400" dirty="0">
                <a:latin typeface="Calibri" panose="020F0502020204030204"/>
                <a:cs typeface="Calibri" panose="020F0502020204030204"/>
              </a:rPr>
              <a:t>)</a:t>
            </a:r>
            <a:r>
              <a:rPr sz="2400" spc="4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at</a:t>
            </a:r>
            <a:r>
              <a:rPr sz="2400" spc="4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400" spc="484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block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by</a:t>
            </a:r>
            <a:r>
              <a:rPr sz="24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design.</a:t>
            </a:r>
            <a:r>
              <a:rPr sz="24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The</a:t>
            </a:r>
            <a:r>
              <a:rPr sz="2400" spc="28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originally</a:t>
            </a:r>
            <a:r>
              <a:rPr sz="2400" spc="2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proposed</a:t>
            </a:r>
            <a:r>
              <a:rPr sz="2400" spc="2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ViT </a:t>
            </a:r>
            <a:r>
              <a:rPr sz="240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model in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[1]</a:t>
            </a:r>
            <a:r>
              <a:rPr sz="24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already</a:t>
            </a:r>
            <a:r>
              <a:rPr sz="24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demonstrated</a:t>
            </a:r>
            <a:r>
              <a:rPr sz="24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that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heads</a:t>
            </a:r>
            <a:r>
              <a:rPr sz="2400" spc="17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from</a:t>
            </a:r>
            <a:r>
              <a:rPr sz="2400" spc="16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early</a:t>
            </a:r>
            <a:r>
              <a:rPr sz="2400" spc="1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layers</a:t>
            </a:r>
            <a:r>
              <a:rPr sz="240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tend</a:t>
            </a:r>
            <a:r>
              <a:rPr sz="2400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17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attend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to</a:t>
            </a:r>
            <a:r>
              <a:rPr sz="2400" spc="5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spc="-30" dirty="0">
                <a:latin typeface="Calibri" panose="020F0502020204030204"/>
                <a:cs typeface="Calibri" panose="020F0502020204030204"/>
              </a:rPr>
              <a:t>far-</a:t>
            </a:r>
            <a:r>
              <a:rPr sz="2400" dirty="0">
                <a:latin typeface="Calibri" panose="020F0502020204030204"/>
                <a:cs typeface="Calibri" panose="020F0502020204030204"/>
              </a:rPr>
              <a:t>away</a:t>
            </a:r>
            <a:r>
              <a:rPr sz="24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pixels,</a:t>
            </a:r>
            <a:r>
              <a:rPr sz="24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while</a:t>
            </a:r>
            <a:r>
              <a:rPr sz="2400" spc="55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dirty="0">
                <a:latin typeface="Calibri" panose="020F0502020204030204"/>
                <a:cs typeface="Calibri" panose="020F0502020204030204"/>
              </a:rPr>
              <a:t>heads</a:t>
            </a:r>
            <a:r>
              <a:rPr sz="2400" spc="60" dirty="0">
                <a:latin typeface="Calibri" panose="020F0502020204030204"/>
                <a:cs typeface="Calibri" panose="020F0502020204030204"/>
              </a:rPr>
              <a:t> 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from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	</a:t>
            </a:r>
            <a:r>
              <a:rPr sz="2400" dirty="0">
                <a:latin typeface="Calibri" panose="020F0502020204030204"/>
                <a:cs typeface="Calibri" panose="020F0502020204030204"/>
              </a:rPr>
              <a:t>later</a:t>
            </a:r>
            <a:r>
              <a:rPr sz="2400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10" dirty="0">
                <a:latin typeface="Calibri" panose="020F0502020204030204"/>
                <a:cs typeface="Calibri" panose="020F0502020204030204"/>
              </a:rPr>
              <a:t>layers</a:t>
            </a:r>
            <a:r>
              <a:rPr sz="2400" spc="-80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dirty="0">
                <a:latin typeface="Calibri" panose="020F0502020204030204"/>
                <a:cs typeface="Calibri" panose="020F0502020204030204"/>
              </a:rPr>
              <a:t>do</a:t>
            </a:r>
            <a:r>
              <a:rPr sz="2400" spc="-45" dirty="0">
                <a:latin typeface="Calibri" panose="020F0502020204030204"/>
                <a:cs typeface="Calibri" panose="020F0502020204030204"/>
              </a:rPr>
              <a:t> </a:t>
            </a:r>
            <a:r>
              <a:rPr sz="2400" spc="-20" dirty="0">
                <a:latin typeface="Calibri" panose="020F0502020204030204"/>
                <a:cs typeface="Calibri" panose="020F0502020204030204"/>
              </a:rPr>
              <a:t>not.</a:t>
            </a:r>
            <a:endParaRPr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368" y="5121402"/>
            <a:ext cx="5356860" cy="1310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28345" algn="l"/>
                <a:tab pos="1617345" algn="l"/>
                <a:tab pos="2019935" algn="l"/>
                <a:tab pos="3237865" algn="l"/>
                <a:tab pos="4122420" algn="l"/>
                <a:tab pos="5090795" algn="l"/>
              </a:tabLst>
            </a:pPr>
            <a:r>
              <a:rPr sz="2400" i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How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heads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i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different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layers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attend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z="2400" i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sz="2400" i="1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their</a:t>
            </a:r>
            <a:r>
              <a:rPr sz="2400" i="1" spc="-10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surrounding</a:t>
            </a:r>
            <a:r>
              <a:rPr sz="2400" i="1" spc="-10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pixels</a:t>
            </a:r>
            <a:r>
              <a:rPr sz="2400" i="1" spc="-9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40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[1].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[1]:</a:t>
            </a:r>
            <a:r>
              <a:rPr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 panose="020F0502020204030204"/>
                <a:cs typeface="Calibri" panose="020F0502020204030204"/>
                <a:hlinkClick r:id="rId2"/>
              </a:rPr>
              <a:t>https://arxiv.org/abs/2010.11929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25" dirty="0"/>
              <a:t> </a:t>
            </a:r>
            <a:r>
              <a:rPr spc="-40" dirty="0"/>
              <a:t>Transformers</a:t>
            </a:r>
            <a:r>
              <a:rPr spc="-105" dirty="0"/>
              <a:t> </a:t>
            </a:r>
            <a:r>
              <a:rPr spc="-25" dirty="0"/>
              <a:t>(ViTs)</a:t>
            </a:r>
            <a:r>
              <a:rPr spc="-114" dirty="0"/>
              <a:t> </a:t>
            </a:r>
            <a:r>
              <a:rPr dirty="0">
                <a:solidFill>
                  <a:srgbClr val="C55A11"/>
                </a:solidFill>
              </a:rPr>
              <a:t>vs</a:t>
            </a:r>
            <a:r>
              <a:rPr spc="-135" dirty="0">
                <a:solidFill>
                  <a:srgbClr val="C55A11"/>
                </a:solidFill>
              </a:rPr>
              <a:t> </a:t>
            </a:r>
            <a:r>
              <a:rPr spc="-20" dirty="0"/>
              <a:t>CNNs</a:t>
            </a:r>
            <a:endParaRPr spc="-2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5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Vision</a:t>
            </a:r>
            <a:r>
              <a:rPr spc="-40" dirty="0"/>
              <a:t> </a:t>
            </a:r>
            <a:r>
              <a:rPr spc="-35" dirty="0"/>
              <a:t>Transformer</a:t>
            </a:r>
            <a:r>
              <a:rPr spc="-10" dirty="0"/>
              <a:t> Works:</a:t>
            </a:r>
            <a:endParaRPr spc="-10" dirty="0"/>
          </a:p>
          <a:p>
            <a:pPr marL="469265" indent="-456565">
              <a:lnSpc>
                <a:spcPct val="100000"/>
              </a:lnSpc>
              <a:spcBef>
                <a:spcPts val="3365"/>
              </a:spcBef>
              <a:buAutoNum type="arabicPeriod"/>
              <a:tabLst>
                <a:tab pos="469265" algn="l"/>
              </a:tabLst>
            </a:pPr>
            <a:r>
              <a:rPr dirty="0"/>
              <a:t>Split</a:t>
            </a:r>
            <a:r>
              <a:rPr spc="-50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b="0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image</a:t>
            </a:r>
            <a:r>
              <a:rPr b="0" spc="-7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into</a:t>
            </a:r>
            <a:r>
              <a:rPr b="0" spc="-4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patches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/>
              <a:t>Flatten</a:t>
            </a:r>
            <a:r>
              <a:rPr spc="-85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b="0" spc="-10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patches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9265" marR="5080" indent="-457200">
              <a:lnSpc>
                <a:spcPct val="100000"/>
              </a:lnSpc>
              <a:buAutoNum type="arabicPeriod"/>
              <a:tabLst>
                <a:tab pos="469265" algn="l"/>
                <a:tab pos="1830705" algn="l"/>
                <a:tab pos="4691380" algn="l"/>
                <a:tab pos="5682615" algn="l"/>
                <a:tab pos="7659370" algn="l"/>
                <a:tab pos="8529955" algn="l"/>
                <a:tab pos="9183370" algn="l"/>
              </a:tabLst>
            </a:pP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Produce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lower-dimensional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linear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pc="-10" dirty="0"/>
              <a:t>embeddings</a:t>
            </a:r>
            <a:r>
              <a:rPr dirty="0"/>
              <a:t>	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from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flattened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patches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b="0" spc="-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positional</a:t>
            </a:r>
            <a:r>
              <a:rPr spc="-50" dirty="0"/>
              <a:t> </a:t>
            </a:r>
            <a:r>
              <a:rPr spc="-10" dirty="0"/>
              <a:t>embeddings</a:t>
            </a:r>
            <a:endParaRPr spc="-10" dirty="0"/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Feed</a:t>
            </a:r>
            <a:r>
              <a:rPr b="0" spc="-7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b="0" spc="-7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sequence</a:t>
            </a:r>
            <a:r>
              <a:rPr b="0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b="0" spc="-6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b="0" spc="-7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dirty="0"/>
              <a:t>input</a:t>
            </a:r>
            <a:r>
              <a:rPr spc="-65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to</a:t>
            </a:r>
            <a:r>
              <a:rPr b="0" spc="-7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b="0" spc="-7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standard</a:t>
            </a:r>
            <a:r>
              <a:rPr b="0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pc="-10" dirty="0"/>
              <a:t>transformer</a:t>
            </a:r>
            <a:r>
              <a:rPr spc="-25" dirty="0"/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encoder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9265" marR="5715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1804670" algn="l"/>
                <a:tab pos="2439035" algn="l"/>
                <a:tab pos="3505835" algn="l"/>
                <a:tab pos="4297045" algn="l"/>
                <a:tab pos="5323840" algn="l"/>
                <a:tab pos="6308725" algn="l"/>
                <a:tab pos="7183755" algn="l"/>
                <a:tab pos="8933815" algn="l"/>
                <a:tab pos="9459595" algn="l"/>
                <a:tab pos="9780905" algn="l"/>
              </a:tabLst>
            </a:pPr>
            <a:r>
              <a:rPr spc="-10" dirty="0"/>
              <a:t>Pretrain</a:t>
            </a:r>
            <a:r>
              <a:rPr dirty="0"/>
              <a:t>	</a:t>
            </a:r>
            <a:r>
              <a:rPr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model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image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labels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(fully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spc="-10" dirty="0"/>
              <a:t>supervised</a:t>
            </a:r>
            <a:r>
              <a:rPr dirty="0"/>
              <a:t>	</a:t>
            </a:r>
            <a:r>
              <a:rPr b="0" spc="-2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5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	</a:t>
            </a:r>
            <a:r>
              <a:rPr b="0" spc="-2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huge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dataset)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/>
              <a:t>Finetune</a:t>
            </a:r>
            <a:r>
              <a:rPr spc="-40" dirty="0"/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b="0" spc="-6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b="0" spc="-7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downstream</a:t>
            </a:r>
            <a:r>
              <a:rPr b="0" spc="-5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dataset</a:t>
            </a:r>
            <a:r>
              <a:rPr b="0" spc="-8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for</a:t>
            </a:r>
            <a:r>
              <a:rPr b="0" spc="-6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image</a:t>
            </a:r>
            <a:r>
              <a:rPr b="0" spc="-85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Calibri" panose="020F0502020204030204"/>
                <a:cs typeface="Calibri" panose="020F0502020204030204"/>
              </a:rPr>
              <a:t>classification</a:t>
            </a:r>
            <a:endParaRPr b="0" spc="-10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35" dirty="0"/>
              <a:t> </a:t>
            </a:r>
            <a:r>
              <a:rPr spc="-40" dirty="0"/>
              <a:t>Transformers</a:t>
            </a:r>
            <a:r>
              <a:rPr spc="-114" dirty="0"/>
              <a:t> </a:t>
            </a:r>
            <a:r>
              <a:rPr spc="-10" dirty="0"/>
              <a:t>(ViTs)</a:t>
            </a:r>
            <a:endParaRPr spc="-1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86662" y="1376048"/>
            <a:ext cx="9949817" cy="46555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35" dirty="0"/>
              <a:t> </a:t>
            </a:r>
            <a:r>
              <a:rPr spc="-40" dirty="0"/>
              <a:t>Transformers</a:t>
            </a:r>
            <a:r>
              <a:rPr spc="-114" dirty="0"/>
              <a:t> </a:t>
            </a:r>
            <a:r>
              <a:rPr spc="-10" dirty="0"/>
              <a:t>(ViTs)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6368" y="6207048"/>
            <a:ext cx="96208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  <a:hlinkClick r:id="rId2"/>
              </a:rPr>
              <a:t>https://github.com/hichemfelouat/my-codes-of-machine-learning/blob/master/Vision_Transformer_(ViT)_for_Image_Classification_(cifar10_dataset).ipynb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094211" y="6426504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52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09376" y="1284175"/>
            <a:ext cx="8945179" cy="480877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Large</a:t>
            </a:r>
            <a:r>
              <a:rPr spc="-220" dirty="0"/>
              <a:t> </a:t>
            </a:r>
            <a:r>
              <a:rPr dirty="0"/>
              <a:t>Language</a:t>
            </a:r>
            <a:r>
              <a:rPr spc="-210" dirty="0"/>
              <a:t> </a:t>
            </a:r>
            <a:r>
              <a:rPr spc="-10" dirty="0"/>
              <a:t>Models</a:t>
            </a: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766368" y="6082080"/>
            <a:ext cx="34359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 panose="020F0502020204030204"/>
                <a:cs typeface="Calibri" panose="020F0502020204030204"/>
              </a:rPr>
              <a:t>A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Survey</a:t>
            </a:r>
            <a:r>
              <a:rPr sz="1800" b="1" spc="-6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Large</a:t>
            </a:r>
            <a:r>
              <a:rPr sz="18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dirty="0">
                <a:latin typeface="Calibri" panose="020F0502020204030204"/>
                <a:cs typeface="Calibri" panose="020F0502020204030204"/>
              </a:rPr>
              <a:t>Language</a:t>
            </a:r>
            <a:r>
              <a:rPr sz="1800" b="1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b="1" spc="-10" dirty="0">
                <a:latin typeface="Calibri" panose="020F0502020204030204"/>
                <a:cs typeface="Calibri" panose="020F0502020204030204"/>
              </a:rPr>
              <a:t>Models: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  <a:hlinkClick r:id="rId2"/>
              </a:rPr>
              <a:t>https://arxiv.org/abs/2303.18223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65" dirty="0"/>
              <a:t> </a:t>
            </a:r>
            <a:r>
              <a:rPr dirty="0"/>
              <a:t>Language</a:t>
            </a:r>
            <a:r>
              <a:rPr spc="-150" dirty="0"/>
              <a:t> </a:t>
            </a:r>
            <a:r>
              <a:rPr spc="-10" dirty="0"/>
              <a:t>Models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48507" y="1277150"/>
            <a:ext cx="7472120" cy="46481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5911697"/>
            <a:ext cx="2823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 panose="020F0502020204030204"/>
                <a:cs typeface="Calibri" panose="020F0502020204030204"/>
              </a:rPr>
              <a:t>The</a:t>
            </a:r>
            <a:r>
              <a:rPr sz="180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architecture</a:t>
            </a:r>
            <a:r>
              <a:rPr sz="18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dirty="0">
                <a:latin typeface="Calibri" panose="020F0502020204030204"/>
                <a:cs typeface="Calibri" panose="020F0502020204030204"/>
              </a:rPr>
              <a:t>of</a:t>
            </a:r>
            <a:r>
              <a:rPr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1800" spc="-10" dirty="0">
                <a:latin typeface="Calibri" panose="020F0502020204030204"/>
                <a:cs typeface="Calibri" panose="020F0502020204030204"/>
              </a:rPr>
              <a:t>MiniGPT-</a:t>
            </a:r>
            <a:r>
              <a:rPr sz="1800" spc="-50" dirty="0">
                <a:latin typeface="Calibri" panose="020F0502020204030204"/>
                <a:cs typeface="Calibri" panose="020F0502020204030204"/>
              </a:rPr>
              <a:t>4</a:t>
            </a:r>
            <a:endParaRPr sz="18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18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  <a:hlinkClick r:id="rId2"/>
              </a:rPr>
              <a:t>https://minigpt-4.github.io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Vision</a:t>
            </a:r>
            <a:r>
              <a:rPr spc="-165" dirty="0"/>
              <a:t> </a:t>
            </a:r>
            <a:r>
              <a:rPr dirty="0"/>
              <a:t>Language</a:t>
            </a:r>
            <a:r>
              <a:rPr spc="-150" dirty="0"/>
              <a:t> </a:t>
            </a:r>
            <a:r>
              <a:rPr spc="-10" dirty="0"/>
              <a:t>Models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2668" y="1634220"/>
            <a:ext cx="10559634" cy="430437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6368" y="6060744"/>
            <a:ext cx="399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  <a:hlinkClick r:id="rId2"/>
              </a:rPr>
              <a:t>https://github.com/Vision-CAIR/MiniGPT-</a:t>
            </a:r>
            <a:r>
              <a:rPr sz="1800" i="1" spc="-50" dirty="0">
                <a:solidFill>
                  <a:srgbClr val="006FC0"/>
                </a:solidFill>
                <a:latin typeface="Calibri" panose="020F0502020204030204"/>
                <a:cs typeface="Calibri" panose="020F0502020204030204"/>
                <a:hlinkClick r:id="rId2"/>
              </a:rPr>
              <a:t>4</a:t>
            </a:r>
            <a:endParaRPr sz="1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8*151"/>
  <p:tag name="TABLE_ENDDRAG_RECT" val="510*210*288*151"/>
</p:tagLst>
</file>

<file path=ppt/tags/tag2.xml><?xml version="1.0" encoding="utf-8"?>
<p:tagLst xmlns:p="http://schemas.openxmlformats.org/presentationml/2006/main">
  <p:tag name="TABLE_ENDDRAG_ORIGIN_RECT" val="350*206"/>
  <p:tag name="TABLE_ENDDRAG_RECT" val="510*216*350*206"/>
</p:tagLst>
</file>

<file path=ppt/tags/tag3.xml><?xml version="1.0" encoding="utf-8"?>
<p:tagLst xmlns:p="http://schemas.openxmlformats.org/presentationml/2006/main">
  <p:tag name="TABLE_ENDDRAG_ORIGIN_RECT" val="526*199"/>
  <p:tag name="TABLE_ENDDRAG_RECT" val="48*124*526*19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18308</Words>
  <Application>WPS Presentation</Application>
  <PresentationFormat>On-screen Show (4:3)</PresentationFormat>
  <Paragraphs>810</Paragraphs>
  <Slides>86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40</vt:i4>
      </vt:variant>
      <vt:variant>
        <vt:lpstr>幻灯片标题</vt:lpstr>
      </vt:variant>
      <vt:variant>
        <vt:i4>86</vt:i4>
      </vt:variant>
    </vt:vector>
  </HeadingPairs>
  <TitlesOfParts>
    <vt:vector size="139" baseType="lpstr">
      <vt:lpstr>Arial</vt:lpstr>
      <vt:lpstr>SimSun</vt:lpstr>
      <vt:lpstr>Wingdings</vt:lpstr>
      <vt:lpstr>Calibri</vt:lpstr>
      <vt:lpstr>Arial</vt:lpstr>
      <vt:lpstr>Microsoft YaHei</vt:lpstr>
      <vt:lpstr>Arial Unicode MS</vt:lpstr>
      <vt:lpstr>Calibri</vt:lpstr>
      <vt:lpstr>Times New Roman</vt:lpstr>
      <vt:lpstr>Cambria Math</vt:lpstr>
      <vt:lpstr>MS Mincho</vt:lpstr>
      <vt:lpstr>Segoe Print</vt:lpstr>
      <vt:lpstr>Office Theme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Transformers</vt:lpstr>
      <vt:lpstr>Deep Learning-Based NLP</vt:lpstr>
      <vt:lpstr>Word Embedding</vt:lpstr>
      <vt:lpstr>Word Embedding</vt:lpstr>
      <vt:lpstr>Recurrent Neural Network(RNN)</vt:lpstr>
      <vt:lpstr>Recurrent Neural Network(RNN)</vt:lpstr>
      <vt:lpstr>Recurrent Neural Network(RNN)</vt:lpstr>
      <vt:lpstr>Long Short-Term Memory (LSTM)</vt:lpstr>
      <vt:lpstr>Gated Recurrent Unit (GRU)</vt:lpstr>
      <vt:lpstr>Gated Recurrent Unit (GRU)</vt:lpstr>
      <vt:lpstr>PowerPoint 演示文稿</vt:lpstr>
      <vt:lpstr>LSTM Vs GRU</vt:lpstr>
      <vt:lpstr>Bidirectional RNNs</vt:lpstr>
      <vt:lpstr>Bidirectional RNNs</vt:lpstr>
      <vt:lpstr>Self-Attention</vt:lpstr>
      <vt:lpstr>Self-Attention</vt:lpstr>
      <vt:lpstr>Self-Attention</vt:lpstr>
      <vt:lpstr>Self-Attention in Detail</vt:lpstr>
      <vt:lpstr>Self-Attention in Detail</vt:lpstr>
      <vt:lpstr>Matrix Calculation of Self-Attention</vt:lpstr>
      <vt:lpstr>worked example 1</vt:lpstr>
      <vt:lpstr>PowerPoint 演示文稿</vt:lpstr>
      <vt:lpstr>PowerPoint 演示文稿</vt:lpstr>
      <vt:lpstr>PowerPoint 演示文稿</vt:lpstr>
      <vt:lpstr>PowerPoint 演示文稿</vt:lpstr>
      <vt:lpstr>Multi-Headed Attention</vt:lpstr>
      <vt:lpstr>Multi-Headed Attention</vt:lpstr>
      <vt:lpstr>Multi-Headed Attention</vt:lpstr>
      <vt:lpstr>Example (2 Heads)</vt:lpstr>
      <vt:lpstr>example</vt:lpstr>
      <vt:lpstr>PowerPoint 演示文稿</vt:lpstr>
      <vt:lpstr>PowerPoint 演示文稿</vt:lpstr>
      <vt:lpstr>PowerPoint 演示文稿</vt:lpstr>
      <vt:lpstr>Transformers</vt:lpstr>
      <vt:lpstr>Transformers</vt:lpstr>
      <vt:lpstr>Transformer</vt:lpstr>
      <vt:lpstr>PowerPoint 演示文稿</vt:lpstr>
      <vt:lpstr>calculation of positional encoding</vt:lpstr>
      <vt:lpstr>Example with Dimensionality</vt:lpstr>
      <vt:lpstr>Transformer</vt:lpstr>
      <vt:lpstr>Transformer</vt:lpstr>
      <vt:lpstr>PowerPoint 演示文稿</vt:lpstr>
      <vt:lpstr>PowerPoint 演示文稿</vt:lpstr>
      <vt:lpstr>PowerPoint 演示文稿</vt:lpstr>
      <vt:lpstr>Encoder-Decoder Architecture</vt:lpstr>
      <vt:lpstr>Encoder-Decoder Architecture</vt:lpstr>
      <vt:lpstr>PowerPoint 演示文稿</vt:lpstr>
      <vt:lpstr>Eaxmple 1</vt:lpstr>
      <vt:lpstr>PowerPoint 演示文稿</vt:lpstr>
      <vt:lpstr>PowerPoint 演示文稿</vt:lpstr>
      <vt:lpstr>Step 4: Scaled Dot-Product Attention</vt:lpstr>
      <vt:lpstr> </vt:lpstr>
      <vt:lpstr>PowerPoint 演示文稿</vt:lpstr>
      <vt:lpstr>PowerPoint 演示文稿</vt:lpstr>
      <vt:lpstr>Transformer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Masked Self-Attention (Transformer Decoder)</vt:lpstr>
      <vt:lpstr>PowerPoint 演示文稿</vt:lpstr>
      <vt:lpstr>PowerPoint 演示文稿</vt:lpstr>
      <vt:lpstr>Difference: Masked vs Unmasked</vt:lpstr>
      <vt:lpstr>Transformer</vt:lpstr>
      <vt:lpstr>Transformer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Vision Transformer (ViT)</vt:lpstr>
      <vt:lpstr>Vision Transformers (ViTs) vs CNNs</vt:lpstr>
      <vt:lpstr>PowerPoint 演示文稿</vt:lpstr>
      <vt:lpstr>Vision Transformers (ViTs) vs CNNs</vt:lpstr>
      <vt:lpstr>Vision Transformers (ViTs) vs CNNs</vt:lpstr>
      <vt:lpstr>Vision Transformers (ViTs) vs CNNs</vt:lpstr>
      <vt:lpstr>Vision Transformers (ViTs) vs CNNs</vt:lpstr>
      <vt:lpstr>Vision Transformers (ViTs) vs CNNs</vt:lpstr>
      <vt:lpstr>Vision Transformers (ViTs) vs CNNs</vt:lpstr>
      <vt:lpstr>Vision Transformers (ViTs) vs CNNs</vt:lpstr>
      <vt:lpstr>Vision Transformers (ViTs)</vt:lpstr>
      <vt:lpstr>Vision Transformers (ViTs)</vt:lpstr>
      <vt:lpstr>Large Language Models</vt:lpstr>
      <vt:lpstr>Vision Language Models</vt:lpstr>
      <vt:lpstr>Vision Language Models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Transformers</dc:title>
  <dc:creator>hichem felouat</dc:creator>
  <cp:lastModifiedBy>vinodha priya</cp:lastModifiedBy>
  <cp:revision>16</cp:revision>
  <dcterms:created xsi:type="dcterms:W3CDTF">2026-01-29T07:15:00Z</dcterms:created>
  <dcterms:modified xsi:type="dcterms:W3CDTF">2026-02-10T09:16:35Z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2024-02-29T09:00:00Z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2025-06-24T09:00:00Z</vt:filetime>
  </property>
  <property fmtid="{D5CDD505-2E9C-101B-9397-08002B2CF9AE}" pid="5" name="Producer">
    <vt:lpwstr>Microsoft® PowerPoint® for Microsoft 365</vt:lpwstr>
  </property>
  <property fmtid="{D5CDD505-2E9C-101B-9397-08002B2CF9AE}" pid="6" name="ICV">
    <vt:lpwstr>96EE0C2505934047BE45608615B2B225_13</vt:lpwstr>
  </property>
  <property fmtid="{D5CDD505-2E9C-101B-9397-08002B2CF9AE}" pid="7" name="KSOProductBuildVer">
    <vt:lpwstr>1033-12.2.0.23196</vt:lpwstr>
  </property>
</Properties>
</file>