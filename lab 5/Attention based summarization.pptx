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image" Target="../media/image1.png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2.png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image" Target="../media/image3.png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87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../media/image5.png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0.xml"/><Relationship Id="rId4" Type="http://schemas.openxmlformats.org/officeDocument/2006/relationships/image" Target="../media/image6.png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Attention-based text summarization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Attention-based text summarization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commonly implemented using an Encoder–Decoder architecture with an attention mechanism. </a:t>
            </a:r>
            <a:endParaRPr lang="en-US" altLang="en-US"/>
          </a:p>
          <a:p>
            <a:r>
              <a:rPr lang="en-US" altLang="en-US"/>
              <a:t>encoder reads the input document and the decoder generates the summary one word at a time.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Basic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342900" indent="-342900">
              <a:buAutoNum type="arabicPeriod"/>
            </a:pPr>
            <a:r>
              <a:rPr lang="en-US" altLang="en-US"/>
              <a:t>Consider the document: “The university conducted an artificial intelligence workshop for students. The workshop introduced machine learning and deep learning concepts.”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Desired summary: “University conducted an AI workshop on machine learning.”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The architecture is: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Input document → Encoder → Attention → Decoder → Summary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The encoder processes each input word and produces a hidden representation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The important point is that the decoder does not need to rely on a single encoder vector. Attention allows it to look at the most relevant encoder states at every decoding step.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Does Attention Do?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>
                <a:noAutofit/>
              </a:bodyPr>
              <a:p>
                <a:pPr marL="0" indent="0">
                  <a:buNone/>
                </a:pPr>
                <a:r>
                  <a:rPr lang="en-US" altLang="en-US" sz="1700"/>
                  <a:t>Suppose the decoder is generating: “workshop” It should pay more attention to words such as: university, AI, workshop less attention to: the, an, for</a:t>
                </a:r>
                <a:endParaRPr lang="en-US" altLang="en-US" sz="1700"/>
              </a:p>
              <a:p>
                <a:pPr marL="0" indent="0">
                  <a:buNone/>
                </a:pPr>
                <a:r>
                  <a:rPr lang="en-US" altLang="en-US" sz="1700"/>
                  <a:t>Attention calculates a weight for every input word.</a:t>
                </a:r>
                <a:endParaRPr lang="en-US" altLang="en-US" sz="1700"/>
              </a:p>
              <a:p>
                <a:pPr marL="0" indent="0">
                  <a:buNone/>
                </a:pPr>
                <a:r>
                  <a:rPr lang="en-US" altLang="en-US" sz="1700"/>
                  <a:t>For decoder time step t : e</a:t>
                </a:r>
                <a:r>
                  <a:rPr lang="en-US" altLang="en-US" sz="1700" baseline="-25000"/>
                  <a:t>t,i</a:t>
                </a:r>
                <a:r>
                  <a:rPr lang="en-US" altLang="en-US" sz="1700"/>
                  <a:t>​=score(s</a:t>
                </a:r>
                <a:r>
                  <a:rPr lang="en-US" altLang="en-US" sz="1700" baseline="-25000"/>
                  <a:t>t−1</a:t>
                </a:r>
                <a:r>
                  <a:rPr lang="en-US" altLang="en-US" sz="1700"/>
                  <a:t>​,h</a:t>
                </a:r>
                <a:r>
                  <a:rPr lang="en-US" altLang="en-US" sz="1700" baseline="-25000"/>
                  <a:t>i</a:t>
                </a:r>
                <a:r>
                  <a:rPr lang="en-US" altLang="en-US" sz="1700"/>
                  <a:t>​)</a:t>
                </a:r>
                <a:endParaRPr lang="en-US" altLang="en-US" sz="1700"/>
              </a:p>
              <a:p>
                <a:pPr marL="0" indent="0">
                  <a:buNone/>
                </a:pPr>
                <a:r>
                  <a:rPr lang="en-US" altLang="en-US" sz="1700"/>
                  <a:t>h</a:t>
                </a:r>
                <a:r>
                  <a:rPr lang="en-US" altLang="en-US" sz="1700" baseline="-25000"/>
                  <a:t>i</a:t>
                </a:r>
                <a:r>
                  <a:rPr lang="en-US" altLang="en-US" sz="1700"/>
                  <a:t> = encoder hidden state for input word i</a:t>
                </a:r>
                <a:endParaRPr lang="en-US" altLang="en-US" sz="1700"/>
              </a:p>
              <a:p>
                <a:pPr marL="0" indent="0">
                  <a:buNone/>
                </a:pPr>
                <a:r>
                  <a:rPr lang="en-US" altLang="en-US" sz="1700"/>
                  <a:t>s</a:t>
                </a:r>
                <a:r>
                  <a:rPr lang="en-US" altLang="en-US" sz="1700" baseline="-25000"/>
                  <a:t>t-1</a:t>
                </a:r>
                <a:r>
                  <a:rPr lang="en-US" altLang="en-US" sz="1700"/>
                  <a:t> = previous decoder hidden state</a:t>
                </a:r>
                <a:endParaRPr lang="en-US" altLang="en-US" sz="1700"/>
              </a:p>
              <a:p>
                <a:pPr marL="0" indent="0">
                  <a:buNone/>
                </a:pPr>
                <a:r>
                  <a:rPr lang="en-US" altLang="en-US" sz="1700"/>
                  <a:t>e</a:t>
                </a:r>
                <a:r>
                  <a:rPr lang="en-US" altLang="en-US" sz="1700" baseline="-25000"/>
                  <a:t>t,i</a:t>
                </a:r>
                <a:r>
                  <a:rPr lang="en-US" altLang="en-US" sz="1700"/>
                  <a:t> = attention score</a:t>
                </a:r>
                <a:endParaRPr lang="en-US" altLang="en-US" sz="1700"/>
              </a:p>
              <a:p>
                <a:pPr marL="0" indent="0">
                  <a:buNone/>
                </a:pPr>
                <a:r>
                  <a:rPr lang="en-US" altLang="en-US" sz="1700"/>
                  <a:t>Then convert scores into probabilities using softmax: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en-US" sz="17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17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en-US" sz="17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17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en-US" sz="17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  <m:r>
                                      <a:rPr lang="en-US" altLang="en-US" sz="17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,</m:t>
                                    </m:r>
                                    <m:r>
                                      <a:rPr lang="en-US" altLang="en-US" sz="17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altLang="en-US" sz="17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sz="1700">
                    <a:latin typeface="Cambria Math" panose="02040503050406030204" charset="0"/>
                    <a:cs typeface="Cambria Math" panose="02040503050406030204" charset="0"/>
                  </a:rPr>
                  <a:t>Finally, calculate the context vector:</a:t>
                </a:r>
                <a:r>
                  <a:rPr lang="en-US" altLang="en-US" sz="1700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en-US" sz="17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en-US" sz="17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∝</m:t>
                            </m:r>
                          </m:e>
                          <m:sub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US" altLang="en-US" sz="17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en-US" sz="17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 sz="1700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en-US" altLang="en-US" sz="1700" baseline="-25000">
                    <a:latin typeface="Cambria Math" panose="02040503050406030204" charset="0"/>
                    <a:cs typeface="Cambria Math" panose="02040503050406030204" charset="0"/>
                  </a:rPr>
                  <a:t>t</a:t>
                </a:r>
                <a:r>
                  <a:rPr lang="en-US" altLang="en-US" sz="1700">
                    <a:latin typeface="Cambria Math" panose="02040503050406030204" charset="0"/>
                    <a:cs typeface="Cambria Math" panose="02040503050406030204" charset="0"/>
                  </a:rPr>
                  <a:t> tells the decoder which parts of the document are important for generating the current summary word.</a:t>
                </a:r>
                <a:endParaRPr lang="en-US" altLang="en-US" sz="17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 sz="13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-147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Example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>
                <a:normAutofit lnSpcReduction="10000"/>
              </a:bodyPr>
              <a:p>
                <a:pPr marL="0" indent="0">
                  <a:buNone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Input : “Students study AI”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Suppose the encoder generates the following simplified hidden states: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altLang="en-US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​=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</a:t>
                </a:r>
                <a:r>
                  <a:rPr lang="en-US" altLang="en-US" baseline="-250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2</a:t>
                </a: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​=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</a:t>
                </a:r>
                <a:r>
                  <a:rPr lang="en-US" altLang="en-US" baseline="-250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3</a:t>
                </a: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Suppose the decoder is currently trying to generate the word: “AI”</a:t>
                </a: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and its previous hidden state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t−</m:t>
                        </m:r>
                        <m:r>
                          <a:rPr lang="en-US" altLang="en-US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en-US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Arial" panose="020B0604020202020204" pitchFamily="34" charset="0"/>
                    <a:cs typeface="Arial" panose="020B0604020202020204" pitchFamily="34" charset="0"/>
                  </a:rPr>
                  <a:t>assume the attention score is calculated using dot product: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t</m:t>
                        </m:r>
                        <m:r>
                          <a:rPr lang="en-US" altLang="en-US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i</m:t>
                        </m:r>
                      </m:sub>
                    </m:sSub>
                    <m:r>
                      <a:rPr lang="en-US" altLang="en-US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 </m:t>
                    </m:r>
                    <m:sSubSup>
                      <m:sSubSup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t−</m:t>
                        </m:r>
                        <m:r>
                          <a:rPr lang="en-US" altLang="en-US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T</m:t>
                        </m:r>
                      </m:sup>
                    </m:sSubSup>
                    <m:sSub>
                      <m:sSubPr>
                        <m:ctrl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  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Attension Mechanism</a:t>
            </a:r>
            <a:endParaRPr lang="en-US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8330" y="1429385"/>
            <a:ext cx="5186680" cy="424815"/>
          </a:xfrm>
        </p:spPr>
        <p:txBody>
          <a:bodyPr>
            <a:normAutofit/>
          </a:bodyPr>
          <a:p>
            <a:r>
              <a:rPr lang="en-US" altLang="en-US">
                <a:sym typeface="+mn-ea"/>
              </a:rPr>
              <a:t>Step 1: Calculate Attention Scores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/>
              <p:cNvSpPr>
                <a:spLocks noGrp="1"/>
              </p:cNvSpPr>
              <p:nvPr>
                <p:ph sz="half" idx="2"/>
                <p:custDataLst>
                  <p:tags r:id="rId3"/>
                </p:custDataLst>
              </p:nvPr>
            </p:nvSpPr>
            <p:spPr>
              <a:xfrm>
                <a:off x="608330" y="1854200"/>
                <a:ext cx="4954905" cy="4395470"/>
              </a:xfrm>
            </p:spPr>
            <p:txBody>
              <a:bodyPr/>
              <a:p>
                <a:pPr marL="0" indent="0">
                  <a:buNone/>
                </a:pPr>
                <a:r>
                  <a:rPr lang="en-US" altLang="en-US"/>
                  <a:t>For "Students" e</a:t>
                </a:r>
                <a:r>
                  <a:rPr lang="en-US" altLang="en-US" baseline="-25000"/>
                  <a:t>t,1</a:t>
                </a:r>
                <a:r>
                  <a:rPr lang="en-US" altLang="en-US"/>
                  <a:t>​=[0.5,0.5]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/>
                  <a:t> = 0.5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For "Study" e</a:t>
                </a:r>
                <a:r>
                  <a:rPr lang="en-US" altLang="en-US" baseline="-25000">
                    <a:sym typeface="+mn-ea"/>
                  </a:rPr>
                  <a:t>t,1</a:t>
                </a:r>
                <a:r>
                  <a:rPr lang="en-US" altLang="en-US">
                    <a:sym typeface="+mn-ea"/>
                  </a:rPr>
                  <a:t>​=[0.5,0.5]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>
                    <a:sym typeface="+mn-ea"/>
                  </a:rPr>
                  <a:t> = 0.5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For "AI" e</a:t>
                </a:r>
                <a:r>
                  <a:rPr lang="en-US" altLang="en-US" baseline="-25000">
                    <a:sym typeface="+mn-ea"/>
                  </a:rPr>
                  <a:t>t,1</a:t>
                </a:r>
                <a:r>
                  <a:rPr lang="en-US" altLang="en-US">
                    <a:sym typeface="+mn-ea"/>
                  </a:rPr>
                  <a:t>​=[0.5,0.5]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>
                    <a:sym typeface="+mn-ea"/>
                  </a:rPr>
                  <a:t> = 1</a:t>
                </a:r>
                <a:endParaRPr lang="en-US" altLang="en-US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The highest score is for AI.</a:t>
                </a:r>
                <a:endParaRPr lang="en-US" altLang="en-US">
                  <a:sym typeface="+mn-ea"/>
                </a:endParaRPr>
              </a:p>
            </p:txBody>
          </p:sp>
        </mc:Choice>
        <mc:Fallback>
          <p:sp>
            <p:nvSpPr>
              <p:cNvPr id="8" name="Content Placeholder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4"/>
                </p:custDataLst>
              </p:nvPr>
            </p:nvSpPr>
            <p:spPr>
              <a:xfrm>
                <a:off x="608330" y="1854200"/>
                <a:ext cx="4954905" cy="4395470"/>
              </a:xfr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10"/>
          <p:cNvSpPr>
            <a:spLocks noGrp="1"/>
          </p:cNvSpPr>
          <p:nvPr>
            <p:ph type="body" sz="quarter" idx="3"/>
            <p:custDataLst>
              <p:tags r:id="rId6"/>
            </p:custDataLst>
          </p:nvPr>
        </p:nvSpPr>
        <p:spPr>
          <a:xfrm>
            <a:off x="5881370" y="1421765"/>
            <a:ext cx="5696585" cy="432435"/>
          </a:xfrm>
        </p:spPr>
        <p:txBody>
          <a:bodyPr/>
          <a:p>
            <a:r>
              <a:rPr lang="en-US" altLang="en-US"/>
              <a:t>Step 2: Apply Softmax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/>
              <p:cNvSpPr>
                <a:spLocks noGrp="1"/>
              </p:cNvSpPr>
              <p:nvPr>
                <p:ph sz="quarter" idx="4"/>
                <p:custDataLst>
                  <p:tags r:id="rId7"/>
                </p:custDataLst>
              </p:nvPr>
            </p:nvSpPr>
            <p:spPr>
              <a:xfrm>
                <a:off x="5881370" y="1854200"/>
                <a:ext cx="5696585" cy="4395470"/>
              </a:xfrm>
            </p:spPr>
            <p:txBody>
              <a:bodyPr/>
              <a:p>
                <a:pPr marL="0" indent="0">
                  <a:buNone/>
                </a:pPr>
                <a:r>
                  <a:rPr lang="en-US" altLang="en-US"/>
                  <a:t>convert the scores into attention weights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,</m:t>
                                    </m:r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e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0.5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=1.6487  e</a:t>
                </a:r>
                <a:r>
                  <a:rPr lang="en-US" altLang="en-US" baseline="30000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=2.7183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Denominator1.6487+1.6487+2.7183=6.0157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Students and study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6487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0157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274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AI: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∝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 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7183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0157</m:t>
                        </m:r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452</m:t>
                    </m:r>
                  </m:oMath>
                </a14:m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AI receives the largest attention weight.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Content Placeholder 1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  <p:custDataLst>
                  <p:tags r:id="rId8"/>
                </p:custDataLst>
              </p:nvPr>
            </p:nvSpPr>
            <p:spPr>
              <a:xfrm>
                <a:off x="5881370" y="1854200"/>
                <a:ext cx="5696585" cy="4395470"/>
              </a:xfr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Attension Mechanism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Step 3: Calculate Context Vector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  <p:custDataLst>
                  <p:tags r:id="rId3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c</a:t>
                </a:r>
                <a:r>
                  <a:rPr lang="en-US" altLang="en-US" baseline="-25000"/>
                  <a:t>t</a:t>
                </a:r>
                <a:r>
                  <a:rPr lang="en-US" altLang="en-US"/>
                  <a:t>​=0.274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/>
                  <a:t>+0.274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en-US" altLang="en-US"/>
                  <a:t>+0.452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en-US" altLang="en-US" baseline="-25000">
                    <a:latin typeface="Cambria Math" panose="02040503050406030204" charset="0"/>
                    <a:cs typeface="Cambria Math" panose="02040503050406030204" charset="0"/>
                  </a:rPr>
                  <a:t>t</a:t>
                </a: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726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.</m:t>
                              </m:r>
                              <m:r>
                                <a:rPr lang="en-US" alt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726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latin typeface="Cambria Math" panose="02040503050406030204" charset="0"/>
                    <a:cs typeface="Cambria Math" panose="02040503050406030204" charset="0"/>
                  </a:rPr>
                  <a:t>This is the attention context vector used by the decoder.</a:t>
                </a:r>
                <a:endParaRPr lang="en-US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  <p:custDataLst>
                  <p:tags r:id="rId4"/>
                </p:custDataLst>
              </p:nvPr>
            </p:nvSpPr>
            <p:spPr>
              <a:blipFill rotWithShape="1">
                <a:blip r:embed="rId5"/>
                <a:stretch>
                  <a:fillRect l="-1" t="-10" r="4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Step 4: Decoder Generates the Word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 decoder combines: previous decoder state s</a:t>
            </a:r>
            <a:r>
              <a:rPr lang="en-US" altLang="en-US" baseline="-25000"/>
              <a:t>t-1 </a:t>
            </a:r>
            <a:r>
              <a:rPr lang="en-US" altLang="en-US"/>
              <a:t>,attention context c</a:t>
            </a:r>
            <a:r>
              <a:rPr lang="en-US" altLang="en-US" baseline="-25000"/>
              <a:t>t </a:t>
            </a:r>
            <a:r>
              <a:rPr lang="en-US" altLang="en-US"/>
              <a:t>to produce the next decoder state: s</a:t>
            </a:r>
            <a:r>
              <a:rPr lang="en-US" altLang="en-US" baseline="-25000"/>
              <a:t>t</a:t>
            </a:r>
            <a:r>
              <a:rPr lang="en-US" altLang="en-US"/>
              <a:t>​=f(s</a:t>
            </a:r>
            <a:r>
              <a:rPr lang="en-US" altLang="en-US" baseline="-25000"/>
              <a:t>t−1</a:t>
            </a:r>
            <a:r>
              <a:rPr lang="en-US" altLang="en-US"/>
              <a:t>​,c</a:t>
            </a:r>
            <a:r>
              <a:rPr lang="en-US" altLang="en-US" baseline="-25000"/>
              <a:t>t</a:t>
            </a:r>
            <a:r>
              <a:rPr lang="en-US" altLang="en-US"/>
              <a:t>​,y</a:t>
            </a:r>
            <a:r>
              <a:rPr lang="en-US" altLang="en-US" baseline="-25000"/>
              <a:t>t−1</a:t>
            </a:r>
            <a:r>
              <a:rPr lang="en-US" altLang="en-US"/>
              <a:t>​)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 a real LSTM/GRU decoder, this involves the corresponding recurrent equations.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decoder then applies a softmax layer: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P(y</a:t>
            </a:r>
            <a:r>
              <a:rPr lang="en-US" altLang="en-US" baseline="-25000"/>
              <a:t>t</a:t>
            </a:r>
            <a:r>
              <a:rPr lang="en-US" altLang="en-US"/>
              <a:t>​∣y</a:t>
            </a:r>
            <a:r>
              <a:rPr lang="en-US" altLang="en-US" baseline="-25000"/>
              <a:t>&lt;t​</a:t>
            </a:r>
            <a:r>
              <a:rPr lang="en-US" altLang="en-US"/>
              <a:t>,x)=softmax(W</a:t>
            </a:r>
            <a:r>
              <a:rPr lang="en-US" altLang="en-US" baseline="-25000"/>
              <a:t>s</a:t>
            </a:r>
            <a:r>
              <a:rPr lang="en-US" altLang="en-US"/>
              <a:t>​s</a:t>
            </a:r>
            <a:r>
              <a:rPr lang="en-US" altLang="en-US" baseline="-25000"/>
              <a:t>t</a:t>
            </a:r>
            <a:r>
              <a:rPr lang="en-US" altLang="en-US"/>
              <a:t>​+b)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highest probability is: AI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​Therefore the decoder generates: AI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Complete Summarization Process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Time step 1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  <p:custDataLst>
              <p:tags r:id="rId3"/>
            </p:custDataLst>
          </p:nvPr>
        </p:nvGraphicFramePr>
        <p:xfrm>
          <a:off x="608400" y="1854000"/>
          <a:ext cx="5342890" cy="3467100"/>
        </p:xfrm>
        <a:graphic>
          <a:graphicData uri="http://schemas.openxmlformats.org/drawingml/2006/table">
            <a:tbl>
              <a:tblPr/>
              <a:tblGrid>
                <a:gridCol w="2671445"/>
                <a:gridCol w="267144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Attention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0.5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AI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0.15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0.03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 gridSpan="2"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Generated word: Students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Time step 2</a:t>
            </a:r>
            <a:endParaRPr lang="en-US" altLang="en-US"/>
          </a:p>
        </p:txBody>
      </p:sp>
      <p:graphicFrame>
        <p:nvGraphicFramePr>
          <p:cNvPr id="10" name="Content Placeholder 9"/>
          <p:cNvGraphicFramePr/>
          <p:nvPr>
            <p:ph sz="quarter" idx="4"/>
            <p:custDataLst>
              <p:tags r:id="rId5"/>
            </p:custDataLst>
          </p:nvPr>
        </p:nvGraphicFramePr>
        <p:xfrm>
          <a:off x="6235750" y="1854000"/>
          <a:ext cx="5342890" cy="1280160"/>
        </p:xfrm>
        <a:graphic>
          <a:graphicData uri="http://schemas.openxmlformats.org/drawingml/2006/table">
            <a:tbl>
              <a:tblPr/>
              <a:tblGrid>
                <a:gridCol w="2671445"/>
                <a:gridCol w="267144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Attention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0.15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AI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0.45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0.15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0.15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 gridSpan="2"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Generated word: AI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Complete Summarization Process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Time step 3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  <p:custDataLst>
              <p:tags r:id="rId3"/>
            </p:custDataLst>
          </p:nvPr>
        </p:nvGraphicFramePr>
        <p:xfrm>
          <a:off x="608400" y="1854000"/>
          <a:ext cx="5342890" cy="3467100"/>
        </p:xfrm>
        <a:graphic>
          <a:graphicData uri="http://schemas.openxmlformats.org/drawingml/2006/table">
            <a:tbl>
              <a:tblPr/>
              <a:tblGrid>
                <a:gridCol w="2671445"/>
                <a:gridCol w="267144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3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Attention</a:t>
                      </a:r>
                      <a:endParaRPr sz="3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endParaRPr lang="en-US"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AI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45</a:t>
                      </a:r>
                      <a:endParaRPr lang="en-US"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 gridSpan="2">
                  <a:txBody>
                    <a:bodyPr/>
                    <a:p>
                      <a:pPr algn="l" fontAlgn="ctr"/>
                      <a:r>
                        <a:rPr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Generated word: 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lang="en-US" sz="3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en-US"/>
              <a:t>Final output</a:t>
            </a:r>
            <a:endParaRPr lang="en-US" altLang="en-US"/>
          </a:p>
        </p:txBody>
      </p:sp>
      <p:sp>
        <p:nvSpPr>
          <p:cNvPr id="4" name="Content Placeholder 3"/>
          <p:cNvSpPr/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decoder eventually produces: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“Students study AI and machine learning.”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For a longer document, it may instead produce a shorter abstractive summary such as: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“Students learn AI and machine learning.”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Why Attention Improves Summarization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Without attention: Document -&gt; Encoder -&gt; single vector -&gt; Decoder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entire document has to be represented by one fixed vector.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With attention: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Document→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eqArr>
                              <m:eqArrPr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alt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eqArr>
                          </m:e>
                        </m:eqArr>
                      </m:e>
                    </m:d>
                  </m:oMath>
                </a14:m>
                <a:r>
                  <a:rPr lang="en-US" altLang="en-US"/>
                  <a:t>​​→Attention​→Decoder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decoder can dynamically focus on different words while generating different summary words.</a:t>
                </a:r>
                <a:endParaRPr lang="en-US" altLang="en-US"/>
              </a:p>
            </p:txBody>
          </p:sp>
        </mc:Choice>
        <mc:Fallback>
          <p:sp>
            <p:nvSpPr>
              <p:cNvPr id="7" name="Content Placeholder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complete mechanism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Encoder states</a:t>
            </a:r>
            <a:r>
              <a:rPr lang="en-US" altLang="en-US">
                <a:sym typeface="+mn-ea"/>
              </a:rPr>
              <a:t>→</a:t>
            </a:r>
            <a:r>
              <a:rPr lang="en-US" altLang="en-US"/>
              <a:t> Attention Scores→Softmax Weights→Context Vector→Decoder→Next Summary Word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3948</Words>
  <Application>WPS Presentation</Application>
  <PresentationFormat>Widescreen</PresentationFormat>
  <Paragraphs>194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Cambria Math</vt:lpstr>
      <vt:lpstr>MS Mincho</vt:lpstr>
      <vt:lpstr>MS PGothic</vt:lpstr>
      <vt:lpstr>Calibri</vt:lpstr>
      <vt:lpstr>Segoe Print</vt:lpstr>
      <vt:lpstr>WPS</vt:lpstr>
      <vt:lpstr>Attention-based text summarization</vt:lpstr>
      <vt:lpstr>Attention-based text summarization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Complete Summarization Process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Attention-based text summarization</dc:title>
  <dc:creator>priya</dc:creator>
  <cp:lastModifiedBy>vinodha priya</cp:lastModifiedBy>
  <cp:revision>4</cp:revision>
  <dcterms:created xsi:type="dcterms:W3CDTF">2026-09-04T11:00:00Z</dcterms:created>
  <dcterms:modified xsi:type="dcterms:W3CDTF">2026-09-06T16:50:29Z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9810E7C34A134D79BC46E8CF5A2EEE95_11</vt:lpwstr>
  </property>
</Properties>
</file>